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20104100" cy="11315700"/>
  <p:notesSz cx="20104100" cy="11315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B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586" y="-211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7867"/>
            <a:ext cx="17088486" cy="23762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6792"/>
            <a:ext cx="14072870" cy="2828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3845" cy="21724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2611"/>
            <a:ext cx="8745284" cy="746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2611"/>
            <a:ext cx="8745284" cy="74683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3845" cy="21724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20103845" cy="217246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97508" y="552450"/>
            <a:ext cx="12458700" cy="855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08543" y="3384677"/>
            <a:ext cx="8261984" cy="2774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23601"/>
            <a:ext cx="6433312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23601"/>
            <a:ext cx="4623943" cy="5657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322797" y="10184597"/>
            <a:ext cx="431291" cy="3563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" Type="http://schemas.openxmlformats.org/officeDocument/2006/relationships/image" Target="../media/image3.jp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g"/><Relationship Id="rId5" Type="http://schemas.openxmlformats.org/officeDocument/2006/relationships/image" Target="../media/image26.jp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jpg"/><Relationship Id="rId4" Type="http://schemas.openxmlformats.org/officeDocument/2006/relationships/image" Target="../media/image33.jpg"/><Relationship Id="rId9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46.png"/><Relationship Id="rId4" Type="http://schemas.openxmlformats.org/officeDocument/2006/relationships/image" Target="../media/image4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jpg"/><Relationship Id="rId5" Type="http://schemas.openxmlformats.org/officeDocument/2006/relationships/image" Target="../media/image50.jpg"/><Relationship Id="rId4" Type="http://schemas.openxmlformats.org/officeDocument/2006/relationships/image" Target="../media/image45.jp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3845" cy="113088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24888" y="4086860"/>
            <a:ext cx="6782434" cy="924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900" spc="-165" dirty="0"/>
              <a:t>ОСНОВЫ</a:t>
            </a:r>
            <a:r>
              <a:rPr sz="5900" spc="-370" dirty="0"/>
              <a:t> </a:t>
            </a:r>
            <a:r>
              <a:rPr sz="5900" spc="100" dirty="0"/>
              <a:t>ЛОГИКИ</a:t>
            </a:r>
            <a:endParaRPr sz="5900"/>
          </a:p>
        </p:txBody>
      </p:sp>
      <p:grpSp>
        <p:nvGrpSpPr>
          <p:cNvPr id="4" name="object 4"/>
          <p:cNvGrpSpPr/>
          <p:nvPr/>
        </p:nvGrpSpPr>
        <p:grpSpPr>
          <a:xfrm>
            <a:off x="1804416" y="1370838"/>
            <a:ext cx="17158714" cy="9069826"/>
            <a:chOff x="1804416" y="1370838"/>
            <a:chExt cx="17158714" cy="9069826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4416" y="1370838"/>
              <a:ext cx="1047750" cy="1046987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479785" y="7656576"/>
              <a:ext cx="8483345" cy="2552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75975" y="8015478"/>
              <a:ext cx="7050024" cy="25298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545811" y="8131517"/>
              <a:ext cx="73660" cy="24130"/>
            </a:xfrm>
            <a:custGeom>
              <a:avLst/>
              <a:gdLst/>
              <a:ahLst/>
              <a:cxnLst/>
              <a:rect l="l" t="t" r="r" b="b"/>
              <a:pathLst>
                <a:path w="73659" h="24129">
                  <a:moveTo>
                    <a:pt x="73621" y="0"/>
                  </a:moveTo>
                  <a:lnTo>
                    <a:pt x="0" y="0"/>
                  </a:lnTo>
                  <a:lnTo>
                    <a:pt x="0" y="24042"/>
                  </a:lnTo>
                  <a:lnTo>
                    <a:pt x="73621" y="24042"/>
                  </a:lnTo>
                  <a:lnTo>
                    <a:pt x="73621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633950" y="8019033"/>
              <a:ext cx="280923" cy="19558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718032" y="9145397"/>
              <a:ext cx="132333" cy="14744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3878941" y="9148064"/>
              <a:ext cx="114935" cy="142240"/>
            </a:xfrm>
            <a:custGeom>
              <a:avLst/>
              <a:gdLst/>
              <a:ahLst/>
              <a:cxnLst/>
              <a:rect l="l" t="t" r="r" b="b"/>
              <a:pathLst>
                <a:path w="114934" h="142240">
                  <a:moveTo>
                    <a:pt x="114427" y="0"/>
                  </a:moveTo>
                  <a:lnTo>
                    <a:pt x="90424" y="0"/>
                  </a:lnTo>
                  <a:lnTo>
                    <a:pt x="90424" y="59690"/>
                  </a:lnTo>
                  <a:lnTo>
                    <a:pt x="24003" y="59690"/>
                  </a:lnTo>
                  <a:lnTo>
                    <a:pt x="24003" y="0"/>
                  </a:lnTo>
                  <a:lnTo>
                    <a:pt x="0" y="0"/>
                  </a:lnTo>
                  <a:lnTo>
                    <a:pt x="0" y="59690"/>
                  </a:lnTo>
                  <a:lnTo>
                    <a:pt x="0" y="78740"/>
                  </a:lnTo>
                  <a:lnTo>
                    <a:pt x="0" y="142240"/>
                  </a:lnTo>
                  <a:lnTo>
                    <a:pt x="24003" y="142240"/>
                  </a:lnTo>
                  <a:lnTo>
                    <a:pt x="24003" y="78740"/>
                  </a:lnTo>
                  <a:lnTo>
                    <a:pt x="90424" y="78740"/>
                  </a:lnTo>
                  <a:lnTo>
                    <a:pt x="90424" y="142240"/>
                  </a:lnTo>
                  <a:lnTo>
                    <a:pt x="114427" y="142240"/>
                  </a:lnTo>
                  <a:lnTo>
                    <a:pt x="114427" y="78740"/>
                  </a:lnTo>
                  <a:lnTo>
                    <a:pt x="114427" y="59690"/>
                  </a:lnTo>
                  <a:lnTo>
                    <a:pt x="114427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29689" y="9148572"/>
              <a:ext cx="116204" cy="14122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81582" y="9148572"/>
              <a:ext cx="103504" cy="14122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367891" y="9091422"/>
              <a:ext cx="186563" cy="2016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580108" y="9091422"/>
              <a:ext cx="186690" cy="20167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4792451" y="9091422"/>
              <a:ext cx="186690" cy="20167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5084932" y="9158986"/>
              <a:ext cx="114046" cy="12115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5221457" y="9094851"/>
              <a:ext cx="155067" cy="198246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5407258" y="9091549"/>
              <a:ext cx="171450" cy="20154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613633" y="9094851"/>
              <a:ext cx="186308" cy="194944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5831184" y="9091549"/>
              <a:ext cx="143255" cy="20154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5994126" y="9207193"/>
              <a:ext cx="73660" cy="24130"/>
            </a:xfrm>
            <a:custGeom>
              <a:avLst/>
              <a:gdLst/>
              <a:ahLst/>
              <a:cxnLst/>
              <a:rect l="l" t="t" r="r" b="b"/>
              <a:pathLst>
                <a:path w="73659" h="24129">
                  <a:moveTo>
                    <a:pt x="73614" y="0"/>
                  </a:moveTo>
                  <a:lnTo>
                    <a:pt x="0" y="0"/>
                  </a:lnTo>
                  <a:lnTo>
                    <a:pt x="0" y="24056"/>
                  </a:lnTo>
                  <a:lnTo>
                    <a:pt x="73614" y="24056"/>
                  </a:lnTo>
                  <a:lnTo>
                    <a:pt x="73614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6082263" y="9094724"/>
              <a:ext cx="280924" cy="195580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12784073" y="10416534"/>
              <a:ext cx="73660" cy="24130"/>
            </a:xfrm>
            <a:custGeom>
              <a:avLst/>
              <a:gdLst/>
              <a:ahLst/>
              <a:cxnLst/>
              <a:rect l="l" t="t" r="r" b="b"/>
              <a:pathLst>
                <a:path w="73659" h="24129">
                  <a:moveTo>
                    <a:pt x="73117" y="0"/>
                  </a:moveTo>
                  <a:lnTo>
                    <a:pt x="0" y="0"/>
                  </a:lnTo>
                  <a:lnTo>
                    <a:pt x="0" y="23590"/>
                  </a:lnTo>
                  <a:lnTo>
                    <a:pt x="73117" y="23590"/>
                  </a:lnTo>
                  <a:lnTo>
                    <a:pt x="73117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6220694" y="10416419"/>
              <a:ext cx="73660" cy="24130"/>
            </a:xfrm>
            <a:custGeom>
              <a:avLst/>
              <a:gdLst/>
              <a:ahLst/>
              <a:cxnLst/>
              <a:rect l="l" t="t" r="r" b="b"/>
              <a:pathLst>
                <a:path w="73659" h="24129">
                  <a:moveTo>
                    <a:pt x="73621" y="0"/>
                  </a:moveTo>
                  <a:lnTo>
                    <a:pt x="0" y="0"/>
                  </a:lnTo>
                  <a:lnTo>
                    <a:pt x="0" y="24123"/>
                  </a:lnTo>
                  <a:lnTo>
                    <a:pt x="73621" y="24123"/>
                  </a:lnTo>
                  <a:lnTo>
                    <a:pt x="73621" y="0"/>
                  </a:lnTo>
                  <a:close/>
                </a:path>
              </a:pathLst>
            </a:custGeom>
            <a:solidFill>
              <a:srgbClr val="FFFFFF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024888" y="6915150"/>
            <a:ext cx="5594350" cy="2017395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Проектирование</a:t>
            </a:r>
            <a:r>
              <a:rPr sz="27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цифровой</a:t>
            </a:r>
            <a:endParaRPr sz="27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техники</a:t>
            </a:r>
            <a:r>
              <a:rPr sz="2700" b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с</a:t>
            </a:r>
            <a:r>
              <a:rPr sz="2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применением</a:t>
            </a:r>
            <a:r>
              <a:rPr sz="27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20" dirty="0">
                <a:solidFill>
                  <a:srgbClr val="FFFFFF"/>
                </a:solidFill>
                <a:latin typeface="Arial"/>
                <a:cs typeface="Arial"/>
              </a:rPr>
              <a:t>ПЛИС</a:t>
            </a:r>
            <a:endParaRPr sz="2700" dirty="0">
              <a:latin typeface="Arial"/>
              <a:cs typeface="Arial"/>
            </a:endParaRPr>
          </a:p>
          <a:p>
            <a:pPr marL="12700" marR="5080">
              <a:lnSpc>
                <a:spcPct val="120900"/>
              </a:lnSpc>
            </a:pP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и</a:t>
            </a:r>
            <a:r>
              <a:rPr sz="2700" b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аппаратного</a:t>
            </a:r>
            <a:r>
              <a:rPr sz="27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языка</a:t>
            </a:r>
            <a:r>
              <a:rPr sz="27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разработки </a:t>
            </a:r>
            <a:r>
              <a:rPr sz="2700" b="1" dirty="0">
                <a:solidFill>
                  <a:srgbClr val="FFFFFF"/>
                </a:solidFill>
                <a:latin typeface="Arial"/>
                <a:cs typeface="Arial"/>
              </a:rPr>
              <a:t>System</a:t>
            </a:r>
            <a:r>
              <a:rPr sz="2700" b="1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700" b="1" spc="-10" dirty="0">
                <a:solidFill>
                  <a:srgbClr val="FFFFFF"/>
                </a:solidFill>
                <a:latin typeface="Arial"/>
                <a:cs typeface="Arial"/>
              </a:rPr>
              <a:t>Verilog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446766" y="7043673"/>
            <a:ext cx="1980564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solidFill>
                  <a:srgbClr val="FFFFFF"/>
                </a:solidFill>
                <a:latin typeface="Arial"/>
                <a:cs typeface="Arial"/>
              </a:rPr>
              <a:t>Н.</a:t>
            </a:r>
            <a:r>
              <a:rPr sz="2650" b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50" b="1" spc="-95" dirty="0">
                <a:solidFill>
                  <a:srgbClr val="FFFFFF"/>
                </a:solidFill>
                <a:latin typeface="Arial"/>
                <a:cs typeface="Arial"/>
              </a:rPr>
              <a:t>Г.</a:t>
            </a:r>
            <a:r>
              <a:rPr sz="2650" b="1" spc="-2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650" b="1" spc="-10" dirty="0">
                <a:solidFill>
                  <a:srgbClr val="FFFFFF"/>
                </a:solidFill>
                <a:latin typeface="Arial"/>
                <a:cs typeface="Arial"/>
              </a:rPr>
              <a:t>Зайцев</a:t>
            </a:r>
            <a:endParaRPr sz="2650" dirty="0">
              <a:latin typeface="Arial"/>
              <a:cs typeface="Arial"/>
            </a:endParaRPr>
          </a:p>
        </p:txBody>
      </p:sp>
      <p:sp>
        <p:nvSpPr>
          <p:cNvPr id="38" name="Прямоугольник 37">
            <a:extLst>
              <a:ext uri="{FF2B5EF4-FFF2-40B4-BE49-F238E27FC236}">
                <a16:creationId xmlns:a16="http://schemas.microsoft.com/office/drawing/2014/main" id="{8A84148B-2DA3-4F7F-B56B-1497AC77FFF7}"/>
              </a:ext>
            </a:extLst>
          </p:cNvPr>
          <p:cNvSpPr/>
          <p:nvPr/>
        </p:nvSpPr>
        <p:spPr>
          <a:xfrm>
            <a:off x="12592303" y="10314057"/>
            <a:ext cx="457200" cy="252983"/>
          </a:xfrm>
          <a:prstGeom prst="rect">
            <a:avLst/>
          </a:prstGeom>
          <a:solidFill>
            <a:srgbClr val="80B801"/>
          </a:solidFill>
          <a:ln>
            <a:solidFill>
              <a:srgbClr val="80B8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700E5BE2-EC87-4559-8ACF-97915E59EF1B}"/>
              </a:ext>
            </a:extLst>
          </p:cNvPr>
          <p:cNvSpPr/>
          <p:nvPr/>
        </p:nvSpPr>
        <p:spPr>
          <a:xfrm>
            <a:off x="16028924" y="10314057"/>
            <a:ext cx="457200" cy="252983"/>
          </a:xfrm>
          <a:prstGeom prst="rect">
            <a:avLst/>
          </a:prstGeom>
          <a:solidFill>
            <a:srgbClr val="80B801"/>
          </a:solidFill>
          <a:ln>
            <a:solidFill>
              <a:srgbClr val="80B8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4645CE55-CFDC-4914-A37C-953B6BA4C2FF}"/>
              </a:ext>
            </a:extLst>
          </p:cNvPr>
          <p:cNvSpPr/>
          <p:nvPr/>
        </p:nvSpPr>
        <p:spPr>
          <a:xfrm>
            <a:off x="13581250" y="9080701"/>
            <a:ext cx="3481199" cy="252983"/>
          </a:xfrm>
          <a:prstGeom prst="rect">
            <a:avLst/>
          </a:prstGeom>
          <a:solidFill>
            <a:srgbClr val="80B801"/>
          </a:solidFill>
          <a:ln>
            <a:solidFill>
              <a:srgbClr val="80B8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2108" y="4063746"/>
            <a:ext cx="525970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25" dirty="0">
                <a:latin typeface="Arial"/>
                <a:cs typeface="Arial"/>
              </a:rPr>
              <a:t>Десятичная</a:t>
            </a:r>
            <a:r>
              <a:rPr sz="2650" b="1" spc="-85" dirty="0">
                <a:latin typeface="Arial"/>
                <a:cs typeface="Arial"/>
              </a:rPr>
              <a:t> </a:t>
            </a:r>
            <a:r>
              <a:rPr sz="2650" b="1" spc="-35" dirty="0">
                <a:latin typeface="Arial"/>
                <a:cs typeface="Arial"/>
              </a:rPr>
              <a:t>система</a:t>
            </a:r>
            <a:r>
              <a:rPr sz="2650" b="1" spc="-15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счисления</a:t>
            </a:r>
            <a:endParaRPr sz="2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97508" y="5616575"/>
            <a:ext cx="376047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1075" algn="l"/>
                <a:tab pos="1950720" algn="l"/>
                <a:tab pos="2920365" algn="l"/>
              </a:tabLst>
            </a:pPr>
            <a:r>
              <a:rPr sz="2050" spc="-10" dirty="0">
                <a:solidFill>
                  <a:srgbClr val="6FA200"/>
                </a:solidFill>
                <a:latin typeface="Microsoft Sans Serif"/>
                <a:cs typeface="Microsoft Sans Serif"/>
              </a:rPr>
              <a:t>1000</a:t>
            </a:r>
            <a:r>
              <a:rPr lang="ru-RU" sz="2050" spc="-10" dirty="0">
                <a:solidFill>
                  <a:srgbClr val="6FA200"/>
                </a:solidFill>
                <a:latin typeface="Microsoft Sans Serif"/>
                <a:cs typeface="Microsoft Sans Serif"/>
              </a:rPr>
              <a:t>-и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100</a:t>
            </a: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-и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10</a:t>
            </a: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-</a:t>
            </a:r>
            <a:r>
              <a:rPr lang="ru-RU" sz="2050" spc="-20" dirty="0" err="1">
                <a:solidFill>
                  <a:srgbClr val="6FA200"/>
                </a:solidFill>
                <a:latin typeface="Microsoft Sans Serif"/>
                <a:cs typeface="Microsoft Sans Serif"/>
              </a:rPr>
              <a:t>ки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</a:t>
            </a:r>
            <a:r>
              <a:rPr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lang="ru-RU"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-ы</a:t>
            </a:r>
            <a:endParaRPr sz="2050" dirty="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1950720" algn="l"/>
              </a:tabLst>
            </a:pP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71548" y="6314948"/>
            <a:ext cx="15092044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150" dirty="0">
                <a:latin typeface="Microsoft Sans Serif"/>
                <a:cs typeface="Microsoft Sans Serif"/>
              </a:rPr>
              <a:t>9742</a:t>
            </a:r>
            <a:r>
              <a:rPr sz="6150" baseline="-17615" dirty="0">
                <a:latin typeface="Microsoft Sans Serif"/>
                <a:cs typeface="Microsoft Sans Serif"/>
              </a:rPr>
              <a:t>10</a:t>
            </a:r>
            <a:r>
              <a:rPr sz="6150" spc="30" baseline="-1761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=</a:t>
            </a:r>
            <a:r>
              <a:rPr sz="6150" spc="40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9</a:t>
            </a:r>
            <a:r>
              <a:rPr sz="6150" spc="-35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×</a:t>
            </a:r>
            <a:r>
              <a:rPr sz="6150" spc="-37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10</a:t>
            </a:r>
            <a:r>
              <a:rPr sz="6150" baseline="21002" dirty="0">
                <a:latin typeface="Microsoft Sans Serif"/>
                <a:cs typeface="Microsoft Sans Serif"/>
              </a:rPr>
              <a:t>3</a:t>
            </a:r>
            <a:r>
              <a:rPr sz="6150" spc="270" baseline="21002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+</a:t>
            </a:r>
            <a:r>
              <a:rPr sz="6150" spc="-360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7</a:t>
            </a:r>
            <a:r>
              <a:rPr sz="6150" spc="-350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×</a:t>
            </a:r>
            <a:r>
              <a:rPr sz="6150" spc="-370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10</a:t>
            </a:r>
            <a:r>
              <a:rPr sz="6150" baseline="21002" dirty="0">
                <a:latin typeface="Microsoft Sans Serif"/>
                <a:cs typeface="Microsoft Sans Serif"/>
              </a:rPr>
              <a:t>2</a:t>
            </a:r>
            <a:r>
              <a:rPr sz="6150" spc="270" baseline="21002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+</a:t>
            </a:r>
            <a:r>
              <a:rPr sz="6150" spc="-37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4</a:t>
            </a:r>
            <a:r>
              <a:rPr sz="6150" spc="-34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×</a:t>
            </a:r>
            <a:r>
              <a:rPr sz="6150" spc="-36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10</a:t>
            </a:r>
            <a:r>
              <a:rPr sz="6150" baseline="21002" dirty="0">
                <a:latin typeface="Microsoft Sans Serif"/>
                <a:cs typeface="Microsoft Sans Serif"/>
              </a:rPr>
              <a:t>1</a:t>
            </a:r>
            <a:r>
              <a:rPr sz="6150" spc="262" baseline="21002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+</a:t>
            </a:r>
            <a:r>
              <a:rPr sz="6150" spc="-365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2</a:t>
            </a:r>
            <a:r>
              <a:rPr sz="6150" spc="-340" dirty="0">
                <a:latin typeface="Microsoft Sans Serif"/>
                <a:cs typeface="Microsoft Sans Serif"/>
              </a:rPr>
              <a:t> </a:t>
            </a:r>
            <a:r>
              <a:rPr sz="6150" dirty="0">
                <a:latin typeface="Microsoft Sans Serif"/>
                <a:cs typeface="Microsoft Sans Serif"/>
              </a:rPr>
              <a:t>×</a:t>
            </a:r>
            <a:r>
              <a:rPr sz="6150" spc="-375" dirty="0">
                <a:latin typeface="Microsoft Sans Serif"/>
                <a:cs typeface="Microsoft Sans Serif"/>
              </a:rPr>
              <a:t> </a:t>
            </a:r>
            <a:r>
              <a:rPr sz="6150" spc="-25" dirty="0">
                <a:latin typeface="Microsoft Sans Serif"/>
                <a:cs typeface="Microsoft Sans Serif"/>
              </a:rPr>
              <a:t>10</a:t>
            </a:r>
            <a:r>
              <a:rPr sz="6150" spc="-37" baseline="21002" dirty="0">
                <a:latin typeface="Microsoft Sans Serif"/>
                <a:cs typeface="Microsoft Sans Serif"/>
              </a:rPr>
              <a:t>0</a:t>
            </a:r>
            <a:endParaRPr sz="6150" baseline="21002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31289" y="5971413"/>
            <a:ext cx="253365" cy="454659"/>
          </a:xfrm>
          <a:custGeom>
            <a:avLst/>
            <a:gdLst/>
            <a:ahLst/>
            <a:cxnLst/>
            <a:rect l="l" t="t" r="r" b="b"/>
            <a:pathLst>
              <a:path w="253364" h="454660">
                <a:moveTo>
                  <a:pt x="0" y="0"/>
                </a:moveTo>
                <a:lnTo>
                  <a:pt x="253365" y="45466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606420" y="5971413"/>
            <a:ext cx="0" cy="454659"/>
          </a:xfrm>
          <a:custGeom>
            <a:avLst/>
            <a:gdLst/>
            <a:ahLst/>
            <a:cxnLst/>
            <a:rect l="l" t="t" r="r" b="b"/>
            <a:pathLst>
              <a:path h="454660">
                <a:moveTo>
                  <a:pt x="0" y="0"/>
                </a:moveTo>
                <a:lnTo>
                  <a:pt x="0" y="45466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191636" y="5971413"/>
            <a:ext cx="1648460" cy="454659"/>
          </a:xfrm>
          <a:custGeom>
            <a:avLst/>
            <a:gdLst/>
            <a:ahLst/>
            <a:cxnLst/>
            <a:rect l="l" t="t" r="r" b="b"/>
            <a:pathLst>
              <a:path w="1648460" h="454660">
                <a:moveTo>
                  <a:pt x="510539" y="0"/>
                </a:moveTo>
                <a:lnTo>
                  <a:pt x="0" y="454660"/>
                </a:lnTo>
              </a:path>
              <a:path w="1648460" h="454660">
                <a:moveTo>
                  <a:pt x="1648078" y="0"/>
                </a:moveTo>
                <a:lnTo>
                  <a:pt x="462534" y="45466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16549" y="7518908"/>
            <a:ext cx="1652523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5600">
              <a:lnSpc>
                <a:spcPct val="100000"/>
              </a:lnSpc>
              <a:spcBef>
                <a:spcPts val="100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Девять тысяч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16" name="object 16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74023" y="7518908"/>
            <a:ext cx="1214120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6215">
              <a:lnSpc>
                <a:spcPct val="100000"/>
              </a:lnSpc>
              <a:spcBef>
                <a:spcPts val="100"/>
              </a:spcBef>
            </a:pPr>
            <a:r>
              <a:rPr lang="ru-RU" sz="2050" spc="-10" dirty="0">
                <a:solidFill>
                  <a:srgbClr val="6FA200"/>
                </a:solidFill>
                <a:latin typeface="Microsoft Sans Serif"/>
                <a:cs typeface="Microsoft Sans Serif"/>
              </a:rPr>
              <a:t>Семь сотен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168378" y="7518908"/>
            <a:ext cx="1407922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0320">
              <a:lnSpc>
                <a:spcPct val="100000"/>
              </a:lnSpc>
              <a:spcBef>
                <a:spcPts val="100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Четыре десятка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81250" y="7518908"/>
            <a:ext cx="1407922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0010">
              <a:lnSpc>
                <a:spcPct val="100000"/>
              </a:lnSpc>
              <a:spcBef>
                <a:spcPts val="100"/>
              </a:spcBef>
            </a:pPr>
            <a:r>
              <a:rPr lang="ru-RU"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Две единицы</a:t>
            </a:r>
            <a:endParaRPr sz="2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763520"/>
            <a:chOff x="0" y="0"/>
            <a:chExt cx="20104100" cy="276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845" cy="21724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6821" y="1716024"/>
              <a:ext cx="1047750" cy="10469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174223" y="3284093"/>
          <a:ext cx="8150224" cy="6525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300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0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3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03605">
                <a:tc>
                  <a:txBody>
                    <a:bodyPr/>
                    <a:lstStyle/>
                    <a:p>
                      <a:pPr marL="247015" marR="226695" indent="-3810" algn="ctr">
                        <a:lnSpc>
                          <a:spcPct val="101000"/>
                        </a:lnSpc>
                        <a:spcBef>
                          <a:spcPts val="5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1-битные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двоичные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числа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 marR="226060" indent="-3810" algn="ctr">
                        <a:lnSpc>
                          <a:spcPct val="101000"/>
                        </a:lnSpc>
                        <a:spcBef>
                          <a:spcPts val="5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2-битные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двоичные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числа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015" marR="226695" indent="-3810" algn="ctr">
                        <a:lnSpc>
                          <a:spcPct val="101000"/>
                        </a:lnSpc>
                        <a:spcBef>
                          <a:spcPts val="5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3-битные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двоичные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числа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0025" marR="179705" indent="-3810" algn="ctr">
                        <a:lnSpc>
                          <a:spcPct val="101000"/>
                        </a:lnSpc>
                        <a:spcBef>
                          <a:spcPts val="55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4-битные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двоичные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числа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69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9220" marR="111760" indent="5334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Десятичные </a:t>
                      </a:r>
                      <a:r>
                        <a:rPr sz="1800" b="1" spc="-20" dirty="0">
                          <a:latin typeface="Arial"/>
                          <a:cs typeface="Arial"/>
                        </a:rPr>
                        <a:t>эквиваленты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011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2108" y="3622963"/>
            <a:ext cx="5403342" cy="13490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25" dirty="0">
                <a:latin typeface="Arial"/>
                <a:cs typeface="Arial"/>
              </a:rPr>
              <a:t>Двоичная</a:t>
            </a:r>
            <a:r>
              <a:rPr sz="2650" b="1" spc="-135" dirty="0">
                <a:latin typeface="Arial"/>
                <a:cs typeface="Arial"/>
              </a:rPr>
              <a:t> </a:t>
            </a:r>
            <a:r>
              <a:rPr sz="2650" b="1" spc="-30" dirty="0">
                <a:latin typeface="Arial"/>
                <a:cs typeface="Arial"/>
              </a:rPr>
              <a:t>система</a:t>
            </a:r>
            <a:r>
              <a:rPr sz="2650" b="1" spc="-11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счисления</a:t>
            </a:r>
            <a:endParaRPr sz="26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2650" dirty="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tabLst>
                <a:tab pos="1006475" algn="l"/>
                <a:tab pos="1976120" algn="l"/>
                <a:tab pos="2945130" algn="l"/>
                <a:tab pos="3923029" algn="l"/>
              </a:tabLst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 </a:t>
            </a:r>
            <a:r>
              <a:rPr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16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</a:t>
            </a:r>
            <a:r>
              <a:rPr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8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</a:t>
            </a:r>
            <a:r>
              <a:rPr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4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 </a:t>
            </a:r>
            <a:r>
              <a:rPr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2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    </a:t>
            </a:r>
            <a:r>
              <a:rPr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103626" y="5961634"/>
            <a:ext cx="21971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50" dirty="0">
                <a:latin typeface="Microsoft Sans Serif"/>
                <a:cs typeface="Microsoft Sans Serif"/>
              </a:rPr>
              <a:t>2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0651" y="5657088"/>
            <a:ext cx="7383780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743075" algn="l"/>
              </a:tabLst>
            </a:pPr>
            <a:r>
              <a:rPr sz="4100" spc="-10" dirty="0">
                <a:latin typeface="Microsoft Sans Serif"/>
                <a:cs typeface="Microsoft Sans Serif"/>
              </a:rPr>
              <a:t>10110</a:t>
            </a:r>
            <a:r>
              <a:rPr sz="4100" dirty="0">
                <a:latin typeface="Microsoft Sans Serif"/>
                <a:cs typeface="Microsoft Sans Serif"/>
              </a:rPr>
              <a:t>	=</a:t>
            </a:r>
            <a:r>
              <a:rPr sz="4100" spc="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1</a:t>
            </a:r>
            <a:r>
              <a:rPr sz="4100" spc="-385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2</a:t>
            </a:r>
            <a:r>
              <a:rPr sz="4125" baseline="21212" dirty="0">
                <a:latin typeface="Microsoft Sans Serif"/>
                <a:cs typeface="Microsoft Sans Serif"/>
              </a:rPr>
              <a:t>4</a:t>
            </a:r>
            <a:r>
              <a:rPr sz="4125" spc="-44" baseline="21212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+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0</a:t>
            </a:r>
            <a:r>
              <a:rPr sz="4100" spc="-375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2</a:t>
            </a:r>
            <a:r>
              <a:rPr sz="4125" baseline="21212" dirty="0">
                <a:latin typeface="Microsoft Sans Serif"/>
                <a:cs typeface="Microsoft Sans Serif"/>
              </a:rPr>
              <a:t>3</a:t>
            </a:r>
            <a:r>
              <a:rPr sz="4125" spc="-44" baseline="21212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+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1</a:t>
            </a:r>
            <a:r>
              <a:rPr sz="4100" spc="-370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0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2</a:t>
            </a:r>
            <a:r>
              <a:rPr sz="4125" baseline="21212" dirty="0">
                <a:latin typeface="Microsoft Sans Serif"/>
                <a:cs typeface="Microsoft Sans Serif"/>
              </a:rPr>
              <a:t>2</a:t>
            </a:r>
            <a:r>
              <a:rPr sz="4125" spc="-44" baseline="21212" dirty="0">
                <a:latin typeface="Microsoft Sans Serif"/>
                <a:cs typeface="Microsoft Sans Serif"/>
              </a:rPr>
              <a:t> </a:t>
            </a:r>
            <a:r>
              <a:rPr sz="4100" spc="-50" dirty="0">
                <a:latin typeface="Microsoft Sans Serif"/>
                <a:cs typeface="Microsoft Sans Serif"/>
              </a:rPr>
              <a:t>+</a:t>
            </a:r>
            <a:endParaRPr sz="4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48205" y="6913880"/>
            <a:ext cx="5020310" cy="178702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1809114" algn="l"/>
              </a:tabLst>
            </a:pPr>
            <a:r>
              <a:rPr sz="4100" spc="55" dirty="0">
                <a:latin typeface="Microsoft Sans Serif"/>
                <a:cs typeface="Microsoft Sans Serif"/>
              </a:rPr>
              <a:t>+1</a:t>
            </a:r>
            <a:r>
              <a:rPr sz="4100" spc="-210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spc="-25" dirty="0">
                <a:latin typeface="Microsoft Sans Serif"/>
                <a:cs typeface="Microsoft Sans Serif"/>
              </a:rPr>
              <a:t>2</a:t>
            </a:r>
            <a:r>
              <a:rPr sz="4125" spc="-37" baseline="21212" dirty="0">
                <a:latin typeface="Microsoft Sans Serif"/>
                <a:cs typeface="Microsoft Sans Serif"/>
              </a:rPr>
              <a:t>1</a:t>
            </a:r>
            <a:r>
              <a:rPr sz="4125" baseline="21212" dirty="0">
                <a:latin typeface="Microsoft Sans Serif"/>
                <a:cs typeface="Microsoft Sans Serif"/>
              </a:rPr>
              <a:t>	</a:t>
            </a:r>
            <a:r>
              <a:rPr sz="4100" spc="-30" dirty="0">
                <a:latin typeface="Microsoft Sans Serif"/>
                <a:cs typeface="Microsoft Sans Serif"/>
              </a:rPr>
              <a:t>+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0</a:t>
            </a:r>
            <a:r>
              <a:rPr sz="4100" spc="-375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2</a:t>
            </a:r>
            <a:r>
              <a:rPr sz="4125" baseline="21212" dirty="0">
                <a:latin typeface="Microsoft Sans Serif"/>
                <a:cs typeface="Microsoft Sans Serif"/>
              </a:rPr>
              <a:t>0</a:t>
            </a:r>
            <a:r>
              <a:rPr sz="4125" spc="-15" baseline="21212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=</a:t>
            </a:r>
            <a:r>
              <a:rPr sz="4100" spc="55" dirty="0">
                <a:latin typeface="Microsoft Sans Serif"/>
                <a:cs typeface="Microsoft Sans Serif"/>
              </a:rPr>
              <a:t> </a:t>
            </a:r>
            <a:r>
              <a:rPr sz="4100" spc="-20" dirty="0">
                <a:latin typeface="Microsoft Sans Serif"/>
                <a:cs typeface="Microsoft Sans Serif"/>
              </a:rPr>
              <a:t>22</a:t>
            </a:r>
            <a:r>
              <a:rPr sz="4125" spc="-30" baseline="-16161" dirty="0">
                <a:latin typeface="Microsoft Sans Serif"/>
                <a:cs typeface="Microsoft Sans Serif"/>
              </a:rPr>
              <a:t>10</a:t>
            </a:r>
            <a:endParaRPr lang="ru-RU" sz="4125" baseline="-16161" dirty="0">
              <a:latin typeface="Microsoft Sans Serif"/>
              <a:cs typeface="Microsoft Sans Serif"/>
            </a:endParaRPr>
          </a:p>
          <a:p>
            <a:pPr marL="482600">
              <a:lnSpc>
                <a:spcPct val="100000"/>
              </a:lnSpc>
              <a:spcBef>
                <a:spcPts val="2045"/>
              </a:spcBef>
              <a:tabLst>
                <a:tab pos="2261870" algn="l"/>
              </a:tabLst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одна 	ноль</a:t>
            </a:r>
          </a:p>
          <a:p>
            <a:pPr marL="482600">
              <a:lnSpc>
                <a:spcPct val="100000"/>
              </a:lnSpc>
              <a:spcBef>
                <a:spcPts val="2045"/>
              </a:spcBef>
              <a:tabLst>
                <a:tab pos="2261870" algn="l"/>
              </a:tabLst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двойка            единиц</a:t>
            </a:r>
            <a:endParaRPr lang="ru-RU" sz="2050" dirty="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669923" y="4982337"/>
            <a:ext cx="204470" cy="775970"/>
          </a:xfrm>
          <a:custGeom>
            <a:avLst/>
            <a:gdLst/>
            <a:ahLst/>
            <a:cxnLst/>
            <a:rect l="l" t="t" r="r" b="b"/>
            <a:pathLst>
              <a:path w="204469" h="775970">
                <a:moveTo>
                  <a:pt x="0" y="0"/>
                </a:moveTo>
                <a:lnTo>
                  <a:pt x="204088" y="775462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170557" y="4982337"/>
            <a:ext cx="3646804" cy="775970"/>
          </a:xfrm>
          <a:custGeom>
            <a:avLst/>
            <a:gdLst/>
            <a:ahLst/>
            <a:cxnLst/>
            <a:rect l="l" t="t" r="r" b="b"/>
            <a:pathLst>
              <a:path w="3646804" h="775970">
                <a:moveTo>
                  <a:pt x="521335" y="0"/>
                </a:moveTo>
                <a:lnTo>
                  <a:pt x="0" y="775462"/>
                </a:lnTo>
              </a:path>
              <a:path w="3646804" h="775970">
                <a:moveTo>
                  <a:pt x="1469008" y="0"/>
                </a:moveTo>
                <a:lnTo>
                  <a:pt x="320420" y="775462"/>
                </a:lnTo>
              </a:path>
              <a:path w="3646804" h="775970">
                <a:moveTo>
                  <a:pt x="2447671" y="0"/>
                </a:moveTo>
                <a:lnTo>
                  <a:pt x="585469" y="772159"/>
                </a:lnTo>
              </a:path>
              <a:path w="3646804" h="775970">
                <a:moveTo>
                  <a:pt x="3646424" y="0"/>
                </a:moveTo>
                <a:lnTo>
                  <a:pt x="826643" y="772159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727450" y="6341618"/>
            <a:ext cx="541020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5485" algn="l"/>
                <a:tab pos="3722370" algn="l"/>
              </a:tabLst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один по 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ноль 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одна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75485" algn="l"/>
                <a:tab pos="3722370" algn="l"/>
              </a:tabLst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Шестнадцать     восьмерок      четверка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sp>
        <p:nvSpPr>
          <p:cNvPr id="17" name="object 17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763520"/>
            <a:chOff x="0" y="0"/>
            <a:chExt cx="20104100" cy="276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845" cy="21724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6821" y="1716024"/>
              <a:ext cx="1047750" cy="10469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0174223" y="3284093"/>
          <a:ext cx="8149590" cy="62496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16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6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6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7380">
                <a:tc>
                  <a:txBody>
                    <a:bodyPr/>
                    <a:lstStyle/>
                    <a:p>
                      <a:pPr marL="988694" marR="196850" indent="-781050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20" dirty="0">
                          <a:latin typeface="Arial"/>
                          <a:cs typeface="Arial"/>
                        </a:rPr>
                        <a:t>Шестнадцатеричная цифра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3580" marR="658495" indent="-5206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15" dirty="0">
                          <a:latin typeface="Arial"/>
                          <a:cs typeface="Arial"/>
                        </a:rPr>
                        <a:t>Десятичный </a:t>
                      </a:r>
                      <a:r>
                        <a:rPr sz="1800" b="1" spc="-10" dirty="0">
                          <a:latin typeface="Arial"/>
                          <a:cs typeface="Arial"/>
                        </a:rPr>
                        <a:t>эквивалент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03580" marR="705485" indent="58419"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r>
                        <a:rPr sz="1800" b="1" spc="-10" dirty="0">
                          <a:latin typeface="Arial"/>
                          <a:cs typeface="Arial"/>
                        </a:rPr>
                        <a:t>Двоичный </a:t>
                      </a:r>
                      <a:r>
                        <a:rPr sz="1800" b="1" spc="-25" dirty="0">
                          <a:latin typeface="Arial"/>
                          <a:cs typeface="Arial"/>
                        </a:rPr>
                        <a:t>эквивалент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66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0011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3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79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6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7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0111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8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9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А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B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1011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C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12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1100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D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13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1101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51790"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E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14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1110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51155">
                <a:tc>
                  <a:txBody>
                    <a:bodyPr/>
                    <a:lstStyle/>
                    <a:p>
                      <a:pPr marL="8255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50" dirty="0">
                          <a:latin typeface="Microsoft Sans Serif"/>
                          <a:cs typeface="Microsoft Sans Serif"/>
                        </a:rPr>
                        <a:t>F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5" dirty="0">
                          <a:latin typeface="Microsoft Sans Serif"/>
                          <a:cs typeface="Microsoft Sans Serif"/>
                        </a:rPr>
                        <a:t>15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800" spc="-20" dirty="0">
                          <a:latin typeface="Microsoft Sans Serif"/>
                          <a:cs typeface="Microsoft Sans Serif"/>
                        </a:rPr>
                        <a:t>1111</a:t>
                      </a:r>
                      <a:endParaRPr sz="18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857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72108" y="3307080"/>
            <a:ext cx="6697345" cy="16773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35" dirty="0">
                <a:latin typeface="Arial"/>
                <a:cs typeface="Arial"/>
              </a:rPr>
              <a:t>Шестнадцатеричная</a:t>
            </a:r>
            <a:r>
              <a:rPr sz="2650" b="1" spc="-80" dirty="0">
                <a:latin typeface="Arial"/>
                <a:cs typeface="Arial"/>
              </a:rPr>
              <a:t> </a:t>
            </a:r>
            <a:r>
              <a:rPr sz="2650" b="1" spc="-30" dirty="0">
                <a:latin typeface="Arial"/>
                <a:cs typeface="Arial"/>
              </a:rPr>
              <a:t>система</a:t>
            </a:r>
            <a:r>
              <a:rPr sz="2650" b="1" spc="-10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счисления</a:t>
            </a:r>
            <a:endParaRPr sz="265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55"/>
              </a:spcBef>
            </a:pPr>
            <a:endParaRPr sz="2650" dirty="0">
              <a:latin typeface="Arial"/>
              <a:cs typeface="Arial"/>
            </a:endParaRPr>
          </a:p>
          <a:p>
            <a:pPr marL="36830">
              <a:lnSpc>
                <a:spcPct val="100000"/>
              </a:lnSpc>
              <a:tabLst>
                <a:tab pos="1006475" algn="l"/>
                <a:tab pos="1976120" algn="l"/>
              </a:tabLst>
            </a:pPr>
            <a:r>
              <a:rPr lang="ru-RU" sz="2050" spc="-10" dirty="0">
                <a:solidFill>
                  <a:srgbClr val="6FA200"/>
                </a:solidFill>
                <a:latin typeface="Microsoft Sans Serif"/>
                <a:cs typeface="Microsoft Sans Serif"/>
              </a:rPr>
              <a:t>разряд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разряд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разряд </a:t>
            </a:r>
          </a:p>
          <a:p>
            <a:pPr marL="36830">
              <a:lnSpc>
                <a:spcPct val="100000"/>
              </a:lnSpc>
              <a:tabLst>
                <a:tab pos="1006475" algn="l"/>
                <a:tab pos="1976120" algn="l"/>
              </a:tabLst>
            </a:pPr>
            <a:r>
              <a:rPr lang="ru-RU" sz="2050" spc="-10" dirty="0">
                <a:solidFill>
                  <a:srgbClr val="6FA200"/>
                </a:solidFill>
                <a:latin typeface="Microsoft Sans Serif"/>
                <a:cs typeface="Microsoft Sans Serif"/>
              </a:rPr>
              <a:t>256-ти</a:t>
            </a:r>
            <a:r>
              <a:rPr lang="ru-RU"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16-ти</a:t>
            </a:r>
            <a:r>
              <a:rPr lang="ru-RU" sz="2050" spc="-25" dirty="0">
                <a:solidFill>
                  <a:srgbClr val="6FA200"/>
                </a:solidFill>
                <a:latin typeface="Microsoft Sans Serif"/>
                <a:cs typeface="Microsoft Sans Serif"/>
              </a:rPr>
              <a:t>	1-ц</a:t>
            </a:r>
            <a:r>
              <a:rPr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5354" y="5961634"/>
            <a:ext cx="408305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25" dirty="0">
                <a:latin typeface="Microsoft Sans Serif"/>
                <a:cs typeface="Microsoft Sans Serif"/>
              </a:rPr>
              <a:t>16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60651" y="5657088"/>
            <a:ext cx="6081395" cy="650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40510" algn="l"/>
              </a:tabLst>
            </a:pPr>
            <a:r>
              <a:rPr sz="4100" spc="-25" dirty="0">
                <a:latin typeface="Microsoft Sans Serif"/>
                <a:cs typeface="Microsoft Sans Serif"/>
              </a:rPr>
              <a:t>2ED</a:t>
            </a:r>
            <a:r>
              <a:rPr sz="4100" dirty="0">
                <a:latin typeface="Microsoft Sans Serif"/>
                <a:cs typeface="Microsoft Sans Serif"/>
              </a:rPr>
              <a:t>	=</a:t>
            </a:r>
            <a:r>
              <a:rPr sz="4100" spc="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2</a:t>
            </a:r>
            <a:r>
              <a:rPr sz="4100" spc="-375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16</a:t>
            </a:r>
            <a:r>
              <a:rPr sz="4125" baseline="21212" dirty="0">
                <a:latin typeface="Microsoft Sans Serif"/>
                <a:cs typeface="Microsoft Sans Serif"/>
              </a:rPr>
              <a:t>2</a:t>
            </a:r>
            <a:r>
              <a:rPr sz="4125" spc="-52" baseline="21212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+</a:t>
            </a:r>
            <a:r>
              <a:rPr sz="4100" spc="-360" dirty="0">
                <a:latin typeface="Microsoft Sans Serif"/>
                <a:cs typeface="Microsoft Sans Serif"/>
              </a:rPr>
              <a:t> </a:t>
            </a:r>
            <a:r>
              <a:rPr sz="4100" spc="-35" dirty="0">
                <a:latin typeface="Microsoft Sans Serif"/>
                <a:cs typeface="Microsoft Sans Serif"/>
              </a:rPr>
              <a:t>E</a:t>
            </a:r>
            <a:r>
              <a:rPr sz="4100" spc="-350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65" dirty="0">
                <a:latin typeface="Microsoft Sans Serif"/>
                <a:cs typeface="Microsoft Sans Serif"/>
              </a:rPr>
              <a:t> </a:t>
            </a:r>
            <a:r>
              <a:rPr sz="4100" dirty="0">
                <a:latin typeface="Microsoft Sans Serif"/>
                <a:cs typeface="Microsoft Sans Serif"/>
              </a:rPr>
              <a:t>16</a:t>
            </a:r>
            <a:r>
              <a:rPr sz="4125" baseline="21212" dirty="0">
                <a:latin typeface="Microsoft Sans Serif"/>
                <a:cs typeface="Microsoft Sans Serif"/>
              </a:rPr>
              <a:t>1</a:t>
            </a:r>
            <a:r>
              <a:rPr sz="4125" spc="-52" baseline="21212" dirty="0">
                <a:latin typeface="Microsoft Sans Serif"/>
                <a:cs typeface="Microsoft Sans Serif"/>
              </a:rPr>
              <a:t> </a:t>
            </a:r>
            <a:r>
              <a:rPr sz="4100" spc="-50" dirty="0">
                <a:latin typeface="Microsoft Sans Serif"/>
                <a:cs typeface="Microsoft Sans Serif"/>
              </a:rPr>
              <a:t>+</a:t>
            </a:r>
            <a:endParaRPr sz="41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79876" y="7560310"/>
            <a:ext cx="219710" cy="44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50" spc="-50" dirty="0">
                <a:latin typeface="Microsoft Sans Serif"/>
                <a:cs typeface="Microsoft Sans Serif"/>
              </a:rPr>
              <a:t>0</a:t>
            </a:r>
            <a:endParaRPr sz="27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60651" y="7302748"/>
            <a:ext cx="3953510" cy="1542089"/>
          </a:xfrm>
          <a:prstGeom prst="rect">
            <a:avLst/>
          </a:prstGeom>
        </p:spPr>
        <p:txBody>
          <a:bodyPr vert="horz" wrap="square" lIns="0" tIns="2520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85"/>
              </a:spcBef>
              <a:tabLst>
                <a:tab pos="2215515" algn="l"/>
              </a:tabLst>
            </a:pPr>
            <a:r>
              <a:rPr sz="4100" dirty="0">
                <a:latin typeface="Microsoft Sans Serif"/>
                <a:cs typeface="Microsoft Sans Serif"/>
              </a:rPr>
              <a:t>+</a:t>
            </a:r>
            <a:r>
              <a:rPr sz="4100" spc="-50" dirty="0">
                <a:latin typeface="Microsoft Sans Serif"/>
                <a:cs typeface="Microsoft Sans Serif"/>
              </a:rPr>
              <a:t> </a:t>
            </a:r>
            <a:r>
              <a:rPr sz="4100" spc="-35" dirty="0">
                <a:latin typeface="Microsoft Sans Serif"/>
                <a:cs typeface="Microsoft Sans Serif"/>
              </a:rPr>
              <a:t>D</a:t>
            </a:r>
            <a:r>
              <a:rPr sz="4100" spc="-360" dirty="0">
                <a:latin typeface="Microsoft Sans Serif"/>
                <a:cs typeface="Microsoft Sans Serif"/>
              </a:rPr>
              <a:t> </a:t>
            </a:r>
            <a:r>
              <a:rPr sz="4100" spc="-30" dirty="0">
                <a:latin typeface="Microsoft Sans Serif"/>
                <a:cs typeface="Microsoft Sans Serif"/>
              </a:rPr>
              <a:t>×</a:t>
            </a:r>
            <a:r>
              <a:rPr sz="4100" spc="-355" dirty="0">
                <a:latin typeface="Microsoft Sans Serif"/>
                <a:cs typeface="Microsoft Sans Serif"/>
              </a:rPr>
              <a:t> </a:t>
            </a:r>
            <a:r>
              <a:rPr sz="4100" spc="-25" dirty="0">
                <a:latin typeface="Microsoft Sans Serif"/>
                <a:cs typeface="Microsoft Sans Serif"/>
              </a:rPr>
              <a:t>16</a:t>
            </a:r>
            <a:r>
              <a:rPr sz="4100" dirty="0">
                <a:latin typeface="Microsoft Sans Serif"/>
                <a:cs typeface="Microsoft Sans Serif"/>
              </a:rPr>
              <a:t>	=</a:t>
            </a:r>
            <a:r>
              <a:rPr sz="4100" spc="30" dirty="0">
                <a:latin typeface="Microsoft Sans Serif"/>
                <a:cs typeface="Microsoft Sans Serif"/>
              </a:rPr>
              <a:t> </a:t>
            </a:r>
            <a:r>
              <a:rPr sz="4100" spc="-10" dirty="0">
                <a:latin typeface="Microsoft Sans Serif"/>
                <a:cs typeface="Microsoft Sans Serif"/>
              </a:rPr>
              <a:t>749</a:t>
            </a:r>
            <a:r>
              <a:rPr sz="4125" spc="-15" baseline="-16161" dirty="0">
                <a:latin typeface="Microsoft Sans Serif"/>
                <a:cs typeface="Microsoft Sans Serif"/>
              </a:rPr>
              <a:t>10</a:t>
            </a:r>
            <a:endParaRPr sz="4125" baseline="-16161" dirty="0">
              <a:latin typeface="Microsoft Sans Serif"/>
              <a:cs typeface="Microsoft Sans Serif"/>
            </a:endParaRPr>
          </a:p>
          <a:p>
            <a:pPr marL="483870" marR="5080" indent="-471805" defTabSz="179388">
              <a:spcBef>
                <a:spcPts val="100"/>
              </a:spcBef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    Тринадцать  </a:t>
            </a:r>
          </a:p>
          <a:p>
            <a:pPr marL="483870" marR="5080" indent="-471805" defTabSz="179388">
              <a:spcBef>
                <a:spcPts val="100"/>
              </a:spcBef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       по одному</a:t>
            </a:r>
            <a:endParaRPr sz="2050" dirty="0">
              <a:solidFill>
                <a:srgbClr val="6FA200"/>
              </a:solidFill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669923" y="4982337"/>
            <a:ext cx="204470" cy="775970"/>
          </a:xfrm>
          <a:custGeom>
            <a:avLst/>
            <a:gdLst/>
            <a:ahLst/>
            <a:cxnLst/>
            <a:rect l="l" t="t" r="r" b="b"/>
            <a:pathLst>
              <a:path w="204469" h="775970">
                <a:moveTo>
                  <a:pt x="0" y="0"/>
                </a:moveTo>
                <a:lnTo>
                  <a:pt x="204088" y="775462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2170557" y="4982337"/>
            <a:ext cx="1469390" cy="775970"/>
          </a:xfrm>
          <a:custGeom>
            <a:avLst/>
            <a:gdLst/>
            <a:ahLst/>
            <a:cxnLst/>
            <a:rect l="l" t="t" r="r" b="b"/>
            <a:pathLst>
              <a:path w="1469389" h="775970">
                <a:moveTo>
                  <a:pt x="521207" y="0"/>
                </a:moveTo>
                <a:lnTo>
                  <a:pt x="0" y="775462"/>
                </a:lnTo>
              </a:path>
              <a:path w="1469389" h="775970">
                <a:moveTo>
                  <a:pt x="1468882" y="0"/>
                </a:moveTo>
                <a:lnTo>
                  <a:pt x="320294" y="775462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113659" y="6340348"/>
            <a:ext cx="2698369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83870" marR="5080" indent="-471805">
              <a:lnSpc>
                <a:spcPct val="100000"/>
              </a:lnSpc>
              <a:spcBef>
                <a:spcPts val="100"/>
              </a:spcBef>
            </a:pPr>
            <a:r>
              <a:rPr lang="ru-RU" sz="2050" dirty="0">
                <a:solidFill>
                  <a:srgbClr val="6FA200"/>
                </a:solidFill>
                <a:latin typeface="Microsoft Sans Serif"/>
                <a:cs typeface="Microsoft Sans Serif"/>
              </a:rPr>
              <a:t>два по двести пятьдесят шесть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9" name="object 19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12028" y="6340348"/>
            <a:ext cx="2106422" cy="64376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04" marR="5080" indent="-2540">
              <a:lnSpc>
                <a:spcPct val="100000"/>
              </a:lnSpc>
              <a:spcBef>
                <a:spcPts val="100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четырнадцать по шестнадцать</a:t>
            </a:r>
            <a:endParaRPr sz="205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763520"/>
            <a:chOff x="0" y="0"/>
            <a:chExt cx="20104100" cy="276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845" cy="21724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6821" y="1716024"/>
              <a:ext cx="1047750" cy="10469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17871186" y="4008833"/>
            <a:ext cx="570865" cy="347345"/>
            <a:chOff x="17871186" y="4008833"/>
            <a:chExt cx="570865" cy="347345"/>
          </a:xfrm>
        </p:grpSpPr>
        <p:sp>
          <p:nvSpPr>
            <p:cNvPr id="8" name="object 8"/>
            <p:cNvSpPr/>
            <p:nvPr/>
          </p:nvSpPr>
          <p:spPr>
            <a:xfrm>
              <a:off x="17904333" y="4067924"/>
              <a:ext cx="487680" cy="283210"/>
            </a:xfrm>
            <a:custGeom>
              <a:avLst/>
              <a:gdLst/>
              <a:ahLst/>
              <a:cxnLst/>
              <a:rect l="l" t="t" r="r" b="b"/>
              <a:pathLst>
                <a:path w="487680" h="283210">
                  <a:moveTo>
                    <a:pt x="0" y="282968"/>
                  </a:moveTo>
                  <a:lnTo>
                    <a:pt x="487527" y="282968"/>
                  </a:lnTo>
                  <a:lnTo>
                    <a:pt x="487527" y="0"/>
                  </a:lnTo>
                  <a:lnTo>
                    <a:pt x="0" y="0"/>
                  </a:lnTo>
                  <a:lnTo>
                    <a:pt x="0" y="282968"/>
                  </a:lnTo>
                  <a:close/>
                </a:path>
              </a:pathLst>
            </a:custGeom>
            <a:ln w="9906">
              <a:solidFill>
                <a:srgbClr val="6FA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871186" y="4008833"/>
              <a:ext cx="570865" cy="125730"/>
            </a:xfrm>
            <a:custGeom>
              <a:avLst/>
              <a:gdLst/>
              <a:ahLst/>
              <a:cxnLst/>
              <a:rect l="l" t="t" r="r" b="b"/>
              <a:pathLst>
                <a:path w="570865" h="125729">
                  <a:moveTo>
                    <a:pt x="570331" y="0"/>
                  </a:moveTo>
                  <a:lnTo>
                    <a:pt x="0" y="0"/>
                  </a:lnTo>
                  <a:lnTo>
                    <a:pt x="0" y="125651"/>
                  </a:lnTo>
                  <a:lnTo>
                    <a:pt x="570331" y="125651"/>
                  </a:lnTo>
                  <a:lnTo>
                    <a:pt x="570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5803117" y="4008833"/>
            <a:ext cx="570865" cy="347345"/>
            <a:chOff x="15803117" y="4008833"/>
            <a:chExt cx="570865" cy="347345"/>
          </a:xfrm>
        </p:grpSpPr>
        <p:sp>
          <p:nvSpPr>
            <p:cNvPr id="11" name="object 11"/>
            <p:cNvSpPr/>
            <p:nvPr/>
          </p:nvSpPr>
          <p:spPr>
            <a:xfrm>
              <a:off x="15836264" y="4067924"/>
              <a:ext cx="487680" cy="283210"/>
            </a:xfrm>
            <a:custGeom>
              <a:avLst/>
              <a:gdLst/>
              <a:ahLst/>
              <a:cxnLst/>
              <a:rect l="l" t="t" r="r" b="b"/>
              <a:pathLst>
                <a:path w="487680" h="283210">
                  <a:moveTo>
                    <a:pt x="0" y="282968"/>
                  </a:moveTo>
                  <a:lnTo>
                    <a:pt x="487527" y="282968"/>
                  </a:lnTo>
                  <a:lnTo>
                    <a:pt x="487527" y="0"/>
                  </a:lnTo>
                  <a:lnTo>
                    <a:pt x="0" y="0"/>
                  </a:lnTo>
                  <a:lnTo>
                    <a:pt x="0" y="282968"/>
                  </a:lnTo>
                  <a:close/>
                </a:path>
              </a:pathLst>
            </a:custGeom>
            <a:ln w="9906">
              <a:solidFill>
                <a:srgbClr val="6FA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803117" y="4008833"/>
              <a:ext cx="570865" cy="125730"/>
            </a:xfrm>
            <a:custGeom>
              <a:avLst/>
              <a:gdLst/>
              <a:ahLst/>
              <a:cxnLst/>
              <a:rect l="l" t="t" r="r" b="b"/>
              <a:pathLst>
                <a:path w="570865" h="125729">
                  <a:moveTo>
                    <a:pt x="570331" y="0"/>
                  </a:moveTo>
                  <a:lnTo>
                    <a:pt x="0" y="0"/>
                  </a:lnTo>
                  <a:lnTo>
                    <a:pt x="0" y="125651"/>
                  </a:lnTo>
                  <a:lnTo>
                    <a:pt x="570331" y="125651"/>
                  </a:lnTo>
                  <a:lnTo>
                    <a:pt x="5703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6987519" y="5494020"/>
            <a:ext cx="28194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i="1" spc="-25" dirty="0">
                <a:solidFill>
                  <a:srgbClr val="171717"/>
                </a:solidFill>
                <a:latin typeface="Arial"/>
                <a:cs typeface="Arial"/>
              </a:rPr>
              <a:t>а</a:t>
            </a:r>
            <a:r>
              <a:rPr sz="230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9375" y="2402331"/>
            <a:ext cx="253492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45" dirty="0">
                <a:latin typeface="Arial"/>
                <a:cs typeface="Arial"/>
              </a:rPr>
              <a:t>Байт,</a:t>
            </a:r>
            <a:r>
              <a:rPr sz="2650" b="1" spc="-14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полубайт</a:t>
            </a:r>
            <a:endParaRPr sz="2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052797" y="9293097"/>
            <a:ext cx="28194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i="1" spc="-25" dirty="0">
                <a:solidFill>
                  <a:srgbClr val="171717"/>
                </a:solidFill>
                <a:latin typeface="Arial"/>
                <a:cs typeface="Arial"/>
              </a:rPr>
              <a:t>b</a:t>
            </a:r>
            <a:r>
              <a:rPr sz="230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804134" y="3230880"/>
            <a:ext cx="258572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50" spc="-65" dirty="0">
                <a:latin typeface="Microsoft Sans Serif"/>
                <a:cs typeface="Microsoft Sans Serif"/>
              </a:rPr>
              <a:t>101100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258541" y="4329430"/>
            <a:ext cx="2010918" cy="6257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72440">
              <a:lnSpc>
                <a:spcPct val="101000"/>
              </a:lnSpc>
              <a:spcBef>
                <a:spcPts val="75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наибольший значащий бит</a:t>
            </a:r>
            <a:endParaRPr sz="2050" dirty="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7410429" y="4329430"/>
            <a:ext cx="2139287" cy="6257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80059">
              <a:lnSpc>
                <a:spcPct val="101000"/>
              </a:lnSpc>
              <a:spcBef>
                <a:spcPts val="75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наименьший значащий бит</a:t>
            </a:r>
            <a:endParaRPr sz="2050" dirty="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8181319" y="7807404"/>
            <a:ext cx="1154430" cy="347345"/>
            <a:chOff x="18181319" y="7807404"/>
            <a:chExt cx="1154430" cy="347345"/>
          </a:xfrm>
        </p:grpSpPr>
        <p:sp>
          <p:nvSpPr>
            <p:cNvPr id="21" name="object 21"/>
            <p:cNvSpPr/>
            <p:nvPr/>
          </p:nvSpPr>
          <p:spPr>
            <a:xfrm>
              <a:off x="18248756" y="7867256"/>
              <a:ext cx="984885" cy="282575"/>
            </a:xfrm>
            <a:custGeom>
              <a:avLst/>
              <a:gdLst/>
              <a:ahLst/>
              <a:cxnLst/>
              <a:rect l="l" t="t" r="r" b="b"/>
              <a:pathLst>
                <a:path w="984884" h="282575">
                  <a:moveTo>
                    <a:pt x="0" y="282206"/>
                  </a:moveTo>
                  <a:lnTo>
                    <a:pt x="984846" y="282206"/>
                  </a:lnTo>
                  <a:lnTo>
                    <a:pt x="984846" y="0"/>
                  </a:lnTo>
                  <a:lnTo>
                    <a:pt x="0" y="0"/>
                  </a:lnTo>
                  <a:lnTo>
                    <a:pt x="0" y="282206"/>
                  </a:lnTo>
                  <a:close/>
                </a:path>
              </a:pathLst>
            </a:custGeom>
            <a:ln w="9906">
              <a:solidFill>
                <a:srgbClr val="6FA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8181319" y="7807404"/>
              <a:ext cx="1154430" cy="125730"/>
            </a:xfrm>
            <a:custGeom>
              <a:avLst/>
              <a:gdLst/>
              <a:ahLst/>
              <a:cxnLst/>
              <a:rect l="l" t="t" r="r" b="b"/>
              <a:pathLst>
                <a:path w="1154430" h="125729">
                  <a:moveTo>
                    <a:pt x="1154112" y="0"/>
                  </a:moveTo>
                  <a:lnTo>
                    <a:pt x="0" y="0"/>
                  </a:lnTo>
                  <a:lnTo>
                    <a:pt x="0" y="125651"/>
                  </a:lnTo>
                  <a:lnTo>
                    <a:pt x="1154112" y="125651"/>
                  </a:lnTo>
                  <a:lnTo>
                    <a:pt x="115411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14995397" y="7807404"/>
            <a:ext cx="1184910" cy="347345"/>
            <a:chOff x="14995397" y="7807404"/>
            <a:chExt cx="1184910" cy="347345"/>
          </a:xfrm>
        </p:grpSpPr>
        <p:sp>
          <p:nvSpPr>
            <p:cNvPr id="24" name="object 24"/>
            <p:cNvSpPr/>
            <p:nvPr/>
          </p:nvSpPr>
          <p:spPr>
            <a:xfrm>
              <a:off x="15063596" y="7867256"/>
              <a:ext cx="1012825" cy="282575"/>
            </a:xfrm>
            <a:custGeom>
              <a:avLst/>
              <a:gdLst/>
              <a:ahLst/>
              <a:cxnLst/>
              <a:rect l="l" t="t" r="r" b="b"/>
              <a:pathLst>
                <a:path w="1012825" h="282575">
                  <a:moveTo>
                    <a:pt x="0" y="282206"/>
                  </a:moveTo>
                  <a:lnTo>
                    <a:pt x="1012621" y="282206"/>
                  </a:lnTo>
                  <a:lnTo>
                    <a:pt x="1012621" y="0"/>
                  </a:lnTo>
                  <a:lnTo>
                    <a:pt x="0" y="0"/>
                  </a:lnTo>
                  <a:lnTo>
                    <a:pt x="0" y="282206"/>
                  </a:lnTo>
                  <a:close/>
                </a:path>
              </a:pathLst>
            </a:custGeom>
            <a:ln w="9905">
              <a:solidFill>
                <a:srgbClr val="6FA2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995397" y="7807404"/>
              <a:ext cx="1184910" cy="125730"/>
            </a:xfrm>
            <a:custGeom>
              <a:avLst/>
              <a:gdLst/>
              <a:ahLst/>
              <a:cxnLst/>
              <a:rect l="l" t="t" r="r" b="b"/>
              <a:pathLst>
                <a:path w="1184909" h="125729">
                  <a:moveTo>
                    <a:pt x="1184884" y="0"/>
                  </a:moveTo>
                  <a:lnTo>
                    <a:pt x="0" y="0"/>
                  </a:lnTo>
                  <a:lnTo>
                    <a:pt x="0" y="125651"/>
                  </a:lnTo>
                  <a:lnTo>
                    <a:pt x="1184884" y="125651"/>
                  </a:lnTo>
                  <a:lnTo>
                    <a:pt x="11848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15041117" y="7029704"/>
            <a:ext cx="418274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50" spc="-10" dirty="0">
                <a:latin typeface="Microsoft Sans Serif"/>
                <a:cs typeface="Microsoft Sans Serif"/>
              </a:rPr>
              <a:t>DEAFDAD8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4243051" y="8128254"/>
            <a:ext cx="2438400" cy="6257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72440">
              <a:lnSpc>
                <a:spcPct val="101000"/>
              </a:lnSpc>
              <a:spcBef>
                <a:spcPts val="75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наибольший значащий байт</a:t>
            </a:r>
            <a:endParaRPr lang="ru-RU" sz="2050" dirty="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410430" y="8128254"/>
            <a:ext cx="2208150" cy="62574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indent="480059">
              <a:lnSpc>
                <a:spcPct val="101000"/>
              </a:lnSpc>
              <a:spcBef>
                <a:spcPts val="75"/>
              </a:spcBef>
            </a:pPr>
            <a:r>
              <a:rPr lang="ru-RU" sz="2050" spc="-20" dirty="0">
                <a:solidFill>
                  <a:srgbClr val="6FA200"/>
                </a:solidFill>
                <a:latin typeface="Microsoft Sans Serif"/>
                <a:cs typeface="Microsoft Sans Serif"/>
              </a:rPr>
              <a:t>наименьший значащий байт</a:t>
            </a:r>
            <a:endParaRPr lang="ru-RU" sz="2050" dirty="0">
              <a:latin typeface="Microsoft Sans Serif"/>
              <a:cs typeface="Microsoft Sans Serif"/>
            </a:endParaRPr>
          </a:p>
        </p:txBody>
      </p:sp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25056" y="3181750"/>
            <a:ext cx="12712874" cy="1214604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34562" y="4610396"/>
            <a:ext cx="12727184" cy="2927700"/>
          </a:xfrm>
          <a:prstGeom prst="rect">
            <a:avLst/>
          </a:prstGeom>
        </p:spPr>
      </p:pic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2" name="object 32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763520"/>
            <a:chOff x="0" y="0"/>
            <a:chExt cx="20104100" cy="276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845" cy="21724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6821" y="1716024"/>
              <a:ext cx="1047750" cy="10469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24102" y="2629662"/>
            <a:ext cx="452437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30" dirty="0">
                <a:latin typeface="Arial"/>
                <a:cs typeface="Arial"/>
              </a:rPr>
              <a:t>Сложение</a:t>
            </a:r>
            <a:r>
              <a:rPr sz="2650" b="1" spc="-13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двоичных</a:t>
            </a:r>
            <a:r>
              <a:rPr sz="2650" b="1" spc="-114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чисел</a:t>
            </a:r>
            <a:endParaRPr sz="26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70131" y="6495288"/>
            <a:ext cx="171450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50" spc="-95" dirty="0">
                <a:latin typeface="Microsoft Sans Serif"/>
                <a:cs typeface="Microsoft Sans Serif"/>
              </a:rPr>
              <a:t>1100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986252" y="6495288"/>
            <a:ext cx="2193925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50" spc="-10" dirty="0">
                <a:latin typeface="Microsoft Sans Serif"/>
                <a:cs typeface="Microsoft Sans Serif"/>
              </a:rPr>
              <a:t>10010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608808" y="5552948"/>
            <a:ext cx="2593340" cy="962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26769" algn="l"/>
              </a:tabLst>
            </a:pPr>
            <a:r>
              <a:rPr sz="7425" spc="-75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+</a:t>
            </a:r>
            <a:r>
              <a:rPr sz="7425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	</a:t>
            </a:r>
            <a:r>
              <a:rPr sz="6150" spc="-20" dirty="0">
                <a:latin typeface="Microsoft Sans Serif"/>
                <a:cs typeface="Microsoft Sans Serif"/>
              </a:rPr>
              <a:t>0101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0969370" y="6569583"/>
            <a:ext cx="2175510" cy="0"/>
          </a:xfrm>
          <a:custGeom>
            <a:avLst/>
            <a:gdLst/>
            <a:ahLst/>
            <a:cxnLst/>
            <a:rect l="l" t="t" r="r" b="b"/>
            <a:pathLst>
              <a:path w="2175509">
                <a:moveTo>
                  <a:pt x="0" y="0"/>
                </a:moveTo>
                <a:lnTo>
                  <a:pt x="2175382" y="0"/>
                </a:lnTo>
              </a:path>
            </a:pathLst>
          </a:custGeom>
          <a:ln w="31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0926064" y="4158234"/>
            <a:ext cx="2350770" cy="235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8810">
              <a:lnSpc>
                <a:spcPts val="3790"/>
              </a:lnSpc>
              <a:spcBef>
                <a:spcPts val="100"/>
              </a:spcBef>
              <a:tabLst>
                <a:tab pos="1075690" algn="l"/>
                <a:tab pos="1487170" algn="l"/>
              </a:tabLst>
            </a:pP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330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330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endParaRPr sz="3300">
              <a:latin typeface="Microsoft Sans Serif"/>
              <a:cs typeface="Microsoft Sans Serif"/>
            </a:endParaRPr>
          </a:p>
          <a:p>
            <a:pPr marR="146685" algn="r">
              <a:lnSpc>
                <a:spcPts val="7209"/>
              </a:lnSpc>
            </a:pPr>
            <a:r>
              <a:rPr sz="6150" spc="-20" dirty="0">
                <a:latin typeface="Microsoft Sans Serif"/>
                <a:cs typeface="Microsoft Sans Serif"/>
              </a:rPr>
              <a:t>0111</a:t>
            </a:r>
            <a:endParaRPr sz="6150">
              <a:latin typeface="Microsoft Sans Serif"/>
              <a:cs typeface="Microsoft Sans Serif"/>
            </a:endParaRPr>
          </a:p>
          <a:p>
            <a:pPr marR="30480" algn="r">
              <a:lnSpc>
                <a:spcPct val="100000"/>
              </a:lnSpc>
            </a:pPr>
            <a:r>
              <a:rPr sz="7425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+</a:t>
            </a:r>
            <a:r>
              <a:rPr sz="7425" spc="142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6150" spc="-20" dirty="0">
                <a:latin typeface="Microsoft Sans Serif"/>
                <a:cs typeface="Microsoft Sans Serif"/>
              </a:rPr>
              <a:t>0101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691485" y="6569583"/>
            <a:ext cx="2456180" cy="0"/>
          </a:xfrm>
          <a:custGeom>
            <a:avLst/>
            <a:gdLst/>
            <a:ahLst/>
            <a:cxnLst/>
            <a:rect l="l" t="t" r="r" b="b"/>
            <a:pathLst>
              <a:path w="2456180">
                <a:moveTo>
                  <a:pt x="0" y="0"/>
                </a:moveTo>
                <a:lnTo>
                  <a:pt x="2455799" y="0"/>
                </a:lnTo>
              </a:path>
            </a:pathLst>
          </a:custGeom>
          <a:ln w="31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140176" y="4191761"/>
            <a:ext cx="1997710" cy="13811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625"/>
              </a:lnSpc>
              <a:spcBef>
                <a:spcPts val="100"/>
              </a:spcBef>
              <a:tabLst>
                <a:tab pos="1208405" algn="l"/>
              </a:tabLst>
            </a:pPr>
            <a:r>
              <a:rPr sz="330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3300" spc="55" dirty="0">
                <a:solidFill>
                  <a:srgbClr val="6FA200"/>
                </a:solidFill>
                <a:latin typeface="Microsoft Sans Serif"/>
                <a:cs typeface="Microsoft Sans Serif"/>
              </a:rPr>
              <a:t> </a:t>
            </a: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330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endParaRPr sz="3300">
              <a:latin typeface="Microsoft Sans Serif"/>
              <a:cs typeface="Microsoft Sans Serif"/>
            </a:endParaRPr>
          </a:p>
          <a:p>
            <a:pPr marL="295910">
              <a:lnSpc>
                <a:spcPts val="7045"/>
              </a:lnSpc>
            </a:pPr>
            <a:r>
              <a:rPr sz="6150" spc="-95" dirty="0">
                <a:latin typeface="Microsoft Sans Serif"/>
                <a:cs typeface="Microsoft Sans Serif"/>
              </a:rPr>
              <a:t>1101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918443" y="8504935"/>
            <a:ext cx="2557145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0395" marR="5080" indent="-60833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Пример</a:t>
            </a:r>
            <a:r>
              <a:rPr sz="2300" spc="-8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spc="-20" dirty="0">
                <a:solidFill>
                  <a:srgbClr val="171717"/>
                </a:solidFill>
                <a:latin typeface="Microsoft Sans Serif"/>
                <a:cs typeface="Microsoft Sans Serif"/>
              </a:rPr>
              <a:t>двоичного </a:t>
            </a:r>
            <a:r>
              <a:rPr sz="230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сложения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5233904" y="8504935"/>
            <a:ext cx="3949700" cy="72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8195" marR="5080" indent="-786130">
              <a:lnSpc>
                <a:spcPct val="100000"/>
              </a:lnSpc>
              <a:spcBef>
                <a:spcPts val="95"/>
              </a:spcBef>
            </a:pP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Пример</a:t>
            </a:r>
            <a:r>
              <a:rPr sz="2300" spc="-13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двоичного</a:t>
            </a:r>
            <a:r>
              <a:rPr sz="2300" spc="-12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сложения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с</a:t>
            </a:r>
            <a:r>
              <a:rPr sz="2300" spc="1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переполнением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42185" y="6272276"/>
            <a:ext cx="5491480" cy="15767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50" spc="-20" dirty="0">
                <a:latin typeface="Microsoft Sans Serif"/>
                <a:cs typeface="Microsoft Sans Serif"/>
              </a:rPr>
              <a:t>9776</a:t>
            </a:r>
            <a:endParaRPr sz="6150">
              <a:latin typeface="Microsoft Sans Serif"/>
              <a:cs typeface="Microsoft Sans Serif"/>
            </a:endParaRPr>
          </a:p>
          <a:p>
            <a:pPr marL="723900">
              <a:lnSpc>
                <a:spcPct val="100000"/>
              </a:lnSpc>
              <a:spcBef>
                <a:spcPts val="2075"/>
              </a:spcBef>
              <a:tabLst>
                <a:tab pos="5221605" algn="l"/>
              </a:tabLst>
            </a:pPr>
            <a:r>
              <a:rPr sz="2300" i="1" spc="-25" dirty="0">
                <a:solidFill>
                  <a:srgbClr val="171717"/>
                </a:solidFill>
                <a:latin typeface="Arial"/>
                <a:cs typeface="Arial"/>
              </a:rPr>
              <a:t>а</a:t>
            </a:r>
            <a:r>
              <a:rPr sz="230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	</a:t>
            </a:r>
            <a:r>
              <a:rPr sz="2300" i="1" spc="-25" dirty="0">
                <a:solidFill>
                  <a:srgbClr val="171717"/>
                </a:solidFill>
                <a:latin typeface="Arial"/>
                <a:cs typeface="Arial"/>
              </a:rPr>
              <a:t>b</a:t>
            </a:r>
            <a:r>
              <a:rPr sz="230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545079" y="8281923"/>
            <a:ext cx="4557395" cy="72517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34010" marR="5080" indent="-321945">
              <a:lnSpc>
                <a:spcPts val="2750"/>
              </a:lnSpc>
              <a:spcBef>
                <a:spcPts val="195"/>
              </a:spcBef>
            </a:pP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Примеры</a:t>
            </a:r>
            <a:r>
              <a:rPr sz="2300" spc="-3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сложения</a:t>
            </a:r>
            <a:r>
              <a:rPr sz="2300" spc="-4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с</a:t>
            </a:r>
            <a:r>
              <a:rPr sz="2300" spc="-3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переносом: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десятичное</a:t>
            </a:r>
            <a:r>
              <a:rPr sz="2300" spc="-6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(</a:t>
            </a:r>
            <a:r>
              <a:rPr sz="2300" i="1" dirty="0">
                <a:solidFill>
                  <a:srgbClr val="171717"/>
                </a:solidFill>
                <a:latin typeface="Arial"/>
                <a:cs typeface="Arial"/>
              </a:rPr>
              <a:t>а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),</a:t>
            </a:r>
            <a:r>
              <a:rPr sz="2300" spc="-9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dirty="0">
                <a:solidFill>
                  <a:srgbClr val="171717"/>
                </a:solidFill>
                <a:latin typeface="Microsoft Sans Serif"/>
                <a:cs typeface="Microsoft Sans Serif"/>
              </a:rPr>
              <a:t>двоичное</a:t>
            </a:r>
            <a:r>
              <a:rPr sz="2300" spc="-5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30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(</a:t>
            </a:r>
            <a:r>
              <a:rPr sz="2300" i="1" spc="-25" dirty="0">
                <a:solidFill>
                  <a:srgbClr val="171717"/>
                </a:solidFill>
                <a:latin typeface="Arial"/>
                <a:cs typeface="Arial"/>
              </a:rPr>
              <a:t>b</a:t>
            </a:r>
            <a:r>
              <a:rPr sz="230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334642" y="6346317"/>
            <a:ext cx="2175510" cy="0"/>
          </a:xfrm>
          <a:custGeom>
            <a:avLst/>
            <a:gdLst/>
            <a:ahLst/>
            <a:cxnLst/>
            <a:rect l="l" t="t" r="r" b="b"/>
            <a:pathLst>
              <a:path w="2175510">
                <a:moveTo>
                  <a:pt x="0" y="0"/>
                </a:moveTo>
                <a:lnTo>
                  <a:pt x="2175383" y="0"/>
                </a:lnTo>
              </a:path>
            </a:pathLst>
          </a:custGeom>
          <a:ln w="31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237996" y="3935222"/>
            <a:ext cx="2302510" cy="23596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94410">
              <a:lnSpc>
                <a:spcPts val="3790"/>
              </a:lnSpc>
              <a:spcBef>
                <a:spcPts val="100"/>
              </a:spcBef>
              <a:tabLst>
                <a:tab pos="1422400" algn="l"/>
              </a:tabLst>
            </a:pP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330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endParaRPr sz="3300">
              <a:latin typeface="Microsoft Sans Serif"/>
              <a:cs typeface="Microsoft Sans Serif"/>
            </a:endParaRPr>
          </a:p>
          <a:p>
            <a:pPr marR="30480" algn="r">
              <a:lnSpc>
                <a:spcPts val="7209"/>
              </a:lnSpc>
            </a:pPr>
            <a:r>
              <a:rPr sz="6150" spc="-20" dirty="0">
                <a:latin typeface="Microsoft Sans Serif"/>
                <a:cs typeface="Microsoft Sans Serif"/>
              </a:rPr>
              <a:t>4277</a:t>
            </a:r>
            <a:endParaRPr sz="6150">
              <a:latin typeface="Microsoft Sans Serif"/>
              <a:cs typeface="Microsoft Sans Serif"/>
            </a:endParaRPr>
          </a:p>
          <a:p>
            <a:pPr marR="30480" algn="r">
              <a:lnSpc>
                <a:spcPct val="100000"/>
              </a:lnSpc>
            </a:pPr>
            <a:r>
              <a:rPr sz="7425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+</a:t>
            </a:r>
            <a:r>
              <a:rPr sz="7425" spc="-434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6150" spc="-20" dirty="0">
                <a:latin typeface="Microsoft Sans Serif"/>
                <a:cs typeface="Microsoft Sans Serif"/>
              </a:rPr>
              <a:t>5499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49671" y="6346317"/>
            <a:ext cx="2175510" cy="0"/>
          </a:xfrm>
          <a:custGeom>
            <a:avLst/>
            <a:gdLst/>
            <a:ahLst/>
            <a:cxnLst/>
            <a:rect l="l" t="t" r="r" b="b"/>
            <a:pathLst>
              <a:path w="2175509">
                <a:moveTo>
                  <a:pt x="0" y="0"/>
                </a:moveTo>
                <a:lnTo>
                  <a:pt x="2175382" y="0"/>
                </a:lnTo>
              </a:path>
            </a:pathLst>
          </a:custGeom>
          <a:ln w="3124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6216903" y="3935222"/>
            <a:ext cx="1753870" cy="142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3560">
              <a:lnSpc>
                <a:spcPts val="3790"/>
              </a:lnSpc>
              <a:spcBef>
                <a:spcPts val="100"/>
              </a:spcBef>
              <a:tabLst>
                <a:tab pos="986155" algn="l"/>
              </a:tabLst>
            </a:pP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r>
              <a:rPr sz="3300" dirty="0">
                <a:solidFill>
                  <a:srgbClr val="6FA200"/>
                </a:solidFill>
                <a:latin typeface="Microsoft Sans Serif"/>
                <a:cs typeface="Microsoft Sans Serif"/>
              </a:rPr>
              <a:t>	</a:t>
            </a:r>
            <a:r>
              <a:rPr sz="3300" spc="-50" dirty="0">
                <a:solidFill>
                  <a:srgbClr val="6FA200"/>
                </a:solidFill>
                <a:latin typeface="Microsoft Sans Serif"/>
                <a:cs typeface="Microsoft Sans Serif"/>
              </a:rPr>
              <a:t>1</a:t>
            </a:r>
            <a:endParaRPr sz="3300">
              <a:latin typeface="Microsoft Sans Serif"/>
              <a:cs typeface="Microsoft Sans Serif"/>
            </a:endParaRPr>
          </a:p>
          <a:p>
            <a:pPr marL="12700">
              <a:lnSpc>
                <a:spcPts val="7209"/>
              </a:lnSpc>
            </a:pPr>
            <a:r>
              <a:rPr sz="6150" spc="-20" dirty="0">
                <a:latin typeface="Microsoft Sans Serif"/>
                <a:cs typeface="Microsoft Sans Serif"/>
              </a:rPr>
              <a:t>1011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677915" y="5331968"/>
            <a:ext cx="2318385" cy="1903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100"/>
              </a:spcBef>
            </a:pPr>
            <a:r>
              <a:rPr sz="7425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+</a:t>
            </a:r>
            <a:r>
              <a:rPr sz="7425" spc="-104" baseline="-6734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6150" spc="-20" dirty="0">
                <a:latin typeface="Microsoft Sans Serif"/>
                <a:cs typeface="Microsoft Sans Serif"/>
              </a:rPr>
              <a:t>0011</a:t>
            </a:r>
            <a:endParaRPr sz="6150">
              <a:latin typeface="Microsoft Sans Serif"/>
              <a:cs typeface="Microsoft Sans Serif"/>
            </a:endParaRPr>
          </a:p>
          <a:p>
            <a:pPr marR="86995" algn="r">
              <a:lnSpc>
                <a:spcPct val="100000"/>
              </a:lnSpc>
              <a:spcBef>
                <a:spcPts val="20"/>
              </a:spcBef>
            </a:pPr>
            <a:r>
              <a:rPr sz="6150" spc="-20" dirty="0">
                <a:latin typeface="Microsoft Sans Serif"/>
                <a:cs typeface="Microsoft Sans Serif"/>
              </a:rPr>
              <a:t>1110</a:t>
            </a:r>
            <a:endParaRPr sz="6150">
              <a:latin typeface="Microsoft Sans Serif"/>
              <a:cs typeface="Microsoft Sans Serif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53635" y="3976877"/>
            <a:ext cx="1224280" cy="3661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ru-RU" sz="2300" spc="-10" dirty="0">
                <a:solidFill>
                  <a:srgbClr val="6FA200"/>
                </a:solidFill>
                <a:latin typeface="Microsoft Sans Serif"/>
                <a:cs typeface="Microsoft Sans Serif"/>
              </a:rPr>
              <a:t>перенос</a:t>
            </a:r>
            <a:endParaRPr sz="2300" dirty="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780405" y="4147565"/>
            <a:ext cx="690245" cy="63500"/>
          </a:xfrm>
          <a:custGeom>
            <a:avLst/>
            <a:gdLst/>
            <a:ahLst/>
            <a:cxnLst/>
            <a:rect l="l" t="t" r="r" b="b"/>
            <a:pathLst>
              <a:path w="690245" h="63500">
                <a:moveTo>
                  <a:pt x="690245" y="31623"/>
                </a:moveTo>
                <a:lnTo>
                  <a:pt x="679831" y="26289"/>
                </a:lnTo>
                <a:lnTo>
                  <a:pt x="627380" y="0"/>
                </a:lnTo>
                <a:lnTo>
                  <a:pt x="627380" y="26301"/>
                </a:lnTo>
                <a:lnTo>
                  <a:pt x="0" y="26301"/>
                </a:lnTo>
                <a:lnTo>
                  <a:pt x="0" y="36830"/>
                </a:lnTo>
                <a:lnTo>
                  <a:pt x="627380" y="36830"/>
                </a:lnTo>
                <a:lnTo>
                  <a:pt x="627380" y="63246"/>
                </a:lnTo>
                <a:lnTo>
                  <a:pt x="679831" y="36830"/>
                </a:lnTo>
                <a:lnTo>
                  <a:pt x="690245" y="31623"/>
                </a:lnTo>
                <a:close/>
              </a:path>
            </a:pathLst>
          </a:custGeom>
          <a:solidFill>
            <a:srgbClr val="6FA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601212" y="4147565"/>
            <a:ext cx="690880" cy="63500"/>
          </a:xfrm>
          <a:custGeom>
            <a:avLst/>
            <a:gdLst/>
            <a:ahLst/>
            <a:cxnLst/>
            <a:rect l="l" t="t" r="r" b="b"/>
            <a:pathLst>
              <a:path w="690879" h="63500">
                <a:moveTo>
                  <a:pt x="62865" y="0"/>
                </a:moveTo>
                <a:lnTo>
                  <a:pt x="0" y="31623"/>
                </a:lnTo>
                <a:lnTo>
                  <a:pt x="62865" y="63246"/>
                </a:lnTo>
                <a:lnTo>
                  <a:pt x="62865" y="36830"/>
                </a:lnTo>
                <a:lnTo>
                  <a:pt x="62788" y="26301"/>
                </a:lnTo>
                <a:lnTo>
                  <a:pt x="52324" y="26301"/>
                </a:lnTo>
                <a:lnTo>
                  <a:pt x="62865" y="26289"/>
                </a:lnTo>
                <a:lnTo>
                  <a:pt x="62865" y="0"/>
                </a:lnTo>
                <a:close/>
              </a:path>
              <a:path w="690879" h="63500">
                <a:moveTo>
                  <a:pt x="690295" y="26301"/>
                </a:moveTo>
                <a:lnTo>
                  <a:pt x="62865" y="26301"/>
                </a:lnTo>
                <a:lnTo>
                  <a:pt x="62865" y="36830"/>
                </a:lnTo>
                <a:lnTo>
                  <a:pt x="690295" y="36830"/>
                </a:lnTo>
                <a:lnTo>
                  <a:pt x="690295" y="26301"/>
                </a:lnTo>
                <a:close/>
              </a:path>
            </a:pathLst>
          </a:custGeom>
          <a:solidFill>
            <a:srgbClr val="6FA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sp>
        <p:nvSpPr>
          <p:cNvPr id="29" name="object 29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2763520"/>
            <a:chOff x="0" y="0"/>
            <a:chExt cx="20104100" cy="27635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3845" cy="217246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006821" y="1716024"/>
              <a:ext cx="1047750" cy="1046988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18281141" y="10110978"/>
            <a:ext cx="499745" cy="499109"/>
          </a:xfrm>
          <a:custGeom>
            <a:avLst/>
            <a:gdLst/>
            <a:ahLst/>
            <a:cxnLst/>
            <a:rect l="l" t="t" r="r" b="b"/>
            <a:pathLst>
              <a:path w="499744" h="499109">
                <a:moveTo>
                  <a:pt x="249809" y="0"/>
                </a:moveTo>
                <a:lnTo>
                  <a:pt x="204850" y="4013"/>
                </a:lnTo>
                <a:lnTo>
                  <a:pt x="162686" y="15595"/>
                </a:lnTo>
                <a:lnTo>
                  <a:pt x="123698" y="34035"/>
                </a:lnTo>
                <a:lnTo>
                  <a:pt x="88900" y="58635"/>
                </a:lnTo>
                <a:lnTo>
                  <a:pt x="58800" y="88696"/>
                </a:lnTo>
                <a:lnTo>
                  <a:pt x="34163" y="123507"/>
                </a:lnTo>
                <a:lnTo>
                  <a:pt x="15621" y="162369"/>
                </a:lnTo>
                <a:lnTo>
                  <a:pt x="4063" y="204571"/>
                </a:lnTo>
                <a:lnTo>
                  <a:pt x="0" y="249415"/>
                </a:lnTo>
                <a:lnTo>
                  <a:pt x="4063" y="294246"/>
                </a:lnTo>
                <a:lnTo>
                  <a:pt x="15621" y="336448"/>
                </a:lnTo>
                <a:lnTo>
                  <a:pt x="34163" y="375297"/>
                </a:lnTo>
                <a:lnTo>
                  <a:pt x="58800" y="410108"/>
                </a:lnTo>
                <a:lnTo>
                  <a:pt x="88900" y="440169"/>
                </a:lnTo>
                <a:lnTo>
                  <a:pt x="123698" y="464781"/>
                </a:lnTo>
                <a:lnTo>
                  <a:pt x="162686" y="483222"/>
                </a:lnTo>
                <a:lnTo>
                  <a:pt x="204850" y="494817"/>
                </a:lnTo>
                <a:lnTo>
                  <a:pt x="249809" y="498830"/>
                </a:lnTo>
                <a:lnTo>
                  <a:pt x="294640" y="494817"/>
                </a:lnTo>
                <a:lnTo>
                  <a:pt x="336930" y="483222"/>
                </a:lnTo>
                <a:lnTo>
                  <a:pt x="375919" y="464781"/>
                </a:lnTo>
                <a:lnTo>
                  <a:pt x="410717" y="440169"/>
                </a:lnTo>
                <a:lnTo>
                  <a:pt x="440817" y="410108"/>
                </a:lnTo>
                <a:lnTo>
                  <a:pt x="465454" y="375297"/>
                </a:lnTo>
                <a:lnTo>
                  <a:pt x="483996" y="336448"/>
                </a:lnTo>
                <a:lnTo>
                  <a:pt x="495553" y="294246"/>
                </a:lnTo>
                <a:lnTo>
                  <a:pt x="499617" y="249415"/>
                </a:lnTo>
                <a:lnTo>
                  <a:pt x="495553" y="204571"/>
                </a:lnTo>
                <a:lnTo>
                  <a:pt x="483996" y="162369"/>
                </a:lnTo>
                <a:lnTo>
                  <a:pt x="465454" y="123507"/>
                </a:lnTo>
                <a:lnTo>
                  <a:pt x="440817" y="88696"/>
                </a:lnTo>
                <a:lnTo>
                  <a:pt x="410717" y="58635"/>
                </a:lnTo>
                <a:lnTo>
                  <a:pt x="375919" y="34035"/>
                </a:lnTo>
                <a:lnTo>
                  <a:pt x="336930" y="15595"/>
                </a:lnTo>
                <a:lnTo>
                  <a:pt x="294640" y="4013"/>
                </a:lnTo>
                <a:lnTo>
                  <a:pt x="249809" y="0"/>
                </a:lnTo>
                <a:close/>
              </a:path>
            </a:pathLst>
          </a:custGeom>
          <a:solidFill>
            <a:srgbClr val="80B7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87311" y="3015234"/>
            <a:ext cx="10763250" cy="6743700"/>
          </a:xfrm>
          <a:custGeom>
            <a:avLst/>
            <a:gdLst/>
            <a:ahLst/>
            <a:cxnLst/>
            <a:rect l="l" t="t" r="r" b="b"/>
            <a:pathLst>
              <a:path w="10763250" h="6743700">
                <a:moveTo>
                  <a:pt x="10581259" y="0"/>
                </a:moveTo>
                <a:lnTo>
                  <a:pt x="181991" y="0"/>
                </a:lnTo>
                <a:lnTo>
                  <a:pt x="133604" y="6476"/>
                </a:lnTo>
                <a:lnTo>
                  <a:pt x="90170" y="24892"/>
                </a:lnTo>
                <a:lnTo>
                  <a:pt x="53340" y="53340"/>
                </a:lnTo>
                <a:lnTo>
                  <a:pt x="24892" y="90170"/>
                </a:lnTo>
                <a:lnTo>
                  <a:pt x="6477" y="133603"/>
                </a:lnTo>
                <a:lnTo>
                  <a:pt x="0" y="181991"/>
                </a:lnTo>
                <a:lnTo>
                  <a:pt x="0" y="6561709"/>
                </a:lnTo>
                <a:lnTo>
                  <a:pt x="6477" y="6610096"/>
                </a:lnTo>
                <a:lnTo>
                  <a:pt x="24892" y="6653530"/>
                </a:lnTo>
                <a:lnTo>
                  <a:pt x="53340" y="6690360"/>
                </a:lnTo>
                <a:lnTo>
                  <a:pt x="90170" y="6718808"/>
                </a:lnTo>
                <a:lnTo>
                  <a:pt x="133604" y="6737223"/>
                </a:lnTo>
                <a:lnTo>
                  <a:pt x="181991" y="6743700"/>
                </a:lnTo>
                <a:lnTo>
                  <a:pt x="10581259" y="6743700"/>
                </a:lnTo>
                <a:lnTo>
                  <a:pt x="10629646" y="6737223"/>
                </a:lnTo>
                <a:lnTo>
                  <a:pt x="10673080" y="6718808"/>
                </a:lnTo>
                <a:lnTo>
                  <a:pt x="10709910" y="6690360"/>
                </a:lnTo>
                <a:lnTo>
                  <a:pt x="10738358" y="6653530"/>
                </a:lnTo>
                <a:lnTo>
                  <a:pt x="10756773" y="6610096"/>
                </a:lnTo>
                <a:lnTo>
                  <a:pt x="10763250" y="6561709"/>
                </a:lnTo>
                <a:lnTo>
                  <a:pt x="10763250" y="181991"/>
                </a:lnTo>
                <a:lnTo>
                  <a:pt x="10756773" y="133603"/>
                </a:lnTo>
                <a:lnTo>
                  <a:pt x="10738358" y="90170"/>
                </a:lnTo>
                <a:lnTo>
                  <a:pt x="10709910" y="53340"/>
                </a:lnTo>
                <a:lnTo>
                  <a:pt x="10673080" y="24892"/>
                </a:lnTo>
                <a:lnTo>
                  <a:pt x="10629646" y="6476"/>
                </a:lnTo>
                <a:lnTo>
                  <a:pt x="10581259" y="0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092950" y="3366008"/>
            <a:ext cx="6000115" cy="25634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dirty="0">
                <a:solidFill>
                  <a:srgbClr val="A6A6A6"/>
                </a:solidFill>
                <a:latin typeface="Arial"/>
                <a:cs typeface="Arial"/>
              </a:rPr>
              <a:t>Историческая</a:t>
            </a:r>
            <a:r>
              <a:rPr sz="2300" b="1" spc="-125" dirty="0">
                <a:solidFill>
                  <a:srgbClr val="A6A6A6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A6A6A6"/>
                </a:solidFill>
                <a:latin typeface="Arial"/>
                <a:cs typeface="Arial"/>
              </a:rPr>
              <a:t>заметка</a:t>
            </a: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1950" dirty="0">
                <a:latin typeface="Microsoft Sans Serif"/>
                <a:cs typeface="Microsoft Sans Serif"/>
              </a:rPr>
              <a:t>Ракета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Ариан-</a:t>
            </a:r>
            <a:r>
              <a:rPr sz="1950" dirty="0">
                <a:latin typeface="Microsoft Sans Serif"/>
                <a:cs typeface="Microsoft Sans Serif"/>
              </a:rPr>
              <a:t>5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ценой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7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млрд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долл.,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запущенная</a:t>
            </a: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950" dirty="0">
                <a:latin typeface="Microsoft Sans Serif"/>
                <a:cs typeface="Microsoft Sans Serif"/>
              </a:rPr>
              <a:t>4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июня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1996</a:t>
            </a:r>
            <a:r>
              <a:rPr sz="1950" spc="5" dirty="0">
                <a:latin typeface="Microsoft Sans Serif"/>
                <a:cs typeface="Microsoft Sans Serif"/>
              </a:rPr>
              <a:t> </a:t>
            </a:r>
            <a:r>
              <a:rPr sz="1950" spc="-40" dirty="0">
                <a:latin typeface="Microsoft Sans Serif"/>
                <a:cs typeface="Microsoft Sans Serif"/>
              </a:rPr>
              <a:t>г.,</a:t>
            </a:r>
            <a:r>
              <a:rPr sz="1950" spc="-8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отклонилась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от</a:t>
            </a:r>
            <a:r>
              <a:rPr sz="1950" spc="-2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курса</a:t>
            </a:r>
            <a:endParaRPr sz="1950">
              <a:latin typeface="Microsoft Sans Serif"/>
              <a:cs typeface="Microsoft Sans Serif"/>
            </a:endParaRPr>
          </a:p>
          <a:p>
            <a:pPr marL="12700" marR="5080">
              <a:lnSpc>
                <a:spcPct val="112000"/>
              </a:lnSpc>
              <a:spcBef>
                <a:spcPts val="5"/>
              </a:spcBef>
            </a:pPr>
            <a:r>
              <a:rPr sz="1950" dirty="0">
                <a:latin typeface="Microsoft Sans Serif"/>
                <a:cs typeface="Microsoft Sans Serif"/>
              </a:rPr>
              <a:t>и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разрушилась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через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40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секунд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после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запуска. </a:t>
            </a:r>
            <a:r>
              <a:rPr sz="1950" dirty="0">
                <a:latin typeface="Microsoft Sans Serif"/>
                <a:cs typeface="Microsoft Sans Serif"/>
              </a:rPr>
              <a:t>Отказ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был</a:t>
            </a:r>
            <a:r>
              <a:rPr sz="1950" spc="-5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вызван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тем,</a:t>
            </a:r>
            <a:r>
              <a:rPr sz="1950" spc="-5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что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в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бортовом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компьютере </a:t>
            </a:r>
            <a:r>
              <a:rPr sz="1950" dirty="0">
                <a:latin typeface="Microsoft Sans Serif"/>
                <a:cs typeface="Microsoft Sans Serif"/>
              </a:rPr>
              <a:t>произошло</a:t>
            </a:r>
            <a:r>
              <a:rPr sz="1950" spc="-1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переполнение</a:t>
            </a:r>
            <a:r>
              <a:rPr sz="1950" spc="-95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16-</a:t>
            </a:r>
            <a:r>
              <a:rPr sz="1950" dirty="0">
                <a:latin typeface="Microsoft Sans Serif"/>
                <a:cs typeface="Microsoft Sans Serif"/>
              </a:rPr>
              <a:t>разрядных</a:t>
            </a:r>
            <a:r>
              <a:rPr sz="1950" spc="-9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регистров, </a:t>
            </a:r>
            <a:r>
              <a:rPr sz="1950" dirty="0">
                <a:latin typeface="Microsoft Sans Serif"/>
                <a:cs typeface="Microsoft Sans Serif"/>
              </a:rPr>
              <a:t>после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которого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компьютер</a:t>
            </a:r>
            <a:r>
              <a:rPr sz="1950" spc="-7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вышел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из</a:t>
            </a:r>
            <a:r>
              <a:rPr sz="1950" spc="-7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строя.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2950" y="6105398"/>
            <a:ext cx="5875020" cy="20535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Программное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обеспечение</a:t>
            </a:r>
            <a:r>
              <a:rPr sz="1950" spc="-20" dirty="0">
                <a:latin typeface="Microsoft Sans Serif"/>
                <a:cs typeface="Microsoft Sans Serif"/>
              </a:rPr>
              <a:t> Ариан-</a:t>
            </a:r>
            <a:r>
              <a:rPr sz="1950" dirty="0">
                <a:latin typeface="Microsoft Sans Serif"/>
                <a:cs typeface="Microsoft Sans Serif"/>
              </a:rPr>
              <a:t>5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было </a:t>
            </a:r>
            <a:r>
              <a:rPr sz="1950" spc="-10" dirty="0">
                <a:latin typeface="Microsoft Sans Serif"/>
                <a:cs typeface="Microsoft Sans Serif"/>
              </a:rPr>
              <a:t>тщательно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протестировано,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но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на</a:t>
            </a:r>
            <a:r>
              <a:rPr sz="1950" spc="-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ракете</a:t>
            </a:r>
            <a:r>
              <a:rPr sz="1950" spc="-15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Ариан-</a:t>
            </a:r>
            <a:r>
              <a:rPr sz="1950" spc="-25" dirty="0">
                <a:latin typeface="Microsoft Sans Serif"/>
                <a:cs typeface="Microsoft Sans Serif"/>
              </a:rPr>
              <a:t>4. </a:t>
            </a:r>
            <a:r>
              <a:rPr sz="1950" spc="-10" dirty="0">
                <a:latin typeface="Microsoft Sans Serif"/>
                <a:cs typeface="Microsoft Sans Serif"/>
              </a:rPr>
              <a:t>Однако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новая</a:t>
            </a:r>
            <a:r>
              <a:rPr sz="1950" spc="-4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ракета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имела</a:t>
            </a:r>
            <a:r>
              <a:rPr sz="1950" spc="-8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двигатели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с</a:t>
            </a:r>
            <a:r>
              <a:rPr sz="1950" spc="-6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более высокими</a:t>
            </a:r>
            <a:r>
              <a:rPr sz="1950" spc="-8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скоростными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параметрами,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которые, </a:t>
            </a:r>
            <a:r>
              <a:rPr sz="1950" dirty="0">
                <a:latin typeface="Microsoft Sans Serif"/>
                <a:cs typeface="Microsoft Sans Serif"/>
              </a:rPr>
              <a:t>будучи</a:t>
            </a:r>
            <a:r>
              <a:rPr sz="1950" spc="-8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переданными</a:t>
            </a:r>
            <a:r>
              <a:rPr sz="1950" spc="-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бортовому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компьютеру,</a:t>
            </a:r>
            <a:endParaRPr sz="19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950" dirty="0">
                <a:latin typeface="Microsoft Sans Serif"/>
                <a:cs typeface="Microsoft Sans Serif"/>
              </a:rPr>
              <a:t>и</a:t>
            </a:r>
            <a:r>
              <a:rPr sz="1950" spc="-7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вызвали</a:t>
            </a:r>
            <a:r>
              <a:rPr sz="1950" spc="-7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переполнение</a:t>
            </a:r>
            <a:r>
              <a:rPr sz="1950" spc="-4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регистров.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72108" y="3307080"/>
            <a:ext cx="4299585" cy="3401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Знак</a:t>
            </a:r>
            <a:r>
              <a:rPr sz="2650" b="1" spc="-105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двоичных</a:t>
            </a:r>
            <a:r>
              <a:rPr sz="2650" b="1" spc="-14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чисел</a:t>
            </a:r>
            <a:endParaRPr sz="26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2650">
              <a:latin typeface="Arial"/>
              <a:cs typeface="Arial"/>
            </a:endParaRPr>
          </a:p>
          <a:p>
            <a:pPr marL="414020" indent="-377190">
              <a:lnSpc>
                <a:spcPct val="100000"/>
              </a:lnSpc>
              <a:spcBef>
                <a:spcPts val="5"/>
              </a:spcBef>
              <a:buClr>
                <a:srgbClr val="6FA200"/>
              </a:buClr>
              <a:buChar char="•"/>
              <a:tabLst>
                <a:tab pos="414020" algn="l"/>
              </a:tabLst>
            </a:pPr>
            <a:r>
              <a:rPr sz="2300" spc="-35" dirty="0">
                <a:latin typeface="Microsoft Sans Serif"/>
                <a:cs typeface="Microsoft Sans Serif"/>
              </a:rPr>
              <a:t>Двоичные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числа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без</a:t>
            </a:r>
            <a:r>
              <a:rPr sz="2300" spc="-13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знака</a:t>
            </a:r>
            <a:endParaRPr sz="2300">
              <a:latin typeface="Microsoft Sans Serif"/>
              <a:cs typeface="Microsoft Sans Serif"/>
            </a:endParaRPr>
          </a:p>
          <a:p>
            <a:pPr marL="414020">
              <a:lnSpc>
                <a:spcPct val="100000"/>
              </a:lnSpc>
              <a:spcBef>
                <a:spcPts val="275"/>
              </a:spcBef>
            </a:pPr>
            <a:r>
              <a:rPr sz="2300" spc="-10" dirty="0">
                <a:latin typeface="Microsoft Sans Serif"/>
                <a:cs typeface="Microsoft Sans Serif"/>
              </a:rPr>
              <a:t>(</a:t>
            </a:r>
            <a:r>
              <a:rPr sz="2300" i="1" spc="-10" dirty="0">
                <a:latin typeface="Arial"/>
                <a:cs typeface="Arial"/>
              </a:rPr>
              <a:t>Unsigned</a:t>
            </a:r>
            <a:r>
              <a:rPr sz="2300" spc="-10" dirty="0"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2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414020" indent="-377190">
              <a:lnSpc>
                <a:spcPct val="100000"/>
              </a:lnSpc>
              <a:spcBef>
                <a:spcPts val="5"/>
              </a:spcBef>
              <a:buClr>
                <a:srgbClr val="6FA200"/>
              </a:buClr>
              <a:buChar char="•"/>
              <a:tabLst>
                <a:tab pos="414020" algn="l"/>
              </a:tabLst>
            </a:pPr>
            <a:r>
              <a:rPr sz="2300" spc="-20" dirty="0">
                <a:latin typeface="Microsoft Sans Serif"/>
                <a:cs typeface="Microsoft Sans Serif"/>
              </a:rPr>
              <a:t>Прямой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код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(</a:t>
            </a:r>
            <a:r>
              <a:rPr sz="2300" i="1" spc="-10" dirty="0">
                <a:latin typeface="Arial"/>
                <a:cs typeface="Arial"/>
              </a:rPr>
              <a:t>Sign</a:t>
            </a:r>
            <a:r>
              <a:rPr sz="2300" spc="-10" dirty="0">
                <a:latin typeface="Microsoft Sans Serif"/>
                <a:cs typeface="Microsoft Sans Serif"/>
              </a:rPr>
              <a:t>/</a:t>
            </a:r>
            <a:r>
              <a:rPr sz="2300" i="1" spc="-10" dirty="0">
                <a:latin typeface="Arial"/>
                <a:cs typeface="Arial"/>
              </a:rPr>
              <a:t>Magnitude</a:t>
            </a:r>
            <a:r>
              <a:rPr sz="2300" spc="-10" dirty="0"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  <a:p>
            <a:pPr marL="414020" marR="111760" indent="-377190">
              <a:lnSpc>
                <a:spcPct val="110900"/>
              </a:lnSpc>
              <a:spcBef>
                <a:spcPts val="2060"/>
              </a:spcBef>
              <a:buClr>
                <a:srgbClr val="6FA200"/>
              </a:buClr>
              <a:buChar char="•"/>
              <a:tabLst>
                <a:tab pos="414020" algn="l"/>
              </a:tabLst>
            </a:pPr>
            <a:r>
              <a:rPr sz="2300" spc="-35" dirty="0">
                <a:latin typeface="Microsoft Sans Serif"/>
                <a:cs typeface="Microsoft Sans Serif"/>
              </a:rPr>
              <a:t>Дополнительный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код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(</a:t>
            </a:r>
            <a:r>
              <a:rPr sz="2300" i="1" spc="-10" dirty="0">
                <a:latin typeface="Arial"/>
                <a:cs typeface="Arial"/>
              </a:rPr>
              <a:t>Two's Complement</a:t>
            </a:r>
            <a:r>
              <a:rPr sz="2300" spc="-10" dirty="0">
                <a:latin typeface="Microsoft Sans Serif"/>
                <a:cs typeface="Microsoft Sans Serif"/>
              </a:rPr>
              <a:t>)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12" name="object 1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54506" y="3581400"/>
            <a:ext cx="3122675" cy="5611368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6205">
              <a:lnSpc>
                <a:spcPts val="264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14" dirty="0"/>
              <a:t>Системы</a:t>
            </a:r>
            <a:r>
              <a:rPr spc="-325" dirty="0"/>
              <a:t> </a:t>
            </a:r>
            <a:r>
              <a:rPr spc="-60" dirty="0"/>
              <a:t>счисления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84503" y="2659126"/>
            <a:ext cx="435991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20" dirty="0">
                <a:latin typeface="Arial"/>
                <a:cs typeface="Arial"/>
              </a:rPr>
              <a:t>Диапазон</a:t>
            </a:r>
            <a:r>
              <a:rPr sz="2650" b="1" spc="-150" dirty="0">
                <a:latin typeface="Arial"/>
                <a:cs typeface="Arial"/>
              </a:rPr>
              <a:t> </a:t>
            </a:r>
            <a:r>
              <a:rPr sz="2650" b="1" i="1" spc="-30" dirty="0">
                <a:latin typeface="Arial"/>
                <a:cs typeface="Arial"/>
              </a:rPr>
              <a:t>N</a:t>
            </a:r>
            <a:r>
              <a:rPr sz="2650" b="1" spc="-30" dirty="0">
                <a:latin typeface="Arial"/>
                <a:cs typeface="Arial"/>
              </a:rPr>
              <a:t>-</a:t>
            </a:r>
            <a:r>
              <a:rPr sz="2650" b="1" dirty="0">
                <a:latin typeface="Arial"/>
                <a:cs typeface="Arial"/>
              </a:rPr>
              <a:t>битных</a:t>
            </a:r>
            <a:r>
              <a:rPr sz="2650" b="1" spc="-13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чисел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77900" y="3404489"/>
          <a:ext cx="9404349" cy="15754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9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8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4655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Система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Диапазон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505">
                <a:tc>
                  <a:txBody>
                    <a:bodyPr/>
                    <a:lstStyle/>
                    <a:p>
                      <a:pPr marL="635" algn="ctr">
                        <a:lnSpc>
                          <a:spcPts val="2530"/>
                        </a:lnSpc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Двоичные</a:t>
                      </a:r>
                      <a:r>
                        <a:rPr sz="215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числа</a:t>
                      </a:r>
                      <a:r>
                        <a:rPr sz="215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без</a:t>
                      </a:r>
                      <a:r>
                        <a:rPr sz="215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знака</a:t>
                      </a:r>
                      <a:r>
                        <a:rPr sz="215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(unsigned)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2530"/>
                        </a:lnSpc>
                        <a:spcBef>
                          <a:spcPts val="190"/>
                        </a:spcBef>
                        <a:tabLst>
                          <a:tab pos="962660" algn="l"/>
                        </a:tabLst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[0,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100" i="1" spc="240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1]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955">
                <a:tc>
                  <a:txBody>
                    <a:bodyPr/>
                    <a:lstStyle/>
                    <a:p>
                      <a:pPr algn="ctr">
                        <a:lnSpc>
                          <a:spcPts val="2530"/>
                        </a:lnSpc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Прямой</a:t>
                      </a:r>
                      <a:r>
                        <a:rPr sz="215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Код</a:t>
                      </a:r>
                      <a:r>
                        <a:rPr sz="2150" spc="-6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(Sign/Magnitude)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2224405" algn="l"/>
                        </a:tabLst>
                      </a:pPr>
                      <a:r>
                        <a:rPr sz="2150" spc="85" dirty="0">
                          <a:latin typeface="Microsoft Sans Serif"/>
                          <a:cs typeface="Microsoft Sans Serif"/>
                        </a:rPr>
                        <a:t>[–2</a:t>
                      </a:r>
                      <a:r>
                        <a:rPr sz="2100" i="1" spc="127" baseline="2579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100" i="1" spc="247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– </a:t>
                      </a:r>
                      <a:r>
                        <a:rPr sz="2100" baseline="2579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37" baseline="2579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215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1,</a:t>
                      </a:r>
                      <a:r>
                        <a:rPr sz="215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100" i="1" spc="15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100" i="1" spc="22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2579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37" baseline="2579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1]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2150" spc="-40" dirty="0">
                          <a:latin typeface="Microsoft Sans Serif"/>
                          <a:cs typeface="Microsoft Sans Serif"/>
                        </a:rPr>
                        <a:t>Дополнительный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код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0"/>
                        </a:spcBef>
                        <a:tabLst>
                          <a:tab pos="1847850" algn="l"/>
                        </a:tabLst>
                      </a:pPr>
                      <a:r>
                        <a:rPr sz="2150" spc="85" dirty="0">
                          <a:latin typeface="Microsoft Sans Serif"/>
                          <a:cs typeface="Microsoft Sans Serif"/>
                        </a:rPr>
                        <a:t>[–2</a:t>
                      </a:r>
                      <a:r>
                        <a:rPr sz="2100" i="1" spc="127" baseline="2579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100" i="1" spc="247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100" i="1" spc="22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2579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215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N</a:t>
                      </a:r>
                      <a:r>
                        <a:rPr sz="2100" i="1" spc="15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i="1" baseline="25793" dirty="0">
                          <a:latin typeface="Arial"/>
                          <a:cs typeface="Arial"/>
                        </a:rPr>
                        <a:t>–</a:t>
                      </a:r>
                      <a:r>
                        <a:rPr sz="2100" i="1" spc="22" baseline="25793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2579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67" baseline="2579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–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	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1]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41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971550" y="5430520"/>
            <a:ext cx="876363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20" dirty="0">
                <a:latin typeface="Arial"/>
                <a:cs typeface="Arial"/>
              </a:rPr>
              <a:t>Числовая</a:t>
            </a:r>
            <a:r>
              <a:rPr sz="2650" b="1" spc="-15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шкала</a:t>
            </a:r>
            <a:r>
              <a:rPr sz="2650" b="1" spc="-10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и</a:t>
            </a:r>
            <a:r>
              <a:rPr sz="2650" b="1" spc="-110" dirty="0">
                <a:latin typeface="Arial"/>
                <a:cs typeface="Arial"/>
              </a:rPr>
              <a:t> </a:t>
            </a:r>
            <a:r>
              <a:rPr sz="2650" b="1" spc="-40" dirty="0">
                <a:latin typeface="Arial"/>
                <a:cs typeface="Arial"/>
              </a:rPr>
              <a:t>4-</a:t>
            </a:r>
            <a:r>
              <a:rPr sz="2650" b="1" spc="-20" dirty="0">
                <a:latin typeface="Arial"/>
                <a:cs typeface="Arial"/>
              </a:rPr>
              <a:t>битовое</a:t>
            </a:r>
            <a:r>
              <a:rPr sz="2650" b="1" spc="-16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двоичное</a:t>
            </a:r>
            <a:r>
              <a:rPr sz="2650" b="1" spc="-14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кодирование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2886" y="6383274"/>
            <a:ext cx="15796260" cy="368274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014">
              <a:lnSpc>
                <a:spcPts val="264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Логические</a:t>
            </a:r>
            <a:r>
              <a:rPr spc="-275" dirty="0"/>
              <a:t> </a:t>
            </a:r>
            <a:r>
              <a:rPr spc="-75" dirty="0"/>
              <a:t>элементы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36214" y="4429202"/>
            <a:ext cx="12820650" cy="34537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315">
              <a:lnSpc>
                <a:spcPct val="120100"/>
              </a:lnSpc>
              <a:spcBef>
                <a:spcPts val="100"/>
              </a:spcBef>
              <a:tabLst>
                <a:tab pos="5064125" algn="l"/>
              </a:tabLst>
            </a:pPr>
            <a:r>
              <a:rPr sz="2300" b="1" dirty="0">
                <a:latin typeface="Arial"/>
                <a:cs typeface="Arial"/>
              </a:rPr>
              <a:t>Логические</a:t>
            </a:r>
            <a:r>
              <a:rPr sz="2300" b="1" spc="-7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вентили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(</a:t>
            </a:r>
            <a:r>
              <a:rPr sz="2300" b="1" i="1" dirty="0">
                <a:latin typeface="Arial"/>
                <a:cs typeface="Arial"/>
              </a:rPr>
              <a:t>logic</a:t>
            </a:r>
            <a:r>
              <a:rPr sz="2300" b="1" i="1" spc="-90" dirty="0">
                <a:latin typeface="Arial"/>
                <a:cs typeface="Arial"/>
              </a:rPr>
              <a:t> </a:t>
            </a:r>
            <a:r>
              <a:rPr sz="2300" b="1" i="1" dirty="0">
                <a:latin typeface="Arial"/>
                <a:cs typeface="Arial"/>
              </a:rPr>
              <a:t>gates</a:t>
            </a:r>
            <a:r>
              <a:rPr sz="2300" b="1" dirty="0">
                <a:latin typeface="Arial"/>
                <a:cs typeface="Arial"/>
              </a:rPr>
              <a:t>)</a:t>
            </a:r>
            <a:r>
              <a:rPr sz="2300" b="1" spc="-75" dirty="0">
                <a:latin typeface="Arial"/>
                <a:cs typeface="Arial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это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простейшие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цифровые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схемы,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получающие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один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более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двоичных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сигналов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входе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производящие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новый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двоичный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выходе.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450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 marR="5080">
              <a:lnSpc>
                <a:spcPct val="120900"/>
              </a:lnSpc>
            </a:pPr>
            <a:r>
              <a:rPr sz="2300" dirty="0">
                <a:latin typeface="Microsoft Sans Serif"/>
                <a:cs typeface="Microsoft Sans Serif"/>
              </a:rPr>
              <a:t>При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графическом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изображении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логических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вентилей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обозначения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одного</a:t>
            </a:r>
            <a:r>
              <a:rPr sz="2300" spc="-114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нескольких </a:t>
            </a:r>
            <a:r>
              <a:rPr sz="2300" dirty="0">
                <a:latin typeface="Microsoft Sans Serif"/>
                <a:cs typeface="Microsoft Sans Serif"/>
              </a:rPr>
              <a:t>входных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сигналов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выходного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сигнала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используются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специальные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символы.</a:t>
            </a:r>
            <a:endParaRPr sz="2300">
              <a:latin typeface="Microsoft Sans Serif"/>
              <a:cs typeface="Microsoft Sans Serif"/>
            </a:endParaRPr>
          </a:p>
          <a:p>
            <a:pPr marL="12700" marR="224790">
              <a:lnSpc>
                <a:spcPct val="120000"/>
              </a:lnSpc>
              <a:spcBef>
                <a:spcPts val="2010"/>
              </a:spcBef>
            </a:pPr>
            <a:r>
              <a:rPr sz="2300" spc="-30" dirty="0">
                <a:latin typeface="Microsoft Sans Serif"/>
                <a:cs typeface="Microsoft Sans Serif"/>
              </a:rPr>
              <a:t>Взаимосвязь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между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входными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сигналами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выходным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сигналом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логического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вентиля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может </a:t>
            </a:r>
            <a:r>
              <a:rPr sz="2300" dirty="0">
                <a:latin typeface="Microsoft Sans Serif"/>
                <a:cs typeface="Microsoft Sans Serif"/>
              </a:rPr>
              <a:t>быть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описана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помощью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таблицы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истинности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</a:t>
            </a:r>
            <a:r>
              <a:rPr sz="2300" i="1" dirty="0">
                <a:latin typeface="Arial"/>
                <a:cs typeface="Arial"/>
              </a:rPr>
              <a:t>truth</a:t>
            </a:r>
            <a:r>
              <a:rPr sz="2300" i="1" spc="-95" dirty="0">
                <a:latin typeface="Arial"/>
                <a:cs typeface="Arial"/>
              </a:rPr>
              <a:t> </a:t>
            </a:r>
            <a:r>
              <a:rPr sz="2300" i="1" dirty="0">
                <a:latin typeface="Arial"/>
                <a:cs typeface="Arial"/>
              </a:rPr>
              <a:t>table</a:t>
            </a:r>
            <a:r>
              <a:rPr sz="2300" dirty="0">
                <a:latin typeface="Microsoft Sans Serif"/>
                <a:cs typeface="Microsoft Sans Serif"/>
              </a:rPr>
              <a:t>)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уравнением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булевой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логики.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788157" y="4338828"/>
            <a:ext cx="0" cy="1336040"/>
          </a:xfrm>
          <a:custGeom>
            <a:avLst/>
            <a:gdLst/>
            <a:ahLst/>
            <a:cxnLst/>
            <a:rect l="l" t="t" r="r" b="b"/>
            <a:pathLst>
              <a:path h="1336039">
                <a:moveTo>
                  <a:pt x="0" y="0"/>
                </a:moveTo>
                <a:lnTo>
                  <a:pt x="0" y="1336039"/>
                </a:lnTo>
              </a:path>
            </a:pathLst>
          </a:custGeom>
          <a:ln w="62484">
            <a:solidFill>
              <a:srgbClr val="80B7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8371819" y="10189169"/>
            <a:ext cx="18796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spc="-50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endParaRPr sz="23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Логические</a:t>
            </a:r>
            <a:r>
              <a:rPr spc="-275" dirty="0"/>
              <a:t> </a:t>
            </a:r>
            <a:r>
              <a:rPr spc="-75" dirty="0"/>
              <a:t>элементы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372108" y="3275584"/>
            <a:ext cx="324421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20" dirty="0">
                <a:latin typeface="Arial"/>
                <a:cs typeface="Arial"/>
              </a:rPr>
              <a:t>Базовые</a:t>
            </a:r>
            <a:r>
              <a:rPr sz="2650" b="1" spc="-14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элементы</a:t>
            </a:r>
            <a:endParaRPr sz="26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8292" y="6623304"/>
            <a:ext cx="1511808" cy="117728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26835" y="5109972"/>
            <a:ext cx="1923288" cy="128016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358883" y="5146548"/>
            <a:ext cx="1798320" cy="122301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91338" y="6604254"/>
            <a:ext cx="1988819" cy="184251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006089" y="4959858"/>
            <a:ext cx="1742693" cy="1400556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938759" y="5024628"/>
            <a:ext cx="1833371" cy="137541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414014" y="4358132"/>
            <a:ext cx="61722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BUF</a:t>
            </a:r>
            <a:endParaRPr sz="23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350508" y="4358132"/>
            <a:ext cx="64960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718802" y="4358132"/>
            <a:ext cx="64389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ИЛИ</a:t>
            </a:r>
            <a:endParaRPr sz="23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533373" y="4358132"/>
            <a:ext cx="65151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XOR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30194" y="8849106"/>
            <a:ext cx="78549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spc="-10" dirty="0">
                <a:latin typeface="Microsoft Sans Serif"/>
                <a:cs typeface="Microsoft Sans Serif"/>
              </a:rPr>
              <a:t>Буфер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034532" y="8849106"/>
            <a:ext cx="124523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spc="-50" dirty="0">
                <a:latin typeface="Microsoft Sans Serif"/>
                <a:cs typeface="Microsoft Sans Serif"/>
              </a:rPr>
              <a:t>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203181" y="8849106"/>
            <a:ext cx="159004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25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ИЛИ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720828" y="8849106"/>
            <a:ext cx="372745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ИСКЛЮЧАЮЩЕЕ</a:t>
            </a:r>
            <a:r>
              <a:rPr sz="1950" spc="-25" dirty="0">
                <a:latin typeface="Microsoft Sans Serif"/>
                <a:cs typeface="Microsoft Sans Serif"/>
              </a:rPr>
              <a:t> ИЛИ</a:t>
            </a:r>
            <a:endParaRPr sz="1950">
              <a:latin typeface="Microsoft Sans Serif"/>
              <a:cs typeface="Microsoft Sans Serif"/>
            </a:endParaRPr>
          </a:p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866638" y="6623304"/>
            <a:ext cx="2079498" cy="1917954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279635" y="6612635"/>
            <a:ext cx="2020062" cy="1960626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264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3895725" y="10345293"/>
            <a:ext cx="14030960" cy="26034"/>
          </a:xfrm>
          <a:custGeom>
            <a:avLst/>
            <a:gdLst/>
            <a:ahLst/>
            <a:cxnLst/>
            <a:rect l="l" t="t" r="r" b="b"/>
            <a:pathLst>
              <a:path w="14030960" h="26034">
                <a:moveTo>
                  <a:pt x="14030833" y="25768"/>
                </a:moveTo>
                <a:lnTo>
                  <a:pt x="0" y="0"/>
                </a:lnTo>
              </a:path>
            </a:pathLst>
          </a:custGeom>
          <a:ln w="5334">
            <a:solidFill>
              <a:srgbClr val="BDBDB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91338" y="6604254"/>
            <a:ext cx="1988819" cy="18105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893040" y="5017008"/>
            <a:ext cx="1908809" cy="14112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279635" y="6604254"/>
            <a:ext cx="2020062" cy="19042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6638" y="6604254"/>
            <a:ext cx="2073402" cy="19042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000750" y="4969764"/>
            <a:ext cx="2020824" cy="139598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330194" y="8849106"/>
            <a:ext cx="140525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50" dirty="0">
                <a:latin typeface="Microsoft Sans Serif"/>
                <a:cs typeface="Microsoft Sans Serif"/>
              </a:rPr>
              <a:t> </a:t>
            </a:r>
            <a:r>
              <a:rPr sz="1950" spc="-25" dirty="0">
                <a:latin typeface="Microsoft Sans Serif"/>
                <a:cs typeface="Microsoft Sans Serif"/>
              </a:rPr>
              <a:t>НЕ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34532" y="8849106"/>
            <a:ext cx="166814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80" dirty="0">
                <a:latin typeface="Microsoft Sans Serif"/>
                <a:cs typeface="Microsoft Sans Serif"/>
              </a:rPr>
              <a:t> </a:t>
            </a:r>
            <a:r>
              <a:rPr sz="1950" spc="-20" dirty="0">
                <a:latin typeface="Microsoft Sans Serif"/>
                <a:cs typeface="Microsoft Sans Serif"/>
              </a:rPr>
              <a:t>И-</a:t>
            </a:r>
            <a:r>
              <a:rPr sz="1950" spc="-25" dirty="0">
                <a:latin typeface="Microsoft Sans Serif"/>
                <a:cs typeface="Microsoft Sans Serif"/>
              </a:rPr>
              <a:t>НЕ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03181" y="8849106"/>
            <a:ext cx="200660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85" dirty="0">
                <a:latin typeface="Microsoft Sans Serif"/>
                <a:cs typeface="Microsoft Sans Serif"/>
              </a:rPr>
              <a:t> </a:t>
            </a:r>
            <a:r>
              <a:rPr sz="1950" spc="-50" dirty="0">
                <a:latin typeface="Microsoft Sans Serif"/>
                <a:cs typeface="Microsoft Sans Serif"/>
              </a:rPr>
              <a:t>ИЛИ-</a:t>
            </a:r>
            <a:r>
              <a:rPr sz="1950" spc="-25" dirty="0">
                <a:latin typeface="Microsoft Sans Serif"/>
                <a:cs typeface="Microsoft Sans Serif"/>
              </a:rPr>
              <a:t>НЕ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720828" y="8849106"/>
            <a:ext cx="41471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-7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ИСКЛЮЧАЮЩЕЕ</a:t>
            </a:r>
            <a:r>
              <a:rPr sz="1950" spc="-60" dirty="0">
                <a:latin typeface="Microsoft Sans Serif"/>
                <a:cs typeface="Microsoft Sans Serif"/>
              </a:rPr>
              <a:t> </a:t>
            </a:r>
            <a:r>
              <a:rPr sz="1950" spc="-45" dirty="0">
                <a:latin typeface="Microsoft Sans Serif"/>
                <a:cs typeface="Microsoft Sans Serif"/>
              </a:rPr>
              <a:t>ИЛИ-</a:t>
            </a:r>
            <a:r>
              <a:rPr sz="1950" spc="-25" dirty="0">
                <a:latin typeface="Microsoft Sans Serif"/>
                <a:cs typeface="Microsoft Sans Serif"/>
              </a:rPr>
              <a:t>НЕ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Логические</a:t>
            </a:r>
            <a:r>
              <a:rPr spc="-275" dirty="0"/>
              <a:t> </a:t>
            </a:r>
            <a:r>
              <a:rPr spc="-75" dirty="0"/>
              <a:t>элементы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72108" y="3275584"/>
            <a:ext cx="517779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25" dirty="0">
                <a:latin typeface="Arial"/>
                <a:cs typeface="Arial"/>
              </a:rPr>
              <a:t>Базовые</a:t>
            </a:r>
            <a:r>
              <a:rPr sz="2650" b="1" spc="-114" dirty="0">
                <a:latin typeface="Arial"/>
                <a:cs typeface="Arial"/>
              </a:rPr>
              <a:t> </a:t>
            </a:r>
            <a:r>
              <a:rPr sz="2650" b="1" spc="-25" dirty="0">
                <a:latin typeface="Arial"/>
                <a:cs typeface="Arial"/>
              </a:rPr>
              <a:t>инверсные</a:t>
            </a:r>
            <a:r>
              <a:rPr sz="2650" b="1" spc="-12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элементы</a:t>
            </a:r>
            <a:endParaRPr sz="26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414014" y="4358132"/>
            <a:ext cx="63627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NOT</a:t>
            </a:r>
            <a:endParaRPr sz="23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350508" y="4358132"/>
            <a:ext cx="8610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0" dirty="0">
                <a:solidFill>
                  <a:srgbClr val="6FA200"/>
                </a:solidFill>
                <a:latin typeface="Arial"/>
                <a:cs typeface="Arial"/>
              </a:rPr>
              <a:t>NAND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718802" y="4358132"/>
            <a:ext cx="66865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NOR</a:t>
            </a:r>
            <a:endParaRPr sz="2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422630" y="4358132"/>
            <a:ext cx="861694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0" dirty="0">
                <a:solidFill>
                  <a:srgbClr val="6FA200"/>
                </a:solidFill>
                <a:latin typeface="Arial"/>
                <a:cs typeface="Arial"/>
              </a:rPr>
              <a:t>XNOR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926079" y="5047488"/>
            <a:ext cx="2033777" cy="131063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089910" y="6604254"/>
            <a:ext cx="1525524" cy="1155191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419081" y="4969764"/>
            <a:ext cx="2020824" cy="1391412"/>
          </a:xfrm>
          <a:prstGeom prst="rect">
            <a:avLst/>
          </a:prstGeom>
        </p:spPr>
      </p:pic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1594">
              <a:lnSpc>
                <a:spcPts val="264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23" name="object 23"/>
          <p:cNvSpPr txBox="1"/>
          <p:nvPr/>
        </p:nvSpPr>
        <p:spPr>
          <a:xfrm>
            <a:off x="1386586" y="10221438"/>
            <a:ext cx="2277745" cy="267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89"/>
              </a:lnSpc>
            </a:pPr>
            <a:r>
              <a:rPr sz="1900" spc="90" dirty="0">
                <a:solidFill>
                  <a:srgbClr val="BDBDBD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BDBDBD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BDBDBD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85028" y="10156952"/>
            <a:ext cx="3149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110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451853" y="10047223"/>
            <a:ext cx="403288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20" dirty="0">
                <a:latin typeface="Microsoft Sans Serif"/>
                <a:cs typeface="Microsoft Sans Serif"/>
              </a:rPr>
              <a:t> </a:t>
            </a:r>
            <a:r>
              <a:rPr sz="1950" spc="-45" dirty="0">
                <a:latin typeface="Microsoft Sans Serif"/>
                <a:cs typeface="Microsoft Sans Serif"/>
              </a:rPr>
              <a:t>ИЛИ-</a:t>
            </a:r>
            <a:r>
              <a:rPr sz="1950" dirty="0">
                <a:latin typeface="Microsoft Sans Serif"/>
                <a:cs typeface="Microsoft Sans Serif"/>
              </a:rPr>
              <a:t>НЕ</a:t>
            </a:r>
            <a:r>
              <a:rPr sz="1950" spc="3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с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тремя</a:t>
            </a:r>
            <a:r>
              <a:rPr sz="1950" spc="35" dirty="0">
                <a:latin typeface="Microsoft Sans Serif"/>
                <a:cs typeface="Microsoft Sans Serif"/>
              </a:rPr>
              <a:t> </a:t>
            </a:r>
            <a:r>
              <a:rPr sz="1950" spc="-10" dirty="0">
                <a:latin typeface="Microsoft Sans Serif"/>
                <a:cs typeface="Microsoft Sans Serif"/>
              </a:rPr>
              <a:t>входами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66576" y="10047223"/>
            <a:ext cx="3688715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50" dirty="0">
                <a:latin typeface="Microsoft Sans Serif"/>
                <a:cs typeface="Microsoft Sans Serif"/>
              </a:rPr>
              <a:t>Вентиль</a:t>
            </a:r>
            <a:r>
              <a:rPr sz="1950" spc="-2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И</a:t>
            </a:r>
            <a:r>
              <a:rPr sz="1950" spc="-10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с</a:t>
            </a:r>
            <a:r>
              <a:rPr sz="1950" spc="-5" dirty="0">
                <a:latin typeface="Microsoft Sans Serif"/>
                <a:cs typeface="Microsoft Sans Serif"/>
              </a:rPr>
              <a:t> </a:t>
            </a:r>
            <a:r>
              <a:rPr sz="1950" dirty="0">
                <a:latin typeface="Microsoft Sans Serif"/>
                <a:cs typeface="Microsoft Sans Serif"/>
              </a:rPr>
              <a:t>четырьмя</a:t>
            </a:r>
            <a:r>
              <a:rPr sz="1950" spc="-10" dirty="0">
                <a:latin typeface="Microsoft Sans Serif"/>
                <a:cs typeface="Microsoft Sans Serif"/>
              </a:rPr>
              <a:t> входами</a:t>
            </a:r>
            <a:endParaRPr sz="195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Логические</a:t>
            </a:r>
            <a:r>
              <a:rPr spc="-275" dirty="0"/>
              <a:t> </a:t>
            </a:r>
            <a:r>
              <a:rPr spc="-75" dirty="0"/>
              <a:t>элементы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372108" y="3202228"/>
            <a:ext cx="3768090" cy="1358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0000"/>
              </a:lnSpc>
              <a:spcBef>
                <a:spcPts val="100"/>
              </a:spcBef>
            </a:pPr>
            <a:r>
              <a:rPr sz="2650" b="1" dirty="0">
                <a:latin typeface="Arial"/>
                <a:cs typeface="Arial"/>
              </a:rPr>
              <a:t>Логические</a:t>
            </a:r>
            <a:r>
              <a:rPr sz="2650" b="1" spc="33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элементы </a:t>
            </a:r>
            <a:r>
              <a:rPr sz="2650" b="1" dirty="0">
                <a:latin typeface="Arial"/>
                <a:cs typeface="Arial"/>
              </a:rPr>
              <a:t>с</a:t>
            </a:r>
            <a:r>
              <a:rPr sz="2650" b="1" spc="-60" dirty="0">
                <a:latin typeface="Arial"/>
                <a:cs typeface="Arial"/>
              </a:rPr>
              <a:t> </a:t>
            </a:r>
            <a:r>
              <a:rPr sz="2650" b="1" spc="-30" dirty="0">
                <a:latin typeface="Arial"/>
                <a:cs typeface="Arial"/>
              </a:rPr>
              <a:t>количеством</a:t>
            </a:r>
            <a:r>
              <a:rPr sz="2650" b="1" spc="-8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входов </a:t>
            </a:r>
            <a:r>
              <a:rPr sz="2650" b="1" spc="-25" dirty="0">
                <a:latin typeface="Arial"/>
                <a:cs typeface="Arial"/>
              </a:rPr>
              <a:t>больше</a:t>
            </a:r>
            <a:r>
              <a:rPr sz="2650" b="1" spc="-150" dirty="0">
                <a:latin typeface="Arial"/>
                <a:cs typeface="Arial"/>
              </a:rPr>
              <a:t> </a:t>
            </a:r>
            <a:r>
              <a:rPr sz="2650" b="1" spc="-20" dirty="0">
                <a:latin typeface="Arial"/>
                <a:cs typeface="Arial"/>
              </a:rPr>
              <a:t>двух</a:t>
            </a:r>
            <a:endParaRPr sz="26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02626" y="4581398"/>
            <a:ext cx="829944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0" dirty="0">
                <a:solidFill>
                  <a:srgbClr val="6FA200"/>
                </a:solidFill>
                <a:latin typeface="Arial"/>
                <a:cs typeface="Arial"/>
              </a:rPr>
              <a:t>NOR3</a:t>
            </a:r>
            <a:endParaRPr sz="23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926821" y="3064764"/>
            <a:ext cx="81216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0" dirty="0">
                <a:solidFill>
                  <a:srgbClr val="6FA200"/>
                </a:solidFill>
                <a:latin typeface="Arial"/>
                <a:cs typeface="Arial"/>
              </a:rPr>
              <a:t>AND4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0381" y="3730752"/>
            <a:ext cx="1805939" cy="123596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906250" y="5070348"/>
            <a:ext cx="2721102" cy="4745735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7059168" y="5167884"/>
            <a:ext cx="2862580" cy="4757420"/>
            <a:chOff x="7059168" y="5167884"/>
            <a:chExt cx="2862580" cy="4757420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59168" y="5167884"/>
              <a:ext cx="2666237" cy="463143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82790" y="6584442"/>
              <a:ext cx="2838450" cy="334060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82487" y="10156952"/>
            <a:ext cx="31559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114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Булевы</a:t>
            </a:r>
            <a:r>
              <a:rPr spc="-500" dirty="0"/>
              <a:t> </a:t>
            </a:r>
            <a:r>
              <a:rPr spc="-10" dirty="0"/>
              <a:t>уравнения</a:t>
            </a:r>
          </a:p>
        </p:txBody>
      </p:sp>
      <p:sp>
        <p:nvSpPr>
          <p:cNvPr id="5" name="object 5"/>
          <p:cNvSpPr/>
          <p:nvPr/>
        </p:nvSpPr>
        <p:spPr>
          <a:xfrm>
            <a:off x="15157704" y="5362956"/>
            <a:ext cx="177800" cy="17145"/>
          </a:xfrm>
          <a:custGeom>
            <a:avLst/>
            <a:gdLst/>
            <a:ahLst/>
            <a:cxnLst/>
            <a:rect l="l" t="t" r="r" b="b"/>
            <a:pathLst>
              <a:path w="177800" h="17145">
                <a:moveTo>
                  <a:pt x="177673" y="0"/>
                </a:moveTo>
                <a:lnTo>
                  <a:pt x="0" y="0"/>
                </a:lnTo>
                <a:lnTo>
                  <a:pt x="0" y="17145"/>
                </a:lnTo>
                <a:lnTo>
                  <a:pt x="177673" y="17145"/>
                </a:lnTo>
                <a:lnTo>
                  <a:pt x="1776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6195547" y="5369052"/>
            <a:ext cx="177165" cy="18415"/>
          </a:xfrm>
          <a:custGeom>
            <a:avLst/>
            <a:gdLst/>
            <a:ahLst/>
            <a:cxnLst/>
            <a:rect l="l" t="t" r="r" b="b"/>
            <a:pathLst>
              <a:path w="177165" h="18414">
                <a:moveTo>
                  <a:pt x="176784" y="0"/>
                </a:moveTo>
                <a:lnTo>
                  <a:pt x="0" y="0"/>
                </a:lnTo>
                <a:lnTo>
                  <a:pt x="0" y="17906"/>
                </a:lnTo>
                <a:lnTo>
                  <a:pt x="176784" y="17906"/>
                </a:lnTo>
                <a:lnTo>
                  <a:pt x="176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32838" y="6950209"/>
            <a:ext cx="177800" cy="17145"/>
          </a:xfrm>
          <a:custGeom>
            <a:avLst/>
            <a:gdLst/>
            <a:ahLst/>
            <a:cxnLst/>
            <a:rect l="l" t="t" r="r" b="b"/>
            <a:pathLst>
              <a:path w="177800" h="17145">
                <a:moveTo>
                  <a:pt x="177698" y="0"/>
                </a:moveTo>
                <a:lnTo>
                  <a:pt x="0" y="0"/>
                </a:lnTo>
                <a:lnTo>
                  <a:pt x="0" y="17137"/>
                </a:lnTo>
                <a:lnTo>
                  <a:pt x="177698" y="17137"/>
                </a:lnTo>
                <a:lnTo>
                  <a:pt x="1776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396870" y="6953631"/>
            <a:ext cx="178435" cy="0"/>
          </a:xfrm>
          <a:custGeom>
            <a:avLst/>
            <a:gdLst/>
            <a:ahLst/>
            <a:cxnLst/>
            <a:rect l="l" t="t" r="r" b="b"/>
            <a:pathLst>
              <a:path w="178435">
                <a:moveTo>
                  <a:pt x="0" y="0"/>
                </a:moveTo>
                <a:lnTo>
                  <a:pt x="178181" y="0"/>
                </a:lnTo>
              </a:path>
            </a:pathLst>
          </a:custGeom>
          <a:ln w="1752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5322295" y="8137397"/>
            <a:ext cx="177165" cy="17145"/>
          </a:xfrm>
          <a:custGeom>
            <a:avLst/>
            <a:gdLst/>
            <a:ahLst/>
            <a:cxnLst/>
            <a:rect l="l" t="t" r="r" b="b"/>
            <a:pathLst>
              <a:path w="177165" h="17145">
                <a:moveTo>
                  <a:pt x="176784" y="0"/>
                </a:moveTo>
                <a:lnTo>
                  <a:pt x="0" y="0"/>
                </a:lnTo>
                <a:lnTo>
                  <a:pt x="0" y="17144"/>
                </a:lnTo>
                <a:lnTo>
                  <a:pt x="176784" y="17144"/>
                </a:lnTo>
                <a:lnTo>
                  <a:pt x="17678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371346" y="3153867"/>
            <a:ext cx="16663035" cy="3172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32765">
              <a:lnSpc>
                <a:spcPct val="110000"/>
              </a:lnSpc>
              <a:spcBef>
                <a:spcPts val="100"/>
              </a:spcBef>
            </a:pPr>
            <a:r>
              <a:rPr sz="2300" dirty="0">
                <a:latin typeface="Microsoft Sans Serif"/>
                <a:cs typeface="Microsoft Sans Serif"/>
              </a:rPr>
              <a:t>Булевы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уравнения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используют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переменные,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имеющие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значение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ИСТИНА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ЛОЖЬ,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поэтому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они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идеально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подходят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описания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цифровой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логики.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3335">
              <a:lnSpc>
                <a:spcPct val="100000"/>
              </a:lnSpc>
              <a:spcBef>
                <a:spcPts val="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Три</a:t>
            </a:r>
            <a:r>
              <a:rPr sz="2300" b="1" spc="-9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базовые</a:t>
            </a:r>
            <a:r>
              <a:rPr sz="2300" b="1" spc="-9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операции</a:t>
            </a:r>
            <a:r>
              <a:rPr sz="2300" b="1" spc="-7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булевой</a:t>
            </a:r>
            <a:r>
              <a:rPr sz="2300" b="1" spc="-5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алгебры:</a:t>
            </a:r>
            <a:endParaRPr sz="2300">
              <a:latin typeface="Arial"/>
              <a:cs typeface="Arial"/>
            </a:endParaRPr>
          </a:p>
          <a:p>
            <a:pPr marL="436880" indent="-423545">
              <a:lnSpc>
                <a:spcPts val="2695"/>
              </a:lnSpc>
              <a:spcBef>
                <a:spcPts val="1839"/>
              </a:spcBef>
              <a:buClr>
                <a:srgbClr val="6FA200"/>
              </a:buClr>
              <a:buAutoNum type="arabicPeriod"/>
              <a:tabLst>
                <a:tab pos="436880" algn="l"/>
                <a:tab pos="4387215" algn="l"/>
              </a:tabLst>
            </a:pPr>
            <a:r>
              <a:rPr sz="2300" b="1" dirty="0">
                <a:latin typeface="Arial"/>
                <a:cs typeface="Arial"/>
              </a:rPr>
              <a:t>Дополнение</a:t>
            </a:r>
            <a:r>
              <a:rPr sz="2300" b="1" spc="-60" dirty="0">
                <a:latin typeface="Arial"/>
                <a:cs typeface="Arial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</a:t>
            </a:r>
            <a:r>
              <a:rPr sz="2300" i="1" dirty="0">
                <a:latin typeface="Arial"/>
                <a:cs typeface="Arial"/>
              </a:rPr>
              <a:t>complement</a:t>
            </a:r>
            <a:r>
              <a:rPr sz="2300" dirty="0">
                <a:latin typeface="Microsoft Sans Serif"/>
                <a:cs typeface="Microsoft Sans Serif"/>
              </a:rPr>
              <a:t>)</a:t>
            </a:r>
            <a:r>
              <a:rPr sz="2300" spc="-50" dirty="0">
                <a:latin typeface="Microsoft Sans Serif"/>
                <a:cs typeface="Microsoft Sans Serif"/>
              </a:rPr>
              <a:t> –</a:t>
            </a:r>
            <a:r>
              <a:rPr sz="2300" dirty="0">
                <a:latin typeface="Microsoft Sans Serif"/>
                <a:cs typeface="Microsoft Sans Serif"/>
              </a:rPr>
              <a:t>	это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величина,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обратная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логической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переменной.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Дополнение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0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равно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1,</a:t>
            </a:r>
            <a:endParaRPr sz="2300">
              <a:latin typeface="Microsoft Sans Serif"/>
              <a:cs typeface="Microsoft Sans Serif"/>
            </a:endParaRPr>
          </a:p>
          <a:p>
            <a:pPr marL="436880">
              <a:lnSpc>
                <a:spcPts val="3235"/>
              </a:lnSpc>
              <a:tabLst>
                <a:tab pos="3942715" algn="l"/>
                <a:tab pos="15253335" algn="l"/>
              </a:tabLst>
            </a:pPr>
            <a:r>
              <a:rPr sz="3450" baseline="1207" dirty="0">
                <a:latin typeface="Microsoft Sans Serif"/>
                <a:cs typeface="Microsoft Sans Serif"/>
              </a:rPr>
              <a:t>а</a:t>
            </a:r>
            <a:r>
              <a:rPr sz="3450" spc="-37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дополнение</a:t>
            </a:r>
            <a:r>
              <a:rPr sz="3450" spc="-22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1</a:t>
            </a:r>
            <a:r>
              <a:rPr sz="3450" spc="-22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равно</a:t>
            </a:r>
            <a:r>
              <a:rPr sz="3450" spc="-15" baseline="1207" dirty="0">
                <a:latin typeface="Microsoft Sans Serif"/>
                <a:cs typeface="Microsoft Sans Serif"/>
              </a:rPr>
              <a:t> </a:t>
            </a:r>
            <a:r>
              <a:rPr sz="3450" spc="-37" baseline="1207" dirty="0">
                <a:latin typeface="Microsoft Sans Serif"/>
                <a:cs typeface="Microsoft Sans Serif"/>
              </a:rPr>
              <a:t>0.</a:t>
            </a:r>
            <a:r>
              <a:rPr sz="3450" baseline="1207" dirty="0">
                <a:latin typeface="Microsoft Sans Serif"/>
                <a:cs typeface="Microsoft Sans Serif"/>
              </a:rPr>
              <a:t>	Переменная</a:t>
            </a:r>
            <a:r>
              <a:rPr sz="3450" spc="-67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или</a:t>
            </a:r>
            <a:r>
              <a:rPr sz="3450" spc="-22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ее</a:t>
            </a:r>
            <a:r>
              <a:rPr sz="3450" spc="-22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дополнение</a:t>
            </a:r>
            <a:r>
              <a:rPr sz="3450" spc="-37" baseline="1207" dirty="0">
                <a:latin typeface="Microsoft Sans Serif"/>
                <a:cs typeface="Microsoft Sans Serif"/>
              </a:rPr>
              <a:t> </a:t>
            </a:r>
            <a:r>
              <a:rPr sz="3450" spc="-15" baseline="1207" dirty="0">
                <a:latin typeface="Microsoft Sans Serif"/>
                <a:cs typeface="Microsoft Sans Serif"/>
              </a:rPr>
              <a:t>называются</a:t>
            </a:r>
            <a:r>
              <a:rPr sz="3450" spc="15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литералом.</a:t>
            </a:r>
            <a:r>
              <a:rPr sz="3450" spc="-22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Например,</a:t>
            </a:r>
            <a:r>
              <a:rPr sz="3450" spc="44" baseline="1207" dirty="0">
                <a:latin typeface="Microsoft Sans Serif"/>
                <a:cs typeface="Microsoft Sans Serif"/>
              </a:rPr>
              <a:t> </a:t>
            </a:r>
            <a:r>
              <a:rPr sz="2750" i="1" spc="50" dirty="0">
                <a:latin typeface="Times New Roman"/>
                <a:cs typeface="Times New Roman"/>
              </a:rPr>
              <a:t>A</a:t>
            </a:r>
            <a:r>
              <a:rPr sz="3450" spc="75" baseline="1207" dirty="0">
                <a:latin typeface="Microsoft Sans Serif"/>
                <a:cs typeface="Microsoft Sans Serif"/>
              </a:rPr>
              <a:t>,</a:t>
            </a:r>
            <a:r>
              <a:rPr sz="3450" spc="-112" baseline="1207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A</a:t>
            </a:r>
            <a:r>
              <a:rPr sz="2750" i="1" spc="-335" dirty="0">
                <a:latin typeface="Times New Roman"/>
                <a:cs typeface="Times New Roman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,</a:t>
            </a:r>
            <a:r>
              <a:rPr sz="3450" spc="-142" baseline="1207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B</a:t>
            </a:r>
            <a:r>
              <a:rPr sz="2750" i="1" spc="185" dirty="0">
                <a:latin typeface="Times New Roman"/>
                <a:cs typeface="Times New Roman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и</a:t>
            </a:r>
            <a:r>
              <a:rPr sz="3450" spc="254" baseline="1207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B</a:t>
            </a:r>
            <a:r>
              <a:rPr sz="2750" i="1" spc="-100" dirty="0">
                <a:latin typeface="Times New Roman"/>
                <a:cs typeface="Times New Roman"/>
              </a:rPr>
              <a:t> </a:t>
            </a:r>
            <a:r>
              <a:rPr sz="3450" spc="-75" baseline="1207" dirty="0">
                <a:latin typeface="Microsoft Sans Serif"/>
                <a:cs typeface="Microsoft Sans Serif"/>
              </a:rPr>
              <a:t>–</a:t>
            </a:r>
            <a:r>
              <a:rPr sz="3450" baseline="1207" dirty="0">
                <a:latin typeface="Microsoft Sans Serif"/>
                <a:cs typeface="Microsoft Sans Serif"/>
              </a:rPr>
              <a:t>	</a:t>
            </a:r>
            <a:r>
              <a:rPr sz="3450" spc="-15" baseline="1207" dirty="0">
                <a:latin typeface="Microsoft Sans Serif"/>
                <a:cs typeface="Microsoft Sans Serif"/>
              </a:rPr>
              <a:t>литералы.</a:t>
            </a:r>
            <a:endParaRPr sz="3450" baseline="1207">
              <a:latin typeface="Microsoft Sans Serif"/>
              <a:cs typeface="Microsoft Sans Serif"/>
            </a:endParaRPr>
          </a:p>
          <a:p>
            <a:pPr marL="436880" indent="-424180">
              <a:lnSpc>
                <a:spcPct val="100000"/>
              </a:lnSpc>
              <a:spcBef>
                <a:spcPts val="1720"/>
              </a:spcBef>
              <a:buClr>
                <a:srgbClr val="6FA200"/>
              </a:buClr>
              <a:buAutoNum type="arabicPeriod" startAt="2"/>
              <a:tabLst>
                <a:tab pos="436880" algn="l"/>
                <a:tab pos="8495030" algn="l"/>
              </a:tabLst>
            </a:pPr>
            <a:r>
              <a:rPr sz="2300" b="1" dirty="0">
                <a:latin typeface="Arial"/>
                <a:cs typeface="Arial"/>
              </a:rPr>
              <a:t>Конъюнкция,</a:t>
            </a:r>
            <a:r>
              <a:rPr sz="2300" b="1" spc="-7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произведение</a:t>
            </a:r>
            <a:r>
              <a:rPr sz="2300" b="1" spc="-30" dirty="0">
                <a:latin typeface="Arial"/>
                <a:cs typeface="Arial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</a:t>
            </a:r>
            <a:r>
              <a:rPr sz="2300" i="1" dirty="0">
                <a:latin typeface="Arial"/>
                <a:cs typeface="Arial"/>
              </a:rPr>
              <a:t>product</a:t>
            </a:r>
            <a:r>
              <a:rPr sz="2300" dirty="0">
                <a:latin typeface="Microsoft Sans Serif"/>
                <a:cs typeface="Microsoft Sans Serif"/>
              </a:rPr>
              <a:t>)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b="1" dirty="0">
                <a:latin typeface="Arial"/>
                <a:cs typeface="Arial"/>
              </a:rPr>
              <a:t>или</a:t>
            </a:r>
            <a:r>
              <a:rPr sz="2300" b="1" spc="-6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импликанта</a:t>
            </a:r>
            <a:r>
              <a:rPr sz="2300" b="1" spc="-10" dirty="0">
                <a:latin typeface="Arial"/>
                <a:cs typeface="Arial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операция</a:t>
            </a:r>
            <a:r>
              <a:rPr sz="2300" spc="-1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«И»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над</a:t>
            </a:r>
            <a:r>
              <a:rPr sz="2300" spc="-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одним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несколькими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литералами.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691871" y="6546850"/>
            <a:ext cx="458851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10" dirty="0">
                <a:latin typeface="Microsoft Sans Serif"/>
                <a:cs typeface="Microsoft Sans Serif"/>
              </a:rPr>
              <a:t>включающее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все</a:t>
            </a:r>
            <a:r>
              <a:rPr sz="2300" spc="-1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входы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функции.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2108" y="6546850"/>
            <a:ext cx="11322050" cy="1381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834">
              <a:lnSpc>
                <a:spcPct val="100000"/>
              </a:lnSpc>
              <a:spcBef>
                <a:spcPts val="95"/>
              </a:spcBef>
              <a:tabLst>
                <a:tab pos="8609330" algn="l"/>
              </a:tabLst>
            </a:pPr>
            <a:r>
              <a:rPr sz="2300" dirty="0">
                <a:latin typeface="Microsoft Sans Serif"/>
                <a:cs typeface="Microsoft Sans Serif"/>
              </a:rPr>
              <a:t>Минтерм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</a:t>
            </a:r>
            <a:r>
              <a:rPr sz="2300" i="1" dirty="0">
                <a:latin typeface="Arial"/>
                <a:cs typeface="Arial"/>
              </a:rPr>
              <a:t>minterm</a:t>
            </a:r>
            <a:r>
              <a:rPr sz="2300" dirty="0">
                <a:latin typeface="Microsoft Sans Serif"/>
                <a:cs typeface="Microsoft Sans Serif"/>
              </a:rPr>
              <a:t>,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элементарная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конъюнктивная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форма)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это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произведение,</a:t>
            </a:r>
            <a:endParaRPr sz="2300">
              <a:latin typeface="Microsoft Sans Serif"/>
              <a:cs typeface="Microsoft Sans Serif"/>
            </a:endParaRPr>
          </a:p>
          <a:p>
            <a:pPr marL="469265">
              <a:lnSpc>
                <a:spcPct val="100000"/>
              </a:lnSpc>
              <a:spcBef>
                <a:spcPts val="25"/>
              </a:spcBef>
              <a:tabLst>
                <a:tab pos="1493520" algn="l"/>
              </a:tabLst>
            </a:pPr>
            <a:r>
              <a:rPr sz="2750" i="1" spc="95" dirty="0">
                <a:latin typeface="Times New Roman"/>
                <a:cs typeface="Times New Roman"/>
              </a:rPr>
              <a:t>ABC</a:t>
            </a:r>
            <a:r>
              <a:rPr sz="2750" i="1" spc="25" dirty="0">
                <a:latin typeface="Times New Roman"/>
                <a:cs typeface="Times New Roman"/>
              </a:rPr>
              <a:t> </a:t>
            </a:r>
            <a:r>
              <a:rPr sz="3450" spc="-75" baseline="1207" dirty="0">
                <a:latin typeface="Microsoft Sans Serif"/>
                <a:cs typeface="Microsoft Sans Serif"/>
              </a:rPr>
              <a:t>–</a:t>
            </a:r>
            <a:r>
              <a:rPr sz="3450" baseline="1207" dirty="0">
                <a:latin typeface="Microsoft Sans Serif"/>
                <a:cs typeface="Microsoft Sans Serif"/>
              </a:rPr>
              <a:t>	это</a:t>
            </a:r>
            <a:r>
              <a:rPr sz="3450" spc="-60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минтерм</a:t>
            </a:r>
            <a:r>
              <a:rPr sz="3450" spc="-30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для</a:t>
            </a:r>
            <a:r>
              <a:rPr sz="3450" spc="-30" baseline="1207" dirty="0">
                <a:latin typeface="Microsoft Sans Serif"/>
                <a:cs typeface="Microsoft Sans Serif"/>
              </a:rPr>
              <a:t> </a:t>
            </a:r>
            <a:r>
              <a:rPr sz="3450" spc="-15" baseline="1207" dirty="0">
                <a:latin typeface="Microsoft Sans Serif"/>
                <a:cs typeface="Microsoft Sans Serif"/>
              </a:rPr>
              <a:t>функции</a:t>
            </a:r>
            <a:r>
              <a:rPr sz="3450" spc="-22" baseline="1207" dirty="0">
                <a:latin typeface="Microsoft Sans Serif"/>
                <a:cs typeface="Microsoft Sans Serif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переменных</a:t>
            </a:r>
            <a:r>
              <a:rPr sz="3450" spc="89" baseline="1207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A</a:t>
            </a:r>
            <a:r>
              <a:rPr sz="3450" baseline="1207" dirty="0">
                <a:latin typeface="Microsoft Sans Serif"/>
                <a:cs typeface="Microsoft Sans Serif"/>
              </a:rPr>
              <a:t>,</a:t>
            </a:r>
            <a:r>
              <a:rPr sz="3450" spc="-465" baseline="1207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B</a:t>
            </a:r>
            <a:r>
              <a:rPr sz="2750" i="1" spc="-155" dirty="0">
                <a:latin typeface="Times New Roman"/>
                <a:cs typeface="Times New Roman"/>
              </a:rPr>
              <a:t> </a:t>
            </a:r>
            <a:r>
              <a:rPr sz="3450" baseline="1207" dirty="0">
                <a:latin typeface="Microsoft Sans Serif"/>
                <a:cs typeface="Microsoft Sans Serif"/>
              </a:rPr>
              <a:t>и</a:t>
            </a:r>
            <a:r>
              <a:rPr sz="3450" spc="-172" baseline="1207" dirty="0">
                <a:latin typeface="Microsoft Sans Serif"/>
                <a:cs typeface="Microsoft Sans Serif"/>
              </a:rPr>
              <a:t> </a:t>
            </a:r>
            <a:r>
              <a:rPr sz="4125" i="1" spc="-37" baseline="2020" dirty="0">
                <a:latin typeface="Times New Roman"/>
                <a:cs typeface="Times New Roman"/>
              </a:rPr>
              <a:t>C</a:t>
            </a:r>
            <a:r>
              <a:rPr sz="3450" spc="-37" baseline="1207" dirty="0">
                <a:latin typeface="Microsoft Sans Serif"/>
                <a:cs typeface="Microsoft Sans Serif"/>
              </a:rPr>
              <a:t>.</a:t>
            </a:r>
            <a:endParaRPr sz="3450" baseline="1207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30"/>
              </a:spcBef>
              <a:tabLst>
                <a:tab pos="436245" algn="l"/>
                <a:tab pos="4211955" algn="l"/>
              </a:tabLst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3.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	</a:t>
            </a:r>
            <a:r>
              <a:rPr sz="2300" b="1" dirty="0">
                <a:latin typeface="Arial"/>
                <a:cs typeface="Arial"/>
              </a:rPr>
              <a:t>Дизъюнкция</a:t>
            </a:r>
            <a:r>
              <a:rPr sz="2300" b="1" spc="-6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или</a:t>
            </a:r>
            <a:r>
              <a:rPr sz="2300" b="1" spc="-8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сумма</a:t>
            </a:r>
            <a:r>
              <a:rPr sz="2300" b="1" spc="-50" dirty="0">
                <a:latin typeface="Arial"/>
                <a:cs typeface="Arial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операция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«ИЛИ»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над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одним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более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литералами.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817877" y="8101330"/>
            <a:ext cx="15393669" cy="8388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365"/>
              </a:spcBef>
              <a:tabLst>
                <a:tab pos="8357870" algn="l"/>
              </a:tabLst>
            </a:pPr>
            <a:r>
              <a:rPr sz="2300" dirty="0">
                <a:latin typeface="Microsoft Sans Serif"/>
                <a:cs typeface="Microsoft Sans Serif"/>
              </a:rPr>
              <a:t>Макстерм</a:t>
            </a:r>
            <a:r>
              <a:rPr sz="2300" spc="-1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(</a:t>
            </a:r>
            <a:r>
              <a:rPr sz="2300" i="1" dirty="0">
                <a:latin typeface="Arial"/>
                <a:cs typeface="Arial"/>
              </a:rPr>
              <a:t>maxterm</a:t>
            </a:r>
            <a:r>
              <a:rPr sz="2300" dirty="0">
                <a:latin typeface="Microsoft Sans Serif"/>
                <a:cs typeface="Microsoft Sans Serif"/>
              </a:rPr>
              <a:t>,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элементарная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дизъюнктивная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форма)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это</a:t>
            </a:r>
            <a:r>
              <a:rPr sz="2300" spc="-1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сумма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всех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входов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функции.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A</a:t>
            </a:r>
            <a:r>
              <a:rPr sz="2750" i="1" spc="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+</a:t>
            </a:r>
            <a:r>
              <a:rPr sz="2300" spc="-229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B</a:t>
            </a:r>
            <a:r>
              <a:rPr sz="2750" i="1" spc="-235" dirty="0">
                <a:latin typeface="Times New Roman"/>
                <a:cs typeface="Times New Roman"/>
              </a:rPr>
              <a:t> </a:t>
            </a:r>
            <a:r>
              <a:rPr sz="2300" spc="65" dirty="0">
                <a:latin typeface="Microsoft Sans Serif"/>
                <a:cs typeface="Microsoft Sans Serif"/>
              </a:rPr>
              <a:t>+</a:t>
            </a:r>
            <a:r>
              <a:rPr sz="4125" i="1" spc="97" baseline="2020" dirty="0">
                <a:latin typeface="Times New Roman"/>
                <a:cs typeface="Times New Roman"/>
              </a:rPr>
              <a:t>C</a:t>
            </a:r>
            <a:r>
              <a:rPr sz="4125" i="1" spc="-254" baseline="202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является </a:t>
            </a:r>
            <a:r>
              <a:rPr sz="2300" spc="-25" dirty="0">
                <a:latin typeface="Microsoft Sans Serif"/>
                <a:cs typeface="Microsoft Sans Serif"/>
              </a:rPr>
              <a:t>макстермом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функции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переменных</a:t>
            </a:r>
            <a:r>
              <a:rPr sz="2300" spc="90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A</a:t>
            </a:r>
            <a:r>
              <a:rPr sz="2300" dirty="0">
                <a:latin typeface="Microsoft Sans Serif"/>
                <a:cs typeface="Microsoft Sans Serif"/>
              </a:rPr>
              <a:t>,</a:t>
            </a:r>
            <a:r>
              <a:rPr sz="2300" spc="-320" dirty="0">
                <a:latin typeface="Microsoft Sans Serif"/>
                <a:cs typeface="Microsoft Sans Serif"/>
              </a:rPr>
              <a:t> </a:t>
            </a:r>
            <a:r>
              <a:rPr sz="2750" i="1" dirty="0">
                <a:latin typeface="Times New Roman"/>
                <a:cs typeface="Times New Roman"/>
              </a:rPr>
              <a:t>B</a:t>
            </a:r>
            <a:r>
              <a:rPr sz="2750" i="1" spc="-18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4125" i="1" spc="-37" baseline="2020" dirty="0">
                <a:latin typeface="Times New Roman"/>
                <a:cs typeface="Times New Roman"/>
              </a:rPr>
              <a:t>C</a:t>
            </a:r>
            <a:r>
              <a:rPr sz="2300" spc="-25" dirty="0">
                <a:latin typeface="Microsoft Sans Serif"/>
                <a:cs typeface="Microsoft Sans Serif"/>
              </a:rPr>
              <a:t>.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72328" y="10156952"/>
            <a:ext cx="33020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50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Булевы</a:t>
            </a:r>
            <a:r>
              <a:rPr spc="-500" dirty="0"/>
              <a:t> </a:t>
            </a:r>
            <a:r>
              <a:rPr spc="-10" dirty="0"/>
              <a:t>уравнения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26207" y="5230368"/>
            <a:ext cx="4408932" cy="205587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99716" y="9394698"/>
            <a:ext cx="4422140" cy="9632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 marR="53975" indent="-156210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Таблица</a:t>
            </a:r>
            <a:r>
              <a:rPr sz="2050" spc="-5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истинности</a:t>
            </a:r>
            <a:r>
              <a:rPr sz="2050" spc="-6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с</a:t>
            </a:r>
            <a:r>
              <a:rPr sz="2050" spc="-6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несколькими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минтермами,</a:t>
            </a:r>
            <a:r>
              <a:rPr sz="2050" spc="-8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равными</a:t>
            </a:r>
            <a:r>
              <a:rPr sz="2050" spc="-11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ИСТИНЕ,</a:t>
            </a:r>
            <a:endParaRPr sz="2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и</a:t>
            </a:r>
            <a:r>
              <a:rPr sz="2050" spc="-1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ее</a:t>
            </a:r>
            <a:r>
              <a:rPr sz="2050" spc="-1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представление</a:t>
            </a:r>
            <a:r>
              <a:rPr sz="2050" spc="-1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в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виде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 функций</a:t>
            </a:r>
            <a:endParaRPr sz="205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156204" y="7626794"/>
            <a:ext cx="2659380" cy="1321435"/>
            <a:chOff x="3156204" y="7626794"/>
            <a:chExt cx="2659380" cy="132143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56204" y="7680198"/>
              <a:ext cx="2659260" cy="1267967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2648" y="7651242"/>
              <a:ext cx="294132" cy="29337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17720" y="8623554"/>
              <a:ext cx="294132" cy="29489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151882" y="7626794"/>
              <a:ext cx="111125" cy="433070"/>
            </a:xfrm>
            <a:custGeom>
              <a:avLst/>
              <a:gdLst/>
              <a:ahLst/>
              <a:cxnLst/>
              <a:rect l="l" t="t" r="r" b="b"/>
              <a:pathLst>
                <a:path w="111125" h="433070">
                  <a:moveTo>
                    <a:pt x="110698" y="0"/>
                  </a:moveTo>
                  <a:lnTo>
                    <a:pt x="0" y="0"/>
                  </a:lnTo>
                  <a:lnTo>
                    <a:pt x="0" y="432625"/>
                  </a:lnTo>
                  <a:lnTo>
                    <a:pt x="110698" y="432625"/>
                  </a:lnTo>
                  <a:lnTo>
                    <a:pt x="1106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9156192" y="5304282"/>
            <a:ext cx="3225800" cy="1292860"/>
            <a:chOff x="9156192" y="5304282"/>
            <a:chExt cx="3225800" cy="1292860"/>
          </a:xfrm>
        </p:grpSpPr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56192" y="5304282"/>
              <a:ext cx="3225546" cy="129235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319766" y="6277356"/>
              <a:ext cx="294131" cy="294132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75114" y="6806184"/>
            <a:ext cx="2180081" cy="2573274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8895588" y="9553194"/>
            <a:ext cx="425069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2680" marR="5080" indent="-1110615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Произвольная</a:t>
            </a:r>
            <a:r>
              <a:rPr sz="2050" spc="-15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таблица</a:t>
            </a:r>
            <a:r>
              <a:rPr sz="2050" spc="-11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истинности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с тремя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входами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194808" y="7640573"/>
            <a:ext cx="10668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0" dirty="0">
                <a:latin typeface="Microsoft Sans Serif"/>
                <a:cs typeface="Microsoft Sans Serif"/>
              </a:rPr>
              <a:t>,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92397" y="7640573"/>
            <a:ext cx="10668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0" dirty="0">
                <a:latin typeface="Microsoft Sans Serif"/>
                <a:cs typeface="Microsoft Sans Serif"/>
              </a:rPr>
              <a:t>,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56482" y="8555799"/>
            <a:ext cx="110489" cy="431165"/>
          </a:xfrm>
          <a:custGeom>
            <a:avLst/>
            <a:gdLst/>
            <a:ahLst/>
            <a:cxnLst/>
            <a:rect l="l" t="t" r="r" b="b"/>
            <a:pathLst>
              <a:path w="110489" h="431165">
                <a:moveTo>
                  <a:pt x="109940" y="0"/>
                </a:moveTo>
                <a:lnTo>
                  <a:pt x="0" y="0"/>
                </a:lnTo>
                <a:lnTo>
                  <a:pt x="0" y="431101"/>
                </a:lnTo>
                <a:lnTo>
                  <a:pt x="109940" y="431101"/>
                </a:lnTo>
                <a:lnTo>
                  <a:pt x="10994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3899661" y="8569197"/>
            <a:ext cx="10668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50" dirty="0">
                <a:latin typeface="Microsoft Sans Serif"/>
                <a:cs typeface="Microsoft Sans Serif"/>
              </a:rPr>
              <a:t>,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46257" y="5725668"/>
            <a:ext cx="774700" cy="43307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400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200"/>
              </a:spcBef>
            </a:pPr>
            <a:r>
              <a:rPr sz="2300" spc="-25" dirty="0">
                <a:latin typeface="Microsoft Sans Serif"/>
                <a:cs typeface="Microsoft Sans Serif"/>
              </a:rPr>
              <a:t>или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020556" y="5223561"/>
            <a:ext cx="387350" cy="431165"/>
          </a:xfrm>
          <a:custGeom>
            <a:avLst/>
            <a:gdLst/>
            <a:ahLst/>
            <a:cxnLst/>
            <a:rect l="l" t="t" r="r" b="b"/>
            <a:pathLst>
              <a:path w="387350" h="431164">
                <a:moveTo>
                  <a:pt x="386753" y="0"/>
                </a:moveTo>
                <a:lnTo>
                  <a:pt x="0" y="0"/>
                </a:lnTo>
                <a:lnTo>
                  <a:pt x="0" y="431114"/>
                </a:lnTo>
                <a:lnTo>
                  <a:pt x="386753" y="431114"/>
                </a:lnTo>
                <a:lnTo>
                  <a:pt x="38675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372108" y="3153867"/>
            <a:ext cx="16134715" cy="249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300" dirty="0">
                <a:latin typeface="Microsoft Sans Serif"/>
                <a:cs typeface="Microsoft Sans Serif"/>
              </a:rPr>
              <a:t>Булевы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уравнения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используют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переменные,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имеющие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значение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ИСТИНА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ЛОЖЬ,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поэтому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они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идеально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подходят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описания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цифровой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логики.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Конъюнктивная</a:t>
            </a:r>
            <a:r>
              <a:rPr sz="2300" b="1" spc="-6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форма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sz="2300">
              <a:latin typeface="Arial"/>
              <a:cs typeface="Arial"/>
            </a:endParaRPr>
          </a:p>
          <a:p>
            <a:pPr marR="467359" algn="ctr">
              <a:lnSpc>
                <a:spcPct val="100000"/>
              </a:lnSpc>
            </a:pPr>
            <a:r>
              <a:rPr sz="2300" i="1" spc="-50" dirty="0">
                <a:latin typeface="Arial"/>
                <a:cs typeface="Arial"/>
              </a:rPr>
              <a:t>Y</a:t>
            </a:r>
            <a:endParaRPr sz="23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711690" y="6224828"/>
            <a:ext cx="388620" cy="431165"/>
          </a:xfrm>
          <a:custGeom>
            <a:avLst/>
            <a:gdLst/>
            <a:ahLst/>
            <a:cxnLst/>
            <a:rect l="l" t="t" r="r" b="b"/>
            <a:pathLst>
              <a:path w="388620" h="431165">
                <a:moveTo>
                  <a:pt x="388264" y="0"/>
                </a:moveTo>
                <a:lnTo>
                  <a:pt x="0" y="0"/>
                </a:lnTo>
                <a:lnTo>
                  <a:pt x="0" y="431114"/>
                </a:lnTo>
                <a:lnTo>
                  <a:pt x="388264" y="431114"/>
                </a:lnTo>
                <a:lnTo>
                  <a:pt x="38826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775952" y="6235700"/>
            <a:ext cx="22034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i="1" spc="-50" dirty="0">
                <a:latin typeface="Arial"/>
                <a:cs typeface="Arial"/>
              </a:rPr>
              <a:t>Y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254" dirty="0"/>
              <a:t>Булевы</a:t>
            </a:r>
            <a:r>
              <a:rPr spc="-500" dirty="0"/>
              <a:t> </a:t>
            </a:r>
            <a:r>
              <a:rPr spc="-10" dirty="0"/>
              <a:t>уравнения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108" y="3153867"/>
            <a:ext cx="16134715" cy="1616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</a:pPr>
            <a:r>
              <a:rPr sz="2300" dirty="0">
                <a:latin typeface="Microsoft Sans Serif"/>
                <a:cs typeface="Microsoft Sans Serif"/>
              </a:rPr>
              <a:t>Булевы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уравнения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используют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переменные,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имеющие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значение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ИСТИНА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или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ЛОЖЬ,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поэтому</a:t>
            </a:r>
            <a:r>
              <a:rPr sz="2300" spc="-12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они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идеально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подходят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описания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цифровой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логики.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8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Дизъюнктивная</a:t>
            </a:r>
            <a:r>
              <a:rPr sz="2300" b="1" spc="-13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форма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38466" y="4904994"/>
            <a:ext cx="5146548" cy="2542031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740140" y="7843266"/>
            <a:ext cx="2687320" cy="1281430"/>
            <a:chOff x="8740140" y="7843266"/>
            <a:chExt cx="2687320" cy="128143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40140" y="7843266"/>
              <a:ext cx="2687324" cy="128092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2824" y="7879842"/>
              <a:ext cx="342900" cy="30784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950702" y="7847076"/>
              <a:ext cx="371855" cy="34290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7961376" y="9411461"/>
            <a:ext cx="4323080" cy="650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Таблица</a:t>
            </a:r>
            <a:r>
              <a:rPr sz="2050" spc="-5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истинности</a:t>
            </a:r>
            <a:r>
              <a:rPr sz="2050" spc="-5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с</a:t>
            </a:r>
            <a:r>
              <a:rPr sz="2050" spc="-6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несколькими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макстермами,</a:t>
            </a:r>
            <a:r>
              <a:rPr sz="2050" spc="-10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равными</a:t>
            </a:r>
            <a:r>
              <a:rPr sz="2050" spc="-12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ИСТИНЕ,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09559" y="10056662"/>
            <a:ext cx="442214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00"/>
              </a:lnSpc>
            </a:pP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и</a:t>
            </a:r>
            <a:r>
              <a:rPr sz="2050" spc="-1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ее</a:t>
            </a:r>
            <a:r>
              <a:rPr sz="2050" spc="-1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представление</a:t>
            </a:r>
            <a:r>
              <a:rPr sz="2050" spc="-1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в</a:t>
            </a:r>
            <a:r>
              <a:rPr sz="2050" spc="-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виде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 функций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383758" y="10184597"/>
            <a:ext cx="307340" cy="3517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40"/>
              </a:lnSpc>
            </a:pPr>
            <a:r>
              <a:rPr sz="2300" b="1" spc="-140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endParaRPr sz="2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Булева</a:t>
            </a:r>
            <a:r>
              <a:rPr spc="-325" dirty="0"/>
              <a:t> </a:t>
            </a:r>
            <a:r>
              <a:rPr spc="-10" dirty="0"/>
              <a:t>алгебра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108" y="3886403"/>
            <a:ext cx="16878300" cy="16249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100"/>
              </a:spcBef>
            </a:pPr>
            <a:r>
              <a:rPr sz="2300" dirty="0">
                <a:latin typeface="Microsoft Sans Serif"/>
                <a:cs typeface="Microsoft Sans Serif"/>
              </a:rPr>
              <a:t>Булева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алгебра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основана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наборе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аксиом,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которые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мы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считаем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верными.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Аксиомы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являются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недоказуемыми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том </a:t>
            </a:r>
            <a:r>
              <a:rPr sz="2300" dirty="0">
                <a:latin typeface="Microsoft Sans Serif"/>
                <a:cs typeface="Microsoft Sans Serif"/>
              </a:rPr>
              <a:t>смысле,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что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определение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не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может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быть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доказано.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помощью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этих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аксиом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мы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доказываем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все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теоремы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булевой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алгебры.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09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Аксиомы</a:t>
            </a:r>
            <a:r>
              <a:rPr sz="2300" b="1" spc="-12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булевой</a:t>
            </a:r>
            <a:r>
              <a:rPr sz="2300" b="1" spc="-8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алгебры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01952" y="5934583"/>
          <a:ext cx="16856708" cy="331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Аксиома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dirty="0">
                          <a:latin typeface="Arial"/>
                          <a:cs typeface="Arial"/>
                        </a:rPr>
                        <a:t>Двойственная</a:t>
                      </a:r>
                      <a:r>
                        <a:rPr sz="2300" b="1" spc="-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00" b="1" spc="-10" dirty="0">
                          <a:latin typeface="Arial"/>
                          <a:cs typeface="Arial"/>
                        </a:rPr>
                        <a:t>аксиома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Название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если</a:t>
                      </a: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А1'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если</a:t>
                      </a: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≠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Бинарное</a:t>
                      </a:r>
                      <a:r>
                        <a:rPr sz="2150" spc="-1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поле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А2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А2'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НЕ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А3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А3'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И/ИЛИ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А4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А4'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И/ИЛИ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А5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А5'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И/ИЛИ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053203" y="721728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785472" y="7217283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677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Булева</a:t>
            </a:r>
            <a:r>
              <a:rPr spc="-325" dirty="0"/>
              <a:t> </a:t>
            </a:r>
            <a:r>
              <a:rPr spc="-10" dirty="0"/>
              <a:t>алгебра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108" y="4086860"/>
            <a:ext cx="595693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Булевы</a:t>
            </a:r>
            <a:r>
              <a:rPr sz="2300" b="1" spc="-5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теоремы</a:t>
            </a:r>
            <a:r>
              <a:rPr sz="2300" b="1" spc="-5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для</a:t>
            </a:r>
            <a:r>
              <a:rPr sz="2300" b="1" spc="-6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одной</a:t>
            </a:r>
            <a:r>
              <a:rPr sz="2300" b="1" spc="-7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переменной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01952" y="5065522"/>
          <a:ext cx="16856708" cy="33185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8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Теорема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dirty="0">
                          <a:latin typeface="Arial"/>
                          <a:cs typeface="Arial"/>
                        </a:rPr>
                        <a:t>Двойственная</a:t>
                      </a:r>
                      <a:r>
                        <a:rPr sz="2300" b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00" b="1" spc="-10" dirty="0">
                          <a:latin typeface="Arial"/>
                          <a:cs typeface="Arial"/>
                        </a:rPr>
                        <a:t>теорема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1394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Название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Т1'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Идентичность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Т2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Т2'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Нулевой</a:t>
                      </a:r>
                      <a:r>
                        <a:rPr sz="2150" spc="-1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элемент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Т3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Т3'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Идемпотентность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Т4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Инволюция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Т5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Дополнительность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2042267" y="798233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6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185784" y="7413117"/>
            <a:ext cx="136525" cy="35560"/>
          </a:xfrm>
          <a:custGeom>
            <a:avLst/>
            <a:gdLst/>
            <a:ahLst/>
            <a:cxnLst/>
            <a:rect l="l" t="t" r="r" b="b"/>
            <a:pathLst>
              <a:path w="136525" h="35559">
                <a:moveTo>
                  <a:pt x="0" y="35432"/>
                </a:moveTo>
                <a:lnTo>
                  <a:pt x="136017" y="35432"/>
                </a:lnTo>
              </a:path>
              <a:path w="136525" h="35559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285613" y="7982331"/>
            <a:ext cx="137160" cy="0"/>
          </a:xfrm>
          <a:custGeom>
            <a:avLst/>
            <a:gdLst/>
            <a:ahLst/>
            <a:cxnLst/>
            <a:rect l="l" t="t" r="r" b="b"/>
            <a:pathLst>
              <a:path w="137160">
                <a:moveTo>
                  <a:pt x="0" y="0"/>
                </a:moveTo>
                <a:lnTo>
                  <a:pt x="13677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Булева</a:t>
            </a:r>
            <a:r>
              <a:rPr spc="-325" dirty="0"/>
              <a:t> </a:t>
            </a:r>
            <a:r>
              <a:rPr spc="-10" dirty="0"/>
              <a:t>алгебра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108" y="3680714"/>
            <a:ext cx="566928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Теоремы</a:t>
            </a:r>
            <a:r>
              <a:rPr sz="2300" b="1" spc="-114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с</a:t>
            </a:r>
            <a:r>
              <a:rPr sz="2300" b="1" spc="-11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несколькими</a:t>
            </a:r>
            <a:r>
              <a:rPr sz="2300" b="1" spc="-8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переменными</a:t>
            </a:r>
            <a:endParaRPr sz="23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401952" y="4659630"/>
          <a:ext cx="16856708" cy="46843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49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4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0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9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839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Теорема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00" b="1" dirty="0">
                          <a:latin typeface="Arial"/>
                          <a:cs typeface="Arial"/>
                        </a:rPr>
                        <a:t>Двойственная</a:t>
                      </a:r>
                      <a:r>
                        <a:rPr sz="2300" b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300" b="1" spc="-10" dirty="0">
                          <a:latin typeface="Arial"/>
                          <a:cs typeface="Arial"/>
                        </a:rPr>
                        <a:t>теорема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1394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Название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Т6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Т6'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Коммутативность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Т7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Т7'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Ассоциативность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Т8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Т8'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Дистрибутивность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Т9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Т9'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Поглощение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Т10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Т10'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Склеивание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Т11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35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  <a:p>
                      <a:pPr marL="635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D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Т11'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35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C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D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=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С)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D)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1855"/>
                        </a:spcBef>
                      </a:pP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Согласованность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2355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Т12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00" spc="315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37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spc="-97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…</a:t>
                      </a:r>
                      <a:r>
                        <a:rPr sz="2150" spc="3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00" spc="330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30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spc="-240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75" dirty="0">
                          <a:latin typeface="Microsoft Sans Serif"/>
                          <a:cs typeface="Microsoft Sans Serif"/>
                        </a:rPr>
                        <a:t>…) 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20" dirty="0">
                          <a:latin typeface="Microsoft Sans Serif"/>
                          <a:cs typeface="Microsoft Sans Serif"/>
                        </a:rPr>
                        <a:t>Т12'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00" spc="315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30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29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spc="-104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…</a:t>
                      </a:r>
                      <a:r>
                        <a:rPr sz="2150" spc="3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=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2100" spc="337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2100" spc="345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∙</a:t>
                      </a:r>
                      <a:r>
                        <a:rPr sz="215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0" dirty="0">
                          <a:latin typeface="Arial"/>
                          <a:cs typeface="Arial"/>
                        </a:rPr>
                        <a:t>B</a:t>
                      </a:r>
                      <a:r>
                        <a:rPr sz="2150" i="1" spc="-39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00" baseline="-15873" dirty="0">
                          <a:latin typeface="Microsoft Sans Serif"/>
                          <a:cs typeface="Microsoft Sans Serif"/>
                        </a:rPr>
                        <a:t>2</a:t>
                      </a:r>
                      <a:r>
                        <a:rPr sz="2100" spc="-240" baseline="-15873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75" dirty="0">
                          <a:latin typeface="Microsoft Sans Serif"/>
                          <a:cs typeface="Microsoft Sans Serif"/>
                        </a:rPr>
                        <a:t>…) 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8279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30" dirty="0">
                          <a:latin typeface="Microsoft Sans Serif"/>
                          <a:cs typeface="Microsoft Sans Serif"/>
                        </a:rPr>
                        <a:t>Теорема</a:t>
                      </a:r>
                      <a:r>
                        <a:rPr sz="215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де</a:t>
                      </a:r>
                      <a:r>
                        <a:rPr sz="215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Моргана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5811392" y="756932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588620" y="756932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975478" y="8090535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675757" y="847991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6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658981" y="8090535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2452984" y="847991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499484" y="8940927"/>
            <a:ext cx="1535430" cy="0"/>
          </a:xfrm>
          <a:custGeom>
            <a:avLst/>
            <a:gdLst/>
            <a:ahLst/>
            <a:cxnLst/>
            <a:rect l="l" t="t" r="r" b="b"/>
            <a:pathLst>
              <a:path w="1535429">
                <a:moveTo>
                  <a:pt x="0" y="0"/>
                </a:moveTo>
                <a:lnTo>
                  <a:pt x="1535302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466969" y="8940927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5">
                <a:moveTo>
                  <a:pt x="0" y="0"/>
                </a:moveTo>
                <a:lnTo>
                  <a:pt x="22923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042278" y="8940927"/>
            <a:ext cx="230504" cy="0"/>
          </a:xfrm>
          <a:custGeom>
            <a:avLst/>
            <a:gdLst/>
            <a:ahLst/>
            <a:cxnLst/>
            <a:rect l="l" t="t" r="r" b="b"/>
            <a:pathLst>
              <a:path w="230504">
                <a:moveTo>
                  <a:pt x="0" y="0"/>
                </a:moveTo>
                <a:lnTo>
                  <a:pt x="22999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655689" y="8940927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4">
                <a:moveTo>
                  <a:pt x="0" y="0"/>
                </a:moveTo>
                <a:lnTo>
                  <a:pt x="22923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0191368" y="8940927"/>
            <a:ext cx="1696720" cy="0"/>
          </a:xfrm>
          <a:custGeom>
            <a:avLst/>
            <a:gdLst/>
            <a:ahLst/>
            <a:cxnLst/>
            <a:rect l="l" t="t" r="r" b="b"/>
            <a:pathLst>
              <a:path w="1696720">
                <a:moveTo>
                  <a:pt x="0" y="0"/>
                </a:moveTo>
                <a:lnTo>
                  <a:pt x="1696592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346305" y="8940927"/>
            <a:ext cx="230504" cy="0"/>
          </a:xfrm>
          <a:custGeom>
            <a:avLst/>
            <a:gdLst/>
            <a:ahLst/>
            <a:cxnLst/>
            <a:rect l="l" t="t" r="r" b="b"/>
            <a:pathLst>
              <a:path w="230504">
                <a:moveTo>
                  <a:pt x="0" y="0"/>
                </a:moveTo>
                <a:lnTo>
                  <a:pt x="22999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2865227" y="8940927"/>
            <a:ext cx="230504" cy="0"/>
          </a:xfrm>
          <a:custGeom>
            <a:avLst/>
            <a:gdLst/>
            <a:ahLst/>
            <a:cxnLst/>
            <a:rect l="l" t="t" r="r" b="b"/>
            <a:pathLst>
              <a:path w="230505">
                <a:moveTo>
                  <a:pt x="0" y="0"/>
                </a:moveTo>
                <a:lnTo>
                  <a:pt x="229996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387959" y="8940927"/>
            <a:ext cx="229235" cy="0"/>
          </a:xfrm>
          <a:custGeom>
            <a:avLst/>
            <a:gdLst/>
            <a:ahLst/>
            <a:cxnLst/>
            <a:rect l="l" t="t" r="r" b="b"/>
            <a:pathLst>
              <a:path w="229234">
                <a:moveTo>
                  <a:pt x="0" y="0"/>
                </a:moveTo>
                <a:lnTo>
                  <a:pt x="229234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Булева</a:t>
            </a:r>
            <a:r>
              <a:rPr spc="-325" dirty="0"/>
              <a:t> </a:t>
            </a:r>
            <a:r>
              <a:rPr spc="-10" dirty="0"/>
              <a:t>алгебра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72108" y="3275584"/>
            <a:ext cx="687324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35" dirty="0">
                <a:latin typeface="Arial"/>
                <a:cs typeface="Arial"/>
              </a:rPr>
              <a:t>Эквивалентные</a:t>
            </a:r>
            <a:r>
              <a:rPr sz="2650" b="1" spc="-155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по</a:t>
            </a:r>
            <a:r>
              <a:rPr sz="2650" b="1" spc="-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де</a:t>
            </a:r>
            <a:r>
              <a:rPr sz="2650" b="1" spc="-70" dirty="0">
                <a:latin typeface="Arial"/>
                <a:cs typeface="Arial"/>
              </a:rPr>
              <a:t> </a:t>
            </a:r>
            <a:r>
              <a:rPr sz="2650" b="1" dirty="0">
                <a:latin typeface="Arial"/>
                <a:cs typeface="Arial"/>
              </a:rPr>
              <a:t>Моргану</a:t>
            </a:r>
            <a:r>
              <a:rPr sz="2650" b="1" spc="-9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элементы</a:t>
            </a:r>
            <a:endParaRPr sz="2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04609" y="4581398"/>
            <a:ext cx="86106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0" dirty="0">
                <a:solidFill>
                  <a:srgbClr val="6FA200"/>
                </a:solidFill>
                <a:latin typeface="Arial"/>
                <a:cs typeface="Arial"/>
              </a:rPr>
              <a:t>NAND</a:t>
            </a:r>
            <a:endParaRPr sz="23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528806" y="4581398"/>
            <a:ext cx="66865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NOR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11596" y="5261610"/>
            <a:ext cx="2092452" cy="454304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86109" y="5286756"/>
            <a:ext cx="2149602" cy="457123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0" dirty="0"/>
              <a:t>Булева</a:t>
            </a:r>
            <a:r>
              <a:rPr spc="-325" dirty="0"/>
              <a:t> </a:t>
            </a:r>
            <a:r>
              <a:rPr spc="-10" dirty="0"/>
              <a:t>алгебра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8446643" y="3384677"/>
          <a:ext cx="8173084" cy="2774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00" b="1" spc="-25" dirty="0">
                          <a:latin typeface="Arial"/>
                          <a:cs typeface="Arial"/>
                        </a:rPr>
                        <a:t>Шаг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4569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Выражение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7090">
                        <a:lnSpc>
                          <a:spcPct val="100000"/>
                        </a:lnSpc>
                        <a:spcBef>
                          <a:spcPts val="860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Объяснение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2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ABC</a:t>
                      </a:r>
                      <a:r>
                        <a:rPr sz="215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ABC</a:t>
                      </a:r>
                      <a:r>
                        <a:rPr sz="215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ABC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BC</a:t>
                      </a:r>
                      <a:r>
                        <a:rPr sz="215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150" i="1" spc="-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0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-9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ABC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Т8: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дистрибутивность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BС</a:t>
                      </a:r>
                      <a:r>
                        <a:rPr sz="215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(1)</a:t>
                      </a:r>
                      <a:r>
                        <a:rPr sz="215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ABC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Т5: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дополнительность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BС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ABC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Т1: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идентичность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705607" y="4500880"/>
            <a:ext cx="3757295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30" dirty="0">
                <a:latin typeface="Arial"/>
                <a:cs typeface="Arial"/>
              </a:rPr>
              <a:t>Упрощение</a:t>
            </a:r>
            <a:r>
              <a:rPr sz="2650" b="1" spc="-120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уравнений</a:t>
            </a:r>
            <a:endParaRPr sz="2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5607" y="8270748"/>
            <a:ext cx="4405630" cy="429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50" b="1" spc="-45" dirty="0">
                <a:latin typeface="Arial"/>
                <a:cs typeface="Arial"/>
              </a:rPr>
              <a:t>Улучшенная</a:t>
            </a:r>
            <a:r>
              <a:rPr sz="2650" b="1" spc="-95" dirty="0">
                <a:latin typeface="Arial"/>
                <a:cs typeface="Arial"/>
              </a:rPr>
              <a:t> </a:t>
            </a:r>
            <a:r>
              <a:rPr sz="2650" b="1" spc="-10" dirty="0">
                <a:latin typeface="Arial"/>
                <a:cs typeface="Arial"/>
              </a:rPr>
              <a:t>минимизация</a:t>
            </a:r>
            <a:endParaRPr sz="265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544431" y="41250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725025" y="41250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906381" y="41250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596753" y="4125087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677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0778108" y="41250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445620" y="41250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9544431" y="467525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725025" y="467525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083165" y="467525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6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309222" y="4675251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677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9544431" y="520560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9725025" y="520560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544431" y="57633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9725025" y="57633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0809351" y="520560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0412348" y="576338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8446643" y="6886067"/>
          <a:ext cx="8173084" cy="3317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6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0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45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817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25" dirty="0">
                          <a:latin typeface="Arial"/>
                          <a:cs typeface="Arial"/>
                        </a:rPr>
                        <a:t>Шаг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4569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Выражение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470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sz="2300" b="1" spc="-10" dirty="0">
                          <a:latin typeface="Arial"/>
                          <a:cs typeface="Arial"/>
                        </a:rPr>
                        <a:t>Объяснение</a:t>
                      </a:r>
                      <a:endParaRPr sz="2300">
                        <a:latin typeface="Arial"/>
                        <a:cs typeface="Arial"/>
                      </a:endParaRPr>
                    </a:p>
                  </a:txBody>
                  <a:tcPr marL="0" marR="0" marT="1098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ABC</a:t>
                      </a:r>
                      <a:r>
                        <a:rPr sz="215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ABC</a:t>
                      </a:r>
                      <a:r>
                        <a:rPr sz="2150" i="1" spc="-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ABC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39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ABC</a:t>
                      </a:r>
                      <a:r>
                        <a:rPr sz="215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ABC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spc="-10" dirty="0">
                          <a:latin typeface="Arial"/>
                          <a:cs typeface="Arial"/>
                        </a:rPr>
                        <a:t>ABC+</a:t>
                      </a:r>
                      <a:r>
                        <a:rPr sz="2150" i="1" spc="-1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ABC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Т3: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идемпотентность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2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BC</a:t>
                      </a:r>
                      <a:r>
                        <a:rPr sz="2150" i="1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150" i="1" spc="-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114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AB</a:t>
                      </a:r>
                      <a:r>
                        <a:rPr sz="215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2150" i="1" spc="-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С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Т8: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дистрибутивность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195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3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45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BС</a:t>
                      </a:r>
                      <a:r>
                        <a:rPr sz="2150" i="1" spc="-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(1)</a:t>
                      </a:r>
                      <a:r>
                        <a:rPr sz="215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i="1" dirty="0">
                          <a:latin typeface="Arial"/>
                          <a:cs typeface="Arial"/>
                        </a:rPr>
                        <a:t>AB</a:t>
                      </a:r>
                      <a:r>
                        <a:rPr sz="2150" i="1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spc="-25" dirty="0">
                          <a:latin typeface="Microsoft Sans Serif"/>
                          <a:cs typeface="Microsoft Sans Serif"/>
                        </a:rPr>
                        <a:t>(1)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46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Т5: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дополнительность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6985" algn="ctr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spc="-50" dirty="0">
                          <a:latin typeface="Microsoft Sans Serif"/>
                          <a:cs typeface="Microsoft Sans Serif"/>
                        </a:rPr>
                        <a:t>4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750"/>
                        </a:spcBef>
                      </a:pPr>
                      <a:r>
                        <a:rPr sz="2150" i="1" dirty="0">
                          <a:latin typeface="Arial"/>
                          <a:cs typeface="Arial"/>
                        </a:rPr>
                        <a:t>BС</a:t>
                      </a:r>
                      <a:r>
                        <a:rPr sz="2150" i="1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+ </a:t>
                      </a:r>
                      <a:r>
                        <a:rPr sz="2150" i="1" spc="-25" dirty="0">
                          <a:latin typeface="Arial"/>
                          <a:cs typeface="Arial"/>
                        </a:rPr>
                        <a:t>AB</a:t>
                      </a:r>
                      <a:endParaRPr sz="2150">
                        <a:latin typeface="Arial"/>
                        <a:cs typeface="Arial"/>
                      </a:endParaRPr>
                    </a:p>
                  </a:txBody>
                  <a:tcPr marL="0" marR="0" marT="952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>
                        <a:lnSpc>
                          <a:spcPct val="100000"/>
                        </a:lnSpc>
                        <a:spcBef>
                          <a:spcPts val="755"/>
                        </a:spcBef>
                      </a:pPr>
                      <a:r>
                        <a:rPr sz="2150" dirty="0">
                          <a:latin typeface="Microsoft Sans Serif"/>
                          <a:cs typeface="Microsoft Sans Serif"/>
                        </a:rPr>
                        <a:t>Т1:</a:t>
                      </a:r>
                      <a:r>
                        <a:rPr sz="215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150" spc="-10" dirty="0">
                          <a:latin typeface="Microsoft Sans Serif"/>
                          <a:cs typeface="Microsoft Sans Serif"/>
                        </a:rPr>
                        <a:t>идентичность</a:t>
                      </a:r>
                      <a:endParaRPr sz="215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8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object 24"/>
          <p:cNvSpPr/>
          <p:nvPr/>
        </p:nvSpPr>
        <p:spPr>
          <a:xfrm>
            <a:off x="9544431" y="76158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725025" y="76158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9906381" y="76158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0586084" y="76158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0766679" y="76158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1445620" y="761580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9544431" y="815606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9725025" y="815606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9906381" y="8156067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0586084" y="815682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0766679" y="815682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1446382" y="815682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1627739" y="815682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6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2224384" y="8156829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9544431" y="8696325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9725025" y="8696325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544431" y="925487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9725025" y="925487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9544431" y="980808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9725025" y="980808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0412348" y="9808083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0809351" y="9254871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0083165" y="8696325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6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1309222" y="8696325"/>
            <a:ext cx="137160" cy="0"/>
          </a:xfrm>
          <a:custGeom>
            <a:avLst/>
            <a:gdLst/>
            <a:ahLst/>
            <a:cxnLst/>
            <a:rect l="l" t="t" r="r" b="b"/>
            <a:pathLst>
              <a:path w="137159">
                <a:moveTo>
                  <a:pt x="0" y="0"/>
                </a:moveTo>
                <a:lnTo>
                  <a:pt x="136778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1658981" y="8696325"/>
            <a:ext cx="136525" cy="0"/>
          </a:xfrm>
          <a:custGeom>
            <a:avLst/>
            <a:gdLst/>
            <a:ahLst/>
            <a:cxnLst/>
            <a:rect l="l" t="t" r="r" b="b"/>
            <a:pathLst>
              <a:path w="136525">
                <a:moveTo>
                  <a:pt x="0" y="0"/>
                </a:moveTo>
                <a:lnTo>
                  <a:pt x="136017" y="0"/>
                </a:lnTo>
              </a:path>
            </a:pathLst>
          </a:custGeom>
          <a:ln w="1600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385028" y="10156952"/>
            <a:ext cx="31305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125" dirty="0">
                <a:solidFill>
                  <a:srgbClr val="FFFFFF"/>
                </a:solidFill>
                <a:latin typeface="Arial"/>
                <a:cs typeface="Arial"/>
              </a:rPr>
              <a:t>21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7508" y="552450"/>
            <a:ext cx="6355080" cy="8559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Логические</a:t>
            </a:r>
            <a:r>
              <a:rPr spc="-275" dirty="0"/>
              <a:t> </a:t>
            </a:r>
            <a:r>
              <a:rPr spc="-45" dirty="0"/>
              <a:t>схемы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944108" y="10018014"/>
            <a:ext cx="7505700" cy="338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Трехвходовый</a:t>
            </a:r>
            <a:r>
              <a:rPr sz="2050" spc="-7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элемент</a:t>
            </a:r>
            <a:r>
              <a:rPr sz="2050" spc="-8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XOR:</a:t>
            </a:r>
            <a:r>
              <a:rPr sz="2050" spc="-9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функциональная</a:t>
            </a:r>
            <a:r>
              <a:rPr sz="2050" spc="-10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спецификация</a:t>
            </a:r>
            <a:endParaRPr sz="205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22314" y="4539996"/>
            <a:ext cx="6866382" cy="512140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36214" y="3108909"/>
            <a:ext cx="1209865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100"/>
              </a:spcBef>
              <a:tabLst>
                <a:tab pos="3751579" algn="l"/>
              </a:tabLst>
            </a:pPr>
            <a:r>
              <a:rPr sz="2300" b="1" dirty="0">
                <a:latin typeface="Arial"/>
                <a:cs typeface="Arial"/>
              </a:rPr>
              <a:t>Принципиальная</a:t>
            </a:r>
            <a:r>
              <a:rPr sz="2300" b="1" spc="-75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схема</a:t>
            </a:r>
            <a:r>
              <a:rPr sz="2300" b="1" spc="-85" dirty="0">
                <a:latin typeface="Arial"/>
                <a:cs typeface="Arial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это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изображение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цифровой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схемы,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показывающее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элементы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соединяющие</a:t>
            </a:r>
            <a:r>
              <a:rPr sz="2300" spc="-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их</a:t>
            </a:r>
            <a:r>
              <a:rPr sz="2300" spc="-3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проводники.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88157" y="3018282"/>
            <a:ext cx="0" cy="1336040"/>
          </a:xfrm>
          <a:custGeom>
            <a:avLst/>
            <a:gdLst/>
            <a:ahLst/>
            <a:cxnLst/>
            <a:rect l="l" t="t" r="r" b="b"/>
            <a:pathLst>
              <a:path h="1336039">
                <a:moveTo>
                  <a:pt x="0" y="0"/>
                </a:moveTo>
                <a:lnTo>
                  <a:pt x="0" y="1336040"/>
                </a:lnTo>
              </a:path>
            </a:pathLst>
          </a:custGeom>
          <a:ln w="62484">
            <a:solidFill>
              <a:srgbClr val="80B7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308850" y="10350793"/>
            <a:ext cx="4798060" cy="320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400"/>
              </a:lnSpc>
            </a:pP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и</a:t>
            </a:r>
            <a:r>
              <a:rPr sz="2050" spc="-5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реализация</a:t>
            </a:r>
            <a:r>
              <a:rPr sz="2050" spc="-4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с</a:t>
            </a:r>
            <a:r>
              <a:rPr sz="2050" spc="-5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двумя</a:t>
            </a:r>
            <a:r>
              <a:rPr sz="2050" spc="-4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уровнями</a:t>
            </a:r>
            <a:r>
              <a:rPr sz="2050" spc="-8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логики</a:t>
            </a:r>
            <a:endParaRPr sz="2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2132076" y="2952750"/>
            <a:ext cx="14934565" cy="1210310"/>
          </a:xfrm>
          <a:custGeom>
            <a:avLst/>
            <a:gdLst/>
            <a:ahLst/>
            <a:cxnLst/>
            <a:rect l="l" t="t" r="r" b="b"/>
            <a:pathLst>
              <a:path w="14934565" h="1210310">
                <a:moveTo>
                  <a:pt x="14829789" y="0"/>
                </a:moveTo>
                <a:lnTo>
                  <a:pt x="104267" y="0"/>
                </a:lnTo>
                <a:lnTo>
                  <a:pt x="63754" y="8254"/>
                </a:lnTo>
                <a:lnTo>
                  <a:pt x="30606" y="30479"/>
                </a:lnTo>
                <a:lnTo>
                  <a:pt x="8255" y="63626"/>
                </a:lnTo>
                <a:lnTo>
                  <a:pt x="0" y="104267"/>
                </a:lnTo>
                <a:lnTo>
                  <a:pt x="0" y="1105534"/>
                </a:lnTo>
                <a:lnTo>
                  <a:pt x="8255" y="1146048"/>
                </a:lnTo>
                <a:lnTo>
                  <a:pt x="30606" y="1179195"/>
                </a:lnTo>
                <a:lnTo>
                  <a:pt x="63754" y="1201547"/>
                </a:lnTo>
                <a:lnTo>
                  <a:pt x="104267" y="1209802"/>
                </a:lnTo>
                <a:lnTo>
                  <a:pt x="14829789" y="1209802"/>
                </a:lnTo>
                <a:lnTo>
                  <a:pt x="14870430" y="1201547"/>
                </a:lnTo>
                <a:lnTo>
                  <a:pt x="14903577" y="1179195"/>
                </a:lnTo>
                <a:lnTo>
                  <a:pt x="14925929" y="1146048"/>
                </a:lnTo>
                <a:lnTo>
                  <a:pt x="14934056" y="1105534"/>
                </a:lnTo>
                <a:lnTo>
                  <a:pt x="14934056" y="104267"/>
                </a:lnTo>
                <a:lnTo>
                  <a:pt x="14925929" y="63626"/>
                </a:lnTo>
                <a:lnTo>
                  <a:pt x="14903577" y="30479"/>
                </a:lnTo>
                <a:lnTo>
                  <a:pt x="14870430" y="8254"/>
                </a:lnTo>
                <a:lnTo>
                  <a:pt x="14829789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Карты</a:t>
            </a:r>
            <a:r>
              <a:rPr spc="-235" dirty="0"/>
              <a:t> </a:t>
            </a:r>
            <a:r>
              <a:rPr spc="50" dirty="0"/>
              <a:t>Карно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837942" y="3371596"/>
            <a:ext cx="13555344" cy="2286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spc="-20" dirty="0">
                <a:latin typeface="Microsoft Sans Serif"/>
                <a:cs typeface="Microsoft Sans Serif"/>
              </a:rPr>
              <a:t>Карты</a:t>
            </a:r>
            <a:r>
              <a:rPr sz="2300" spc="-1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Карно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представляют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собой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наглядный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метод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упрощения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булевых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уравнений.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213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 marR="5080">
              <a:lnSpc>
                <a:spcPct val="120000"/>
              </a:lnSpc>
              <a:spcBef>
                <a:spcPts val="5"/>
              </a:spcBef>
            </a:pPr>
            <a:r>
              <a:rPr sz="2300" dirty="0">
                <a:latin typeface="Microsoft Sans Serif"/>
                <a:cs typeface="Microsoft Sans Serif"/>
              </a:rPr>
              <a:t>Они</a:t>
            </a:r>
            <a:r>
              <a:rPr sz="2300" spc="-114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были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изобретены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1953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70" dirty="0">
                <a:latin typeface="Microsoft Sans Serif"/>
                <a:cs typeface="Microsoft Sans Serif"/>
              </a:rPr>
              <a:t>г.</a:t>
            </a:r>
            <a:r>
              <a:rPr sz="2300" spc="-1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Морисом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Карно,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spc="-30" dirty="0">
                <a:latin typeface="Microsoft Sans Serif"/>
                <a:cs typeface="Microsoft Sans Serif"/>
              </a:rPr>
              <a:t>телекоммуникационным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инженером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из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фирмы</a:t>
            </a:r>
            <a:r>
              <a:rPr sz="2300" spc="-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Bell </a:t>
            </a:r>
            <a:r>
              <a:rPr sz="2300" dirty="0">
                <a:latin typeface="Microsoft Sans Serif"/>
                <a:cs typeface="Microsoft Sans Serif"/>
              </a:rPr>
              <a:t>Labs.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Карты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Карно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очень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удобны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случаях,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когда</a:t>
            </a:r>
            <a:r>
              <a:rPr sz="2300" spc="-114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уравнение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содержит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до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четырех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переменных.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915"/>
              </a:spcBef>
            </a:pPr>
            <a:r>
              <a:rPr sz="2300" dirty="0">
                <a:latin typeface="Microsoft Sans Serif"/>
                <a:cs typeface="Microsoft Sans Serif"/>
              </a:rPr>
              <a:t>Но,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что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более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важно,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они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дают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понимание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сути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при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манипулировании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логическими</a:t>
            </a:r>
            <a:r>
              <a:rPr sz="2300" spc="-6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выражениями.</a:t>
            </a:r>
            <a:endParaRPr sz="2300">
              <a:latin typeface="Microsoft Sans Serif"/>
              <a:cs typeface="Microsoft Sans Serif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4508" y="6147054"/>
            <a:ext cx="11512296" cy="3150108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729735" y="9032748"/>
            <a:ext cx="11984990" cy="879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97305">
              <a:lnSpc>
                <a:spcPct val="100000"/>
              </a:lnSpc>
              <a:spcBef>
                <a:spcPts val="100"/>
              </a:spcBef>
              <a:tabLst>
                <a:tab pos="5286375" algn="l"/>
                <a:tab pos="10029825" algn="l"/>
              </a:tabLst>
            </a:pPr>
            <a:r>
              <a:rPr sz="2050" i="1" spc="-25" dirty="0">
                <a:solidFill>
                  <a:srgbClr val="171717"/>
                </a:solidFill>
                <a:latin typeface="Arial"/>
                <a:cs typeface="Arial"/>
              </a:rPr>
              <a:t>а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	</a:t>
            </a:r>
            <a:r>
              <a:rPr sz="2050" i="1" spc="-25" dirty="0">
                <a:solidFill>
                  <a:srgbClr val="171717"/>
                </a:solidFill>
                <a:latin typeface="Arial"/>
                <a:cs typeface="Arial"/>
              </a:rPr>
              <a:t>b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	</a:t>
            </a:r>
            <a:r>
              <a:rPr sz="2050" i="1" spc="-25" dirty="0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endParaRPr sz="20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800"/>
              </a:spcBef>
            </a:pPr>
            <a:r>
              <a:rPr sz="2050" spc="-35" dirty="0">
                <a:solidFill>
                  <a:srgbClr val="171717"/>
                </a:solidFill>
                <a:latin typeface="Microsoft Sans Serif"/>
                <a:cs typeface="Microsoft Sans Serif"/>
              </a:rPr>
              <a:t>Функция</a:t>
            </a:r>
            <a:r>
              <a:rPr sz="2050" spc="-10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трех</a:t>
            </a:r>
            <a:r>
              <a:rPr sz="2050" spc="-9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переменных:</a:t>
            </a:r>
            <a:r>
              <a:rPr sz="2050" spc="-9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таблица</a:t>
            </a:r>
            <a:r>
              <a:rPr sz="2050" spc="-7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истинности</a:t>
            </a:r>
            <a:r>
              <a:rPr sz="2050" spc="-8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(</a:t>
            </a:r>
            <a:r>
              <a:rPr sz="2050" i="1" dirty="0">
                <a:solidFill>
                  <a:srgbClr val="171717"/>
                </a:solidFill>
                <a:latin typeface="Arial"/>
                <a:cs typeface="Arial"/>
              </a:rPr>
              <a:t>a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),</a:t>
            </a:r>
            <a:r>
              <a:rPr sz="2050" spc="-6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карта</a:t>
            </a:r>
            <a:r>
              <a:rPr sz="2050" spc="-10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Карно</a:t>
            </a:r>
            <a:r>
              <a:rPr sz="2050" spc="-10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(</a:t>
            </a:r>
            <a:r>
              <a:rPr sz="2050" i="1" dirty="0">
                <a:solidFill>
                  <a:srgbClr val="171717"/>
                </a:solidFill>
                <a:latin typeface="Arial"/>
                <a:cs typeface="Arial"/>
              </a:rPr>
              <a:t>b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),</a:t>
            </a:r>
            <a:r>
              <a:rPr sz="2050" spc="-7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карта</a:t>
            </a:r>
            <a:r>
              <a:rPr sz="2050" spc="-10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10" dirty="0">
                <a:solidFill>
                  <a:srgbClr val="171717"/>
                </a:solidFill>
                <a:latin typeface="Microsoft Sans Serif"/>
                <a:cs typeface="Microsoft Sans Serif"/>
              </a:rPr>
              <a:t>Карно</a:t>
            </a:r>
            <a:r>
              <a:rPr sz="2050" spc="-105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с</a:t>
            </a:r>
            <a:r>
              <a:rPr sz="2050" spc="-8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dirty="0">
                <a:solidFill>
                  <a:srgbClr val="171717"/>
                </a:solidFill>
                <a:latin typeface="Microsoft Sans Serif"/>
                <a:cs typeface="Microsoft Sans Serif"/>
              </a:rPr>
              <a:t>минтермами</a:t>
            </a:r>
            <a:r>
              <a:rPr sz="2050" spc="-80" dirty="0">
                <a:solidFill>
                  <a:srgbClr val="171717"/>
                </a:solidFill>
                <a:latin typeface="Microsoft Sans Serif"/>
                <a:cs typeface="Microsoft Sans Serif"/>
              </a:rPr>
              <a:t> 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(</a:t>
            </a:r>
            <a:r>
              <a:rPr sz="2050" i="1" spc="-25" dirty="0">
                <a:solidFill>
                  <a:srgbClr val="171717"/>
                </a:solidFill>
                <a:latin typeface="Arial"/>
                <a:cs typeface="Arial"/>
              </a:rPr>
              <a:t>c</a:t>
            </a:r>
            <a:r>
              <a:rPr sz="2050" spc="-25" dirty="0">
                <a:solidFill>
                  <a:srgbClr val="171717"/>
                </a:solidFill>
                <a:latin typeface="Microsoft Sans Serif"/>
                <a:cs typeface="Microsoft Sans Serif"/>
              </a:rPr>
              <a:t>)</a:t>
            </a:r>
            <a:endParaRPr sz="205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Карты</a:t>
            </a:r>
            <a:r>
              <a:rPr spc="-235" dirty="0"/>
              <a:t> </a:t>
            </a:r>
            <a:r>
              <a:rPr spc="50" dirty="0"/>
              <a:t>Карно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3229864" y="3106470"/>
            <a:ext cx="12588875" cy="6609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89535">
              <a:lnSpc>
                <a:spcPct val="121100"/>
              </a:lnSpc>
              <a:spcBef>
                <a:spcPts val="100"/>
              </a:spcBef>
            </a:pPr>
            <a:r>
              <a:rPr sz="2200" dirty="0">
                <a:latin typeface="Microsoft Sans Serif"/>
                <a:cs typeface="Microsoft Sans Serif"/>
              </a:rPr>
              <a:t>Чтение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минтермов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из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карт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Карно</a:t>
            </a:r>
            <a:r>
              <a:rPr sz="2200" spc="-5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в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точности</a:t>
            </a:r>
            <a:r>
              <a:rPr sz="2200" spc="-45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соответствует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чтению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дизъюнктивной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нормальной </a:t>
            </a:r>
            <a:r>
              <a:rPr sz="2200" dirty="0">
                <a:latin typeface="Microsoft Sans Serif"/>
                <a:cs typeface="Microsoft Sans Serif"/>
              </a:rPr>
              <a:t>формы</a:t>
            </a:r>
            <a:r>
              <a:rPr sz="2200" spc="-35" dirty="0">
                <a:latin typeface="Microsoft Sans Serif"/>
                <a:cs typeface="Microsoft Sans Serif"/>
              </a:rPr>
              <a:t> </a:t>
            </a:r>
            <a:r>
              <a:rPr sz="2200" spc="-60" dirty="0">
                <a:latin typeface="Microsoft Sans Serif"/>
                <a:cs typeface="Microsoft Sans Serif"/>
              </a:rPr>
              <a:t>(ДНФ)</a:t>
            </a:r>
            <a:r>
              <a:rPr sz="2200" spc="-9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из</a:t>
            </a:r>
            <a:r>
              <a:rPr sz="2200" spc="-4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таблицы</a:t>
            </a:r>
            <a:r>
              <a:rPr sz="2200" spc="-3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истинности.</a:t>
            </a:r>
            <a:endParaRPr sz="2200">
              <a:latin typeface="Microsoft Sans Serif"/>
              <a:cs typeface="Microsoft Sans Serif"/>
            </a:endParaRPr>
          </a:p>
          <a:p>
            <a:pPr marL="13335" marR="567055">
              <a:lnSpc>
                <a:spcPct val="120900"/>
              </a:lnSpc>
              <a:spcBef>
                <a:spcPts val="1705"/>
              </a:spcBef>
            </a:pPr>
            <a:r>
              <a:rPr sz="2200" dirty="0">
                <a:latin typeface="Microsoft Sans Serif"/>
                <a:cs typeface="Microsoft Sans Serif"/>
              </a:rPr>
              <a:t>Карты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Карно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помогают</a:t>
            </a:r>
            <a:r>
              <a:rPr sz="2200" spc="-5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нам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делать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это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упрощение</a:t>
            </a:r>
            <a:r>
              <a:rPr sz="2200" spc="-8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графически,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обводя</a:t>
            </a:r>
            <a:r>
              <a:rPr sz="2200" spc="-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единицы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в</a:t>
            </a:r>
            <a:r>
              <a:rPr sz="2200" spc="-8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соседних клетках</a:t>
            </a:r>
            <a:r>
              <a:rPr sz="2200" spc="-6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овалами</a:t>
            </a:r>
            <a:r>
              <a:rPr sz="2200" spc="-60" dirty="0">
                <a:latin typeface="Microsoft Sans Serif"/>
                <a:cs typeface="Microsoft Sans Serif"/>
              </a:rPr>
              <a:t> </a:t>
            </a:r>
            <a:r>
              <a:rPr sz="2200" spc="-20" dirty="0">
                <a:latin typeface="Microsoft Sans Serif"/>
                <a:cs typeface="Microsoft Sans Serif"/>
              </a:rPr>
              <a:t>(</a:t>
            </a:r>
            <a:r>
              <a:rPr sz="2200" i="1" spc="-20" dirty="0">
                <a:latin typeface="Arial"/>
                <a:cs typeface="Arial"/>
              </a:rPr>
              <a:t>n</a:t>
            </a:r>
            <a:r>
              <a:rPr sz="2200" spc="-20" dirty="0">
                <a:latin typeface="Microsoft Sans Serif"/>
                <a:cs typeface="Microsoft Sans Serif"/>
              </a:rPr>
              <a:t>-</a:t>
            </a:r>
            <a:r>
              <a:rPr sz="2200" dirty="0">
                <a:latin typeface="Microsoft Sans Serif"/>
                <a:cs typeface="Microsoft Sans Serif"/>
              </a:rPr>
              <a:t>мерными</a:t>
            </a:r>
            <a:r>
              <a:rPr sz="2200" spc="-7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кубами).</a:t>
            </a:r>
            <a:endParaRPr sz="22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200">
              <a:latin typeface="Microsoft Sans Serif"/>
              <a:cs typeface="Microsoft Sans Serif"/>
            </a:endParaRPr>
          </a:p>
          <a:p>
            <a:pPr marL="13335">
              <a:lnSpc>
                <a:spcPct val="100000"/>
              </a:lnSpc>
            </a:pP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Правила</a:t>
            </a:r>
            <a:r>
              <a:rPr sz="2200" b="1" spc="-1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для</a:t>
            </a:r>
            <a:r>
              <a:rPr sz="2200" b="1" spc="-1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нахождения</a:t>
            </a:r>
            <a:r>
              <a:rPr sz="2200" b="1" spc="-1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минимального</a:t>
            </a:r>
            <a:r>
              <a:rPr sz="2200" b="1" spc="-3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уравнения</a:t>
            </a:r>
            <a:r>
              <a:rPr sz="2200" b="1" spc="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из</a:t>
            </a:r>
            <a:r>
              <a:rPr sz="2200" b="1" spc="-45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dirty="0">
                <a:solidFill>
                  <a:srgbClr val="6FA200"/>
                </a:solidFill>
                <a:latin typeface="Arial"/>
                <a:cs typeface="Arial"/>
              </a:rPr>
              <a:t>карт</a:t>
            </a:r>
            <a:r>
              <a:rPr sz="2200" b="1" spc="-2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200" b="1" spc="-10" dirty="0">
                <a:solidFill>
                  <a:srgbClr val="6FA200"/>
                </a:solidFill>
                <a:latin typeface="Arial"/>
                <a:cs typeface="Arial"/>
              </a:rPr>
              <a:t>Карно:</a:t>
            </a:r>
            <a:endParaRPr sz="2200">
              <a:latin typeface="Arial"/>
              <a:cs typeface="Arial"/>
            </a:endParaRPr>
          </a:p>
          <a:p>
            <a:pPr marL="436880" indent="-423545">
              <a:lnSpc>
                <a:spcPct val="100000"/>
              </a:lnSpc>
              <a:spcBef>
                <a:spcPts val="1814"/>
              </a:spcBef>
              <a:buClr>
                <a:srgbClr val="6FA200"/>
              </a:buClr>
              <a:buChar char="•"/>
              <a:tabLst>
                <a:tab pos="436880" algn="l"/>
              </a:tabLst>
            </a:pPr>
            <a:r>
              <a:rPr sz="2050" spc="-10" dirty="0">
                <a:latin typeface="Microsoft Sans Serif"/>
                <a:cs typeface="Microsoft Sans Serif"/>
              </a:rPr>
              <a:t>использовать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меньше</a:t>
            </a:r>
            <a:r>
              <a:rPr sz="2050" spc="-10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всего</a:t>
            </a:r>
            <a:r>
              <a:rPr sz="2050" spc="-10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овалов,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необходимых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для</a:t>
            </a:r>
            <a:r>
              <a:rPr sz="2050" spc="-5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покрытия</a:t>
            </a:r>
            <a:r>
              <a:rPr sz="2050" spc="-8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всех</a:t>
            </a:r>
            <a:r>
              <a:rPr sz="2050" spc="-11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единиц;</a:t>
            </a:r>
            <a:endParaRPr sz="2050">
              <a:latin typeface="Microsoft Sans Serif"/>
              <a:cs typeface="Microsoft Sans Serif"/>
            </a:endParaRPr>
          </a:p>
          <a:p>
            <a:pPr marL="436880" indent="-423545">
              <a:lnSpc>
                <a:spcPct val="100000"/>
              </a:lnSpc>
              <a:spcBef>
                <a:spcPts val="1700"/>
              </a:spcBef>
              <a:buClr>
                <a:srgbClr val="6FA200"/>
              </a:buClr>
              <a:buChar char="•"/>
              <a:tabLst>
                <a:tab pos="436880" algn="l"/>
              </a:tabLst>
            </a:pPr>
            <a:r>
              <a:rPr sz="2050" dirty="0">
                <a:latin typeface="Microsoft Sans Serif"/>
                <a:cs typeface="Microsoft Sans Serif"/>
              </a:rPr>
              <a:t>все</a:t>
            </a:r>
            <a:r>
              <a:rPr sz="2050" spc="-100" dirty="0">
                <a:latin typeface="Microsoft Sans Serif"/>
                <a:cs typeface="Microsoft Sans Serif"/>
              </a:rPr>
              <a:t> </a:t>
            </a:r>
            <a:r>
              <a:rPr sz="2050" spc="-20" dirty="0">
                <a:latin typeface="Microsoft Sans Serif"/>
                <a:cs typeface="Microsoft Sans Serif"/>
              </a:rPr>
              <a:t>клетки</a:t>
            </a:r>
            <a:r>
              <a:rPr sz="2050" spc="-8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в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каждом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овале</a:t>
            </a:r>
            <a:r>
              <a:rPr sz="2050" spc="-10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обязаны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содержать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единицы;</a:t>
            </a:r>
            <a:endParaRPr sz="2050">
              <a:latin typeface="Microsoft Sans Serif"/>
              <a:cs typeface="Microsoft Sans Serif"/>
            </a:endParaRPr>
          </a:p>
          <a:p>
            <a:pPr marL="436880" marR="5080" indent="-424815">
              <a:lnSpc>
                <a:spcPct val="121000"/>
              </a:lnSpc>
              <a:spcBef>
                <a:spcPts val="910"/>
              </a:spcBef>
              <a:buClr>
                <a:srgbClr val="6FA200"/>
              </a:buClr>
              <a:buChar char="•"/>
              <a:tabLst>
                <a:tab pos="436880" algn="l"/>
              </a:tabLst>
            </a:pPr>
            <a:r>
              <a:rPr sz="2050" dirty="0">
                <a:latin typeface="Microsoft Sans Serif"/>
                <a:cs typeface="Microsoft Sans Serif"/>
              </a:rPr>
              <a:t>каждый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овал</a:t>
            </a:r>
            <a:r>
              <a:rPr sz="2050" spc="-8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должен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охватывать</a:t>
            </a:r>
            <a:r>
              <a:rPr sz="2050" spc="-9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блок,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число</a:t>
            </a:r>
            <a:r>
              <a:rPr sz="2050" spc="-55" dirty="0">
                <a:latin typeface="Microsoft Sans Serif"/>
                <a:cs typeface="Microsoft Sans Serif"/>
              </a:rPr>
              <a:t> </a:t>
            </a:r>
            <a:r>
              <a:rPr sz="2050" spc="-25" dirty="0">
                <a:latin typeface="Microsoft Sans Serif"/>
                <a:cs typeface="Microsoft Sans Serif"/>
              </a:rPr>
              <a:t>клеток</a:t>
            </a:r>
            <a:r>
              <a:rPr sz="2050" spc="-100" dirty="0">
                <a:latin typeface="Microsoft Sans Serif"/>
                <a:cs typeface="Microsoft Sans Serif"/>
              </a:rPr>
              <a:t> </a:t>
            </a:r>
            <a:r>
              <a:rPr sz="2050" spc="-20" dirty="0">
                <a:latin typeface="Microsoft Sans Serif"/>
                <a:cs typeface="Microsoft Sans Serif"/>
              </a:rPr>
              <a:t>которого</a:t>
            </a:r>
            <a:r>
              <a:rPr sz="2050" spc="-11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в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каждом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направлении</a:t>
            </a:r>
            <a:r>
              <a:rPr sz="2050" spc="-10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равно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степени </a:t>
            </a:r>
            <a:r>
              <a:rPr sz="2050" dirty="0">
                <a:latin typeface="Microsoft Sans Serif"/>
                <a:cs typeface="Microsoft Sans Serif"/>
              </a:rPr>
              <a:t>двойки</a:t>
            </a:r>
            <a:r>
              <a:rPr sz="2050" spc="-5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(т.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е.</a:t>
            </a:r>
            <a:r>
              <a:rPr sz="2050" spc="-6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1,</a:t>
            </a:r>
            <a:r>
              <a:rPr sz="2050" spc="-6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2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или</a:t>
            </a:r>
            <a:r>
              <a:rPr sz="2050" spc="-35" dirty="0">
                <a:latin typeface="Microsoft Sans Serif"/>
                <a:cs typeface="Microsoft Sans Serif"/>
              </a:rPr>
              <a:t> </a:t>
            </a:r>
            <a:r>
              <a:rPr sz="2050" spc="-25" dirty="0">
                <a:latin typeface="Microsoft Sans Serif"/>
                <a:cs typeface="Microsoft Sans Serif"/>
              </a:rPr>
              <a:t>4);</a:t>
            </a:r>
            <a:endParaRPr sz="2050">
              <a:latin typeface="Microsoft Sans Serif"/>
              <a:cs typeface="Microsoft Sans Serif"/>
            </a:endParaRPr>
          </a:p>
          <a:p>
            <a:pPr marL="436880" indent="-423545">
              <a:lnSpc>
                <a:spcPct val="100000"/>
              </a:lnSpc>
              <a:spcBef>
                <a:spcPts val="1989"/>
              </a:spcBef>
              <a:buClr>
                <a:srgbClr val="6FA200"/>
              </a:buClr>
              <a:buChar char="•"/>
              <a:tabLst>
                <a:tab pos="436880" algn="l"/>
              </a:tabLst>
            </a:pPr>
            <a:r>
              <a:rPr sz="2050" spc="-10" dirty="0">
                <a:latin typeface="Microsoft Sans Serif"/>
                <a:cs typeface="Microsoft Sans Serif"/>
              </a:rPr>
              <a:t>каждый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овал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должен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быть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настолько</a:t>
            </a:r>
            <a:r>
              <a:rPr sz="2050" spc="-9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большим,</a:t>
            </a:r>
            <a:r>
              <a:rPr sz="2050" spc="-6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насколько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это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возможно;</a:t>
            </a:r>
            <a:endParaRPr sz="2050">
              <a:latin typeface="Microsoft Sans Serif"/>
              <a:cs typeface="Microsoft Sans Serif"/>
            </a:endParaRPr>
          </a:p>
          <a:p>
            <a:pPr marL="436880" indent="-423545">
              <a:lnSpc>
                <a:spcPct val="100000"/>
              </a:lnSpc>
              <a:spcBef>
                <a:spcPts val="1705"/>
              </a:spcBef>
              <a:buClr>
                <a:srgbClr val="6FA200"/>
              </a:buClr>
              <a:buChar char="•"/>
              <a:tabLst>
                <a:tab pos="436880" algn="l"/>
              </a:tabLst>
            </a:pPr>
            <a:r>
              <a:rPr sz="2050" dirty="0">
                <a:latin typeface="Microsoft Sans Serif"/>
                <a:cs typeface="Microsoft Sans Serif"/>
              </a:rPr>
              <a:t>овал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spc="-20" dirty="0">
                <a:latin typeface="Microsoft Sans Serif"/>
                <a:cs typeface="Microsoft Sans Serif"/>
              </a:rPr>
              <a:t>может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spc="-20" dirty="0">
                <a:latin typeface="Microsoft Sans Serif"/>
                <a:cs typeface="Microsoft Sans Serif"/>
              </a:rPr>
              <a:t>связывать</a:t>
            </a:r>
            <a:r>
              <a:rPr sz="2050" spc="-6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края</a:t>
            </a:r>
            <a:r>
              <a:rPr sz="2050" spc="-7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карты</a:t>
            </a:r>
            <a:r>
              <a:rPr sz="2050" spc="-6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Карно;</a:t>
            </a:r>
            <a:endParaRPr sz="2050">
              <a:latin typeface="Microsoft Sans Serif"/>
              <a:cs typeface="Microsoft Sans Serif"/>
            </a:endParaRPr>
          </a:p>
          <a:p>
            <a:pPr marL="436880" marR="267335" indent="-424815">
              <a:lnSpc>
                <a:spcPct val="121000"/>
              </a:lnSpc>
              <a:spcBef>
                <a:spcPts val="910"/>
              </a:spcBef>
              <a:buClr>
                <a:srgbClr val="6FA200"/>
              </a:buClr>
              <a:buChar char="•"/>
              <a:tabLst>
                <a:tab pos="436880" algn="l"/>
              </a:tabLst>
            </a:pPr>
            <a:r>
              <a:rPr sz="2050" dirty="0">
                <a:latin typeface="Microsoft Sans Serif"/>
                <a:cs typeface="Microsoft Sans Serif"/>
              </a:rPr>
              <a:t>единица</a:t>
            </a:r>
            <a:r>
              <a:rPr sz="2050" spc="-5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на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карте</a:t>
            </a:r>
            <a:r>
              <a:rPr sz="2050" spc="-90" dirty="0">
                <a:latin typeface="Microsoft Sans Serif"/>
                <a:cs typeface="Microsoft Sans Serif"/>
              </a:rPr>
              <a:t> </a:t>
            </a:r>
            <a:r>
              <a:rPr sz="2050" spc="-20" dirty="0">
                <a:latin typeface="Microsoft Sans Serif"/>
                <a:cs typeface="Microsoft Sans Serif"/>
              </a:rPr>
              <a:t>Карно</a:t>
            </a:r>
            <a:r>
              <a:rPr sz="2050" spc="-114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может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быть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обведена</a:t>
            </a:r>
            <a:r>
              <a:rPr sz="2050" spc="-95" dirty="0">
                <a:latin typeface="Microsoft Sans Serif"/>
                <a:cs typeface="Microsoft Sans Serif"/>
              </a:rPr>
              <a:t> </a:t>
            </a:r>
            <a:r>
              <a:rPr sz="2050" spc="-20" dirty="0">
                <a:latin typeface="Microsoft Sans Serif"/>
                <a:cs typeface="Microsoft Sans Serif"/>
              </a:rPr>
              <a:t>сколько</a:t>
            </a:r>
            <a:r>
              <a:rPr sz="2050" spc="-8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угодно</a:t>
            </a:r>
            <a:r>
              <a:rPr sz="2050" spc="-7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раз,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если</a:t>
            </a:r>
            <a:r>
              <a:rPr sz="2050" spc="-5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это</a:t>
            </a:r>
            <a:r>
              <a:rPr sz="2050" spc="-80" dirty="0">
                <a:latin typeface="Microsoft Sans Serif"/>
                <a:cs typeface="Microsoft Sans Serif"/>
              </a:rPr>
              <a:t> </a:t>
            </a:r>
            <a:r>
              <a:rPr sz="2050" spc="-25" dirty="0">
                <a:latin typeface="Microsoft Sans Serif"/>
                <a:cs typeface="Microsoft Sans Serif"/>
              </a:rPr>
              <a:t>позволяет</a:t>
            </a:r>
            <a:r>
              <a:rPr sz="2050" spc="-100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уменьшить </a:t>
            </a:r>
            <a:r>
              <a:rPr sz="2050" dirty="0">
                <a:latin typeface="Microsoft Sans Serif"/>
                <a:cs typeface="Microsoft Sans Serif"/>
              </a:rPr>
              <a:t>число</a:t>
            </a:r>
            <a:r>
              <a:rPr sz="2050" spc="-2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овалов,</a:t>
            </a:r>
            <a:r>
              <a:rPr sz="2050" spc="-55" dirty="0">
                <a:latin typeface="Microsoft Sans Serif"/>
                <a:cs typeface="Microsoft Sans Serif"/>
              </a:rPr>
              <a:t> </a:t>
            </a:r>
            <a:r>
              <a:rPr sz="2050" spc="-10" dirty="0">
                <a:latin typeface="Microsoft Sans Serif"/>
                <a:cs typeface="Microsoft Sans Serif"/>
              </a:rPr>
              <a:t>которые</a:t>
            </a:r>
            <a:r>
              <a:rPr sz="2050" spc="-55" dirty="0">
                <a:latin typeface="Microsoft Sans Serif"/>
                <a:cs typeface="Microsoft Sans Serif"/>
              </a:rPr>
              <a:t> </a:t>
            </a:r>
            <a:r>
              <a:rPr sz="2050" dirty="0">
                <a:latin typeface="Microsoft Sans Serif"/>
                <a:cs typeface="Microsoft Sans Serif"/>
              </a:rPr>
              <a:t>будут</a:t>
            </a:r>
            <a:r>
              <a:rPr sz="2050" spc="-10" dirty="0">
                <a:latin typeface="Microsoft Sans Serif"/>
                <a:cs typeface="Microsoft Sans Serif"/>
              </a:rPr>
              <a:t> использоваться.</a:t>
            </a:r>
            <a:endParaRPr sz="20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Карты</a:t>
            </a:r>
            <a:r>
              <a:rPr spc="-235" dirty="0"/>
              <a:t> </a:t>
            </a:r>
            <a:r>
              <a:rPr spc="50" dirty="0"/>
              <a:t>Карно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97668" y="4488180"/>
            <a:ext cx="5529833" cy="462838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3058" y="4706874"/>
            <a:ext cx="5649468" cy="333984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Базовые</a:t>
            </a:r>
            <a:r>
              <a:rPr spc="-380" dirty="0"/>
              <a:t> </a:t>
            </a:r>
            <a:r>
              <a:rPr spc="-75" dirty="0"/>
              <a:t>комбинационные</a:t>
            </a:r>
            <a:r>
              <a:rPr spc="-235" dirty="0"/>
              <a:t> </a:t>
            </a:r>
            <a:r>
              <a:rPr spc="-10" dirty="0"/>
              <a:t>блоки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8832" y="2848560"/>
            <a:ext cx="15001240" cy="196088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2300" spc="-30" dirty="0">
                <a:latin typeface="Microsoft Sans Serif"/>
                <a:cs typeface="Microsoft Sans Serif"/>
              </a:rPr>
              <a:t>Комбинационные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логические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элементы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часто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группируются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«строительные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блоки»,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используемые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2300" dirty="0">
                <a:latin typeface="Microsoft Sans Serif"/>
                <a:cs typeface="Microsoft Sans Serif"/>
              </a:rPr>
              <a:t>для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создания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сложных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систем.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Это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позволяет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абстрагироваться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от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излишней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детализации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уровня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логических</a:t>
            </a: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2300" dirty="0">
                <a:latin typeface="Microsoft Sans Serif"/>
                <a:cs typeface="Microsoft Sans Serif"/>
              </a:rPr>
              <a:t>элементов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вести</a:t>
            </a:r>
            <a:r>
              <a:rPr sz="2300" spc="-3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разработку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уровне</a:t>
            </a:r>
            <a:r>
              <a:rPr sz="2300" spc="-5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строительных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блоков.</a:t>
            </a:r>
            <a:endParaRPr sz="23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905"/>
              </a:spcBef>
            </a:pPr>
            <a:endParaRPr sz="23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Мультиплексор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54873" y="5958840"/>
            <a:ext cx="4332732" cy="320802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388358" y="5034534"/>
            <a:ext cx="2026919" cy="499948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24737" y="6004560"/>
            <a:ext cx="2803398" cy="329641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Базовые</a:t>
            </a:r>
            <a:r>
              <a:rPr spc="-380" dirty="0"/>
              <a:t> </a:t>
            </a:r>
            <a:r>
              <a:rPr spc="-75" dirty="0"/>
              <a:t>комбинационные</a:t>
            </a:r>
            <a:r>
              <a:rPr spc="-235" dirty="0"/>
              <a:t> </a:t>
            </a:r>
            <a:r>
              <a:rPr spc="-10" dirty="0"/>
              <a:t>блоки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8832" y="2869184"/>
            <a:ext cx="471551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Многовходовый</a:t>
            </a:r>
            <a:r>
              <a:rPr sz="2300" b="1" spc="-14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мультиплексор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C701C42E-FBE9-42D4-8270-6ED2D08183CD}"/>
              </a:ext>
            </a:extLst>
          </p:cNvPr>
          <p:cNvGrpSpPr/>
          <p:nvPr/>
        </p:nvGrpSpPr>
        <p:grpSpPr>
          <a:xfrm>
            <a:off x="3315461" y="3800856"/>
            <a:ext cx="13126975" cy="6566916"/>
            <a:chOff x="3315461" y="3800856"/>
            <a:chExt cx="13126975" cy="6566916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14971" y="3800856"/>
              <a:ext cx="4106418" cy="656691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15461" y="5812536"/>
              <a:ext cx="2228850" cy="244221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627102" y="4971288"/>
              <a:ext cx="3815334" cy="4482846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75" dirty="0"/>
              <a:t>Базовые</a:t>
            </a:r>
            <a:r>
              <a:rPr spc="-380" dirty="0"/>
              <a:t> </a:t>
            </a:r>
            <a:r>
              <a:rPr spc="-75" dirty="0"/>
              <a:t>комбинационные</a:t>
            </a:r>
            <a:r>
              <a:rPr spc="-235" dirty="0"/>
              <a:t> </a:t>
            </a:r>
            <a:r>
              <a:rPr spc="-10" dirty="0"/>
              <a:t>блоки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38832" y="3762248"/>
            <a:ext cx="407035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Логика</a:t>
            </a:r>
            <a:r>
              <a:rPr sz="2300" b="1" spc="-5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dirty="0">
                <a:solidFill>
                  <a:srgbClr val="6FA200"/>
                </a:solidFill>
                <a:latin typeface="Arial"/>
                <a:cs typeface="Arial"/>
              </a:rPr>
              <a:t>на</a:t>
            </a:r>
            <a:r>
              <a:rPr sz="2300" b="1" spc="-30" dirty="0">
                <a:solidFill>
                  <a:srgbClr val="6FA200"/>
                </a:solidFill>
                <a:latin typeface="Arial"/>
                <a:cs typeface="Arial"/>
              </a:rPr>
              <a:t> 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мультиплексорах</a:t>
            </a:r>
            <a:endParaRPr sz="230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11745" y="4456938"/>
            <a:ext cx="5708142" cy="437616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05" dirty="0"/>
              <a:t>Элементы</a:t>
            </a:r>
            <a:r>
              <a:rPr spc="-260" dirty="0"/>
              <a:t> </a:t>
            </a:r>
            <a:r>
              <a:rPr spc="-150" dirty="0"/>
              <a:t>последовательной</a:t>
            </a:r>
            <a:r>
              <a:rPr spc="-280" dirty="0"/>
              <a:t> </a:t>
            </a:r>
            <a:r>
              <a:rPr spc="-10" dirty="0"/>
              <a:t>логики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385314" y="3750005"/>
            <a:ext cx="14203680" cy="2492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1650" marR="5080">
              <a:lnSpc>
                <a:spcPct val="120000"/>
              </a:lnSpc>
              <a:spcBef>
                <a:spcPts val="100"/>
              </a:spcBef>
              <a:tabLst>
                <a:tab pos="6410960" algn="l"/>
              </a:tabLst>
            </a:pPr>
            <a:r>
              <a:rPr sz="2300" b="1" dirty="0">
                <a:latin typeface="Arial"/>
                <a:cs typeface="Arial"/>
              </a:rPr>
              <a:t>Последовательные</a:t>
            </a:r>
            <a:r>
              <a:rPr sz="2300" b="1" spc="-10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логические</a:t>
            </a:r>
            <a:r>
              <a:rPr sz="2300" b="1" spc="-100" dirty="0">
                <a:latin typeface="Arial"/>
                <a:cs typeface="Arial"/>
              </a:rPr>
              <a:t> </a:t>
            </a:r>
            <a:r>
              <a:rPr sz="2300" b="1" dirty="0">
                <a:latin typeface="Arial"/>
                <a:cs typeface="Arial"/>
              </a:rPr>
              <a:t>схемы</a:t>
            </a:r>
            <a:r>
              <a:rPr sz="2300" b="1" spc="-95" dirty="0">
                <a:latin typeface="Arial"/>
                <a:cs typeface="Arial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это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логические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схемы,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значение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на</a:t>
            </a:r>
            <a:r>
              <a:rPr sz="2300" spc="-7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выходе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которых </a:t>
            </a:r>
            <a:r>
              <a:rPr sz="2300" dirty="0">
                <a:latin typeface="Microsoft Sans Serif"/>
                <a:cs typeface="Microsoft Sans Serif"/>
              </a:rPr>
              <a:t>зависит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spc="-25" dirty="0">
                <a:latin typeface="Microsoft Sans Serif"/>
                <a:cs typeface="Microsoft Sans Serif"/>
              </a:rPr>
              <a:t>как</a:t>
            </a:r>
            <a:r>
              <a:rPr sz="2300" spc="-13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от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текущих,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так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от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предыдущих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входных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значений.</a:t>
            </a:r>
            <a:r>
              <a:rPr sz="2300" spc="-90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Следовательно,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последовательные </a:t>
            </a:r>
            <a:r>
              <a:rPr sz="2300" dirty="0">
                <a:latin typeface="Microsoft Sans Serif"/>
                <a:cs typeface="Microsoft Sans Serif"/>
              </a:rPr>
              <a:t>логические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схемы</a:t>
            </a:r>
            <a:r>
              <a:rPr sz="2300" spc="-10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обладают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памятью</a:t>
            </a:r>
            <a:r>
              <a:rPr sz="2300" b="1" spc="-10" dirty="0">
                <a:latin typeface="Arial"/>
                <a:cs typeface="Arial"/>
              </a:rPr>
              <a:t>.</a:t>
            </a: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35"/>
              </a:spcBef>
            </a:pPr>
            <a:endParaRPr sz="2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300" b="1" i="1" spc="-20" dirty="0">
                <a:solidFill>
                  <a:srgbClr val="6FA200"/>
                </a:solidFill>
                <a:latin typeface="Arial"/>
                <a:cs typeface="Arial"/>
              </a:rPr>
              <a:t>RS</a:t>
            </a:r>
            <a:r>
              <a:rPr sz="2300" b="1" spc="-20" dirty="0">
                <a:solidFill>
                  <a:srgbClr val="6FA200"/>
                </a:solidFill>
                <a:latin typeface="Arial"/>
                <a:cs typeface="Arial"/>
              </a:rPr>
              <a:t>-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триггер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2811" y="6714744"/>
            <a:ext cx="2693669" cy="2153412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937497" y="6582918"/>
            <a:ext cx="2925445" cy="1961514"/>
            <a:chOff x="8937497" y="6582918"/>
            <a:chExt cx="2925445" cy="1961514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37497" y="6582918"/>
              <a:ext cx="2901696" cy="1961388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0593324" y="7315200"/>
              <a:ext cx="1269365" cy="266700"/>
            </a:xfrm>
            <a:custGeom>
              <a:avLst/>
              <a:gdLst/>
              <a:ahLst/>
              <a:cxnLst/>
              <a:rect l="l" t="t" r="r" b="b"/>
              <a:pathLst>
                <a:path w="1269365" h="266700">
                  <a:moveTo>
                    <a:pt x="515239" y="0"/>
                  </a:moveTo>
                  <a:lnTo>
                    <a:pt x="62992" y="15748"/>
                  </a:lnTo>
                  <a:lnTo>
                    <a:pt x="0" y="262509"/>
                  </a:lnTo>
                  <a:lnTo>
                    <a:pt x="513207" y="266319"/>
                  </a:lnTo>
                  <a:lnTo>
                    <a:pt x="515239" y="0"/>
                  </a:lnTo>
                  <a:close/>
                </a:path>
                <a:path w="1269365" h="266700">
                  <a:moveTo>
                    <a:pt x="1269238" y="0"/>
                  </a:moveTo>
                  <a:lnTo>
                    <a:pt x="798195" y="15748"/>
                  </a:lnTo>
                  <a:lnTo>
                    <a:pt x="732663" y="262509"/>
                  </a:lnTo>
                  <a:lnTo>
                    <a:pt x="1267079" y="266319"/>
                  </a:lnTo>
                  <a:lnTo>
                    <a:pt x="12692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2935711" y="6864096"/>
            <a:ext cx="1436369" cy="1436369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2427732" y="3659124"/>
            <a:ext cx="0" cy="1598930"/>
          </a:xfrm>
          <a:custGeom>
            <a:avLst/>
            <a:gdLst/>
            <a:ahLst/>
            <a:cxnLst/>
            <a:rect l="l" t="t" r="r" b="b"/>
            <a:pathLst>
              <a:path h="1598929">
                <a:moveTo>
                  <a:pt x="0" y="0"/>
                </a:moveTo>
                <a:lnTo>
                  <a:pt x="0" y="1598929"/>
                </a:lnTo>
              </a:path>
            </a:pathLst>
          </a:custGeom>
          <a:ln w="62484">
            <a:solidFill>
              <a:srgbClr val="80B7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0626090" y="7325360"/>
            <a:ext cx="358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icrosoft Sans Serif"/>
                <a:cs typeface="Microsoft Sans Serif"/>
              </a:rPr>
              <a:t>пред</a:t>
            </a:r>
            <a:endParaRPr sz="12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64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11374881" y="7325360"/>
            <a:ext cx="3587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latin typeface="Microsoft Sans Serif"/>
                <a:cs typeface="Microsoft Sans Serif"/>
              </a:rPr>
              <a:t>пред</a:t>
            </a:r>
            <a:endParaRPr sz="1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006821" y="1716024"/>
            <a:ext cx="1047750" cy="10469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80" dirty="0"/>
              <a:t>Последовательная</a:t>
            </a:r>
            <a:r>
              <a:rPr spc="-250" dirty="0"/>
              <a:t> </a:t>
            </a:r>
            <a:r>
              <a:rPr spc="-10" dirty="0"/>
              <a:t>логика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1089" y="2548127"/>
            <a:ext cx="153162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i="1" spc="-25" dirty="0">
                <a:solidFill>
                  <a:srgbClr val="6FA200"/>
                </a:solidFill>
                <a:latin typeface="Arial"/>
                <a:cs typeface="Arial"/>
              </a:rPr>
              <a:t>D</a:t>
            </a: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-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защелка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60776" y="3222498"/>
            <a:ext cx="13047726" cy="163601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71089" y="5534914"/>
            <a:ext cx="140779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i="1" spc="-25" dirty="0">
                <a:solidFill>
                  <a:srgbClr val="6FA200"/>
                </a:solidFill>
                <a:latin typeface="Arial"/>
                <a:cs typeface="Arial"/>
              </a:rPr>
              <a:t>D</a:t>
            </a:r>
            <a:r>
              <a:rPr sz="2300" b="1" spc="-25" dirty="0">
                <a:solidFill>
                  <a:srgbClr val="6FA200"/>
                </a:solidFill>
                <a:latin typeface="Arial"/>
                <a:cs typeface="Arial"/>
              </a:rPr>
              <a:t>-</a:t>
            </a: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триггер</a:t>
            </a:r>
            <a:endParaRPr sz="2300">
              <a:latin typeface="Arial"/>
              <a:cs typeface="Arial"/>
            </a:endParaRP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AB8B3210-1705-4397-8D56-BF9E0B6DFC1A}"/>
              </a:ext>
            </a:extLst>
          </p:cNvPr>
          <p:cNvGrpSpPr/>
          <p:nvPr/>
        </p:nvGrpSpPr>
        <p:grpSpPr>
          <a:xfrm>
            <a:off x="3474720" y="5980938"/>
            <a:ext cx="12829032" cy="2664714"/>
            <a:chOff x="3474720" y="5980938"/>
            <a:chExt cx="12829032" cy="2664714"/>
          </a:xfrm>
        </p:grpSpPr>
        <p:pic>
          <p:nvPicPr>
            <p:cNvPr id="3" name="object 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4720" y="5980938"/>
              <a:ext cx="3541014" cy="266471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783562" y="6566916"/>
              <a:ext cx="1520190" cy="172364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371089" y="9346946"/>
            <a:ext cx="1158240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10" dirty="0">
                <a:solidFill>
                  <a:srgbClr val="6FA200"/>
                </a:solidFill>
                <a:latin typeface="Arial"/>
                <a:cs typeface="Arial"/>
              </a:rPr>
              <a:t>Регистр</a:t>
            </a:r>
            <a:endParaRPr sz="23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850132" y="10144192"/>
            <a:ext cx="8098790" cy="356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680"/>
              </a:lnSpc>
            </a:pPr>
            <a:r>
              <a:rPr sz="2300" dirty="0">
                <a:latin typeface="Microsoft Sans Serif"/>
                <a:cs typeface="Microsoft Sans Serif"/>
              </a:rPr>
              <a:t>при</a:t>
            </a:r>
            <a:r>
              <a:rPr sz="2300" spc="-4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построении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большинства</a:t>
            </a:r>
            <a:r>
              <a:rPr sz="2300" spc="10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последовательностных </a:t>
            </a:r>
            <a:r>
              <a:rPr sz="2300" spc="-10" dirty="0">
                <a:latin typeface="Microsoft Sans Serif"/>
                <a:cs typeface="Microsoft Sans Serif"/>
              </a:rPr>
              <a:t>схем.</a:t>
            </a:r>
            <a:endParaRPr sz="23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3180">
              <a:lnSpc>
                <a:spcPts val="264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3850132" y="9280601"/>
            <a:ext cx="12381230" cy="796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0000"/>
              </a:lnSpc>
              <a:spcBef>
                <a:spcPts val="100"/>
              </a:spcBef>
              <a:tabLst>
                <a:tab pos="3235960" algn="l"/>
              </a:tabLst>
            </a:pPr>
            <a:r>
              <a:rPr sz="2300" i="1" spc="-25" dirty="0">
                <a:latin typeface="Arial"/>
                <a:cs typeface="Arial"/>
              </a:rPr>
              <a:t>N</a:t>
            </a:r>
            <a:r>
              <a:rPr sz="2300" spc="-25" dirty="0">
                <a:latin typeface="Microsoft Sans Serif"/>
                <a:cs typeface="Microsoft Sans Serif"/>
              </a:rPr>
              <a:t>-</a:t>
            </a:r>
            <a:r>
              <a:rPr sz="2300" dirty="0">
                <a:latin typeface="Microsoft Sans Serif"/>
                <a:cs typeface="Microsoft Sans Serif"/>
              </a:rPr>
              <a:t>разрядный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регистр</a:t>
            </a:r>
            <a:r>
              <a:rPr sz="2300" spc="-45" dirty="0">
                <a:latin typeface="Microsoft Sans Serif"/>
                <a:cs typeface="Microsoft Sans Serif"/>
              </a:rPr>
              <a:t> </a:t>
            </a:r>
            <a:r>
              <a:rPr sz="2300" spc="-50" dirty="0">
                <a:latin typeface="Microsoft Sans Serif"/>
                <a:cs typeface="Microsoft Sans Serif"/>
              </a:rPr>
              <a:t>–</a:t>
            </a:r>
            <a:r>
              <a:rPr sz="2300" dirty="0">
                <a:latin typeface="Microsoft Sans Serif"/>
                <a:cs typeface="Microsoft Sans Serif"/>
              </a:rPr>
              <a:t>	набор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из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i="1" dirty="0">
                <a:latin typeface="Arial"/>
                <a:cs typeface="Arial"/>
              </a:rPr>
              <a:t>N</a:t>
            </a:r>
            <a:r>
              <a:rPr sz="2300" i="1" spc="-90" dirty="0">
                <a:latin typeface="Arial"/>
                <a:cs typeface="Arial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триггеров</a:t>
            </a:r>
            <a:r>
              <a:rPr sz="2300" spc="-7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</a:t>
            </a:r>
            <a:r>
              <a:rPr sz="2300" spc="-8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общим</a:t>
            </a:r>
            <a:r>
              <a:rPr sz="2300" spc="-6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тактовым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сигналом.</a:t>
            </a:r>
            <a:r>
              <a:rPr sz="2300" spc="-85" dirty="0">
                <a:latin typeface="Microsoft Sans Serif"/>
                <a:cs typeface="Microsoft Sans Serif"/>
              </a:rPr>
              <a:t> </a:t>
            </a:r>
            <a:r>
              <a:rPr sz="2300" spc="-40" dirty="0">
                <a:latin typeface="Microsoft Sans Serif"/>
                <a:cs typeface="Microsoft Sans Serif"/>
              </a:rPr>
              <a:t>Таким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образом, </a:t>
            </a:r>
            <a:r>
              <a:rPr sz="2300" dirty="0">
                <a:latin typeface="Microsoft Sans Serif"/>
                <a:cs typeface="Microsoft Sans Serif"/>
              </a:rPr>
              <a:t>все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биты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регистра</a:t>
            </a:r>
            <a:r>
              <a:rPr sz="2300" spc="-110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обновляются</a:t>
            </a:r>
            <a:r>
              <a:rPr sz="2300" spc="-10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одновременно.</a:t>
            </a:r>
            <a:r>
              <a:rPr sz="2300" spc="-12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Регистр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spc="-20" dirty="0">
                <a:latin typeface="Microsoft Sans Serif"/>
                <a:cs typeface="Microsoft Sans Serif"/>
              </a:rPr>
              <a:t>является</a:t>
            </a:r>
            <a:r>
              <a:rPr sz="2300" spc="-95" dirty="0">
                <a:latin typeface="Microsoft Sans Serif"/>
                <a:cs typeface="Microsoft Sans Serif"/>
              </a:rPr>
              <a:t> </a:t>
            </a:r>
            <a:r>
              <a:rPr sz="2300" dirty="0">
                <a:latin typeface="Microsoft Sans Serif"/>
                <a:cs typeface="Microsoft Sans Serif"/>
              </a:rPr>
              <a:t>ключевым</a:t>
            </a:r>
            <a:r>
              <a:rPr sz="2300" spc="-55" dirty="0">
                <a:latin typeface="Microsoft Sans Serif"/>
                <a:cs typeface="Microsoft Sans Serif"/>
              </a:rPr>
              <a:t> </a:t>
            </a:r>
            <a:r>
              <a:rPr sz="2300" spc="-10" dirty="0">
                <a:latin typeface="Microsoft Sans Serif"/>
                <a:cs typeface="Microsoft Sans Serif"/>
              </a:rPr>
              <a:t>блоком</a:t>
            </a:r>
            <a:endParaRPr sz="23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3845" cy="113088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286250" y="4834128"/>
            <a:ext cx="11541125" cy="1282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250" spc="-45" dirty="0"/>
              <a:t>Спасибо</a:t>
            </a:r>
            <a:r>
              <a:rPr sz="8250" spc="-484" dirty="0"/>
              <a:t> </a:t>
            </a:r>
            <a:r>
              <a:rPr sz="8250" spc="125" dirty="0"/>
              <a:t>за</a:t>
            </a:r>
            <a:r>
              <a:rPr sz="8250" spc="-200" dirty="0"/>
              <a:t> </a:t>
            </a:r>
            <a:r>
              <a:rPr sz="8250" spc="-45" dirty="0"/>
              <a:t>внимание!</a:t>
            </a:r>
            <a:endParaRPr sz="8250"/>
          </a:p>
        </p:txBody>
      </p:sp>
      <p:sp>
        <p:nvSpPr>
          <p:cNvPr id="4" name="object 4"/>
          <p:cNvSpPr txBox="1"/>
          <p:nvPr/>
        </p:nvSpPr>
        <p:spPr>
          <a:xfrm>
            <a:off x="1386586" y="10158730"/>
            <a:ext cx="2277745" cy="315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ОСНОВЫ</a:t>
            </a:r>
            <a:r>
              <a:rPr sz="1900" spc="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9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ЛОГИКИ</a:t>
            </a:r>
            <a:endParaRPr sz="1900">
              <a:latin typeface="Lucida Sans Unicode"/>
              <a:cs typeface="Lucida Sans Unicode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877627" y="10110978"/>
            <a:ext cx="14903450" cy="499109"/>
            <a:chOff x="3877627" y="10110978"/>
            <a:chExt cx="14903450" cy="499109"/>
          </a:xfrm>
        </p:grpSpPr>
        <p:sp>
          <p:nvSpPr>
            <p:cNvPr id="6" name="object 6"/>
            <p:cNvSpPr/>
            <p:nvPr/>
          </p:nvSpPr>
          <p:spPr>
            <a:xfrm>
              <a:off x="18281142" y="10110978"/>
              <a:ext cx="499745" cy="499109"/>
            </a:xfrm>
            <a:custGeom>
              <a:avLst/>
              <a:gdLst/>
              <a:ahLst/>
              <a:cxnLst/>
              <a:rect l="l" t="t" r="r" b="b"/>
              <a:pathLst>
                <a:path w="499744" h="499109">
                  <a:moveTo>
                    <a:pt x="249809" y="0"/>
                  </a:moveTo>
                  <a:lnTo>
                    <a:pt x="204850" y="4013"/>
                  </a:lnTo>
                  <a:lnTo>
                    <a:pt x="162686" y="15595"/>
                  </a:lnTo>
                  <a:lnTo>
                    <a:pt x="123698" y="34035"/>
                  </a:lnTo>
                  <a:lnTo>
                    <a:pt x="88900" y="58635"/>
                  </a:lnTo>
                  <a:lnTo>
                    <a:pt x="58800" y="88696"/>
                  </a:lnTo>
                  <a:lnTo>
                    <a:pt x="34163" y="123507"/>
                  </a:lnTo>
                  <a:lnTo>
                    <a:pt x="15621" y="162369"/>
                  </a:lnTo>
                  <a:lnTo>
                    <a:pt x="4063" y="204571"/>
                  </a:lnTo>
                  <a:lnTo>
                    <a:pt x="0" y="249415"/>
                  </a:lnTo>
                  <a:lnTo>
                    <a:pt x="4063" y="294246"/>
                  </a:lnTo>
                  <a:lnTo>
                    <a:pt x="15621" y="336448"/>
                  </a:lnTo>
                  <a:lnTo>
                    <a:pt x="34163" y="375297"/>
                  </a:lnTo>
                  <a:lnTo>
                    <a:pt x="58800" y="410108"/>
                  </a:lnTo>
                  <a:lnTo>
                    <a:pt x="88900" y="440169"/>
                  </a:lnTo>
                  <a:lnTo>
                    <a:pt x="123698" y="464781"/>
                  </a:lnTo>
                  <a:lnTo>
                    <a:pt x="162686" y="483222"/>
                  </a:lnTo>
                  <a:lnTo>
                    <a:pt x="204850" y="494817"/>
                  </a:lnTo>
                  <a:lnTo>
                    <a:pt x="249809" y="498830"/>
                  </a:lnTo>
                  <a:lnTo>
                    <a:pt x="294640" y="494817"/>
                  </a:lnTo>
                  <a:lnTo>
                    <a:pt x="336930" y="483222"/>
                  </a:lnTo>
                  <a:lnTo>
                    <a:pt x="375919" y="464781"/>
                  </a:lnTo>
                  <a:lnTo>
                    <a:pt x="410717" y="440169"/>
                  </a:lnTo>
                  <a:lnTo>
                    <a:pt x="440817" y="410108"/>
                  </a:lnTo>
                  <a:lnTo>
                    <a:pt x="465454" y="375297"/>
                  </a:lnTo>
                  <a:lnTo>
                    <a:pt x="483996" y="336448"/>
                  </a:lnTo>
                  <a:lnTo>
                    <a:pt x="495553" y="294246"/>
                  </a:lnTo>
                  <a:lnTo>
                    <a:pt x="499617" y="249415"/>
                  </a:lnTo>
                  <a:lnTo>
                    <a:pt x="495553" y="204571"/>
                  </a:lnTo>
                  <a:lnTo>
                    <a:pt x="483996" y="162369"/>
                  </a:lnTo>
                  <a:lnTo>
                    <a:pt x="465454" y="123507"/>
                  </a:lnTo>
                  <a:lnTo>
                    <a:pt x="440817" y="88696"/>
                  </a:lnTo>
                  <a:lnTo>
                    <a:pt x="410717" y="58635"/>
                  </a:lnTo>
                  <a:lnTo>
                    <a:pt x="375919" y="34035"/>
                  </a:lnTo>
                  <a:lnTo>
                    <a:pt x="336930" y="15595"/>
                  </a:lnTo>
                  <a:lnTo>
                    <a:pt x="294640" y="4013"/>
                  </a:lnTo>
                  <a:lnTo>
                    <a:pt x="2498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80485" y="10371963"/>
              <a:ext cx="14046835" cy="0"/>
            </a:xfrm>
            <a:custGeom>
              <a:avLst/>
              <a:gdLst/>
              <a:ahLst/>
              <a:cxnLst/>
              <a:rect l="l" t="t" r="r" b="b"/>
              <a:pathLst>
                <a:path w="14046835">
                  <a:moveTo>
                    <a:pt x="14046581" y="0"/>
                  </a:moveTo>
                  <a:lnTo>
                    <a:pt x="0" y="0"/>
                  </a:lnTo>
                </a:path>
              </a:pathLst>
            </a:custGeom>
            <a:ln w="5334">
              <a:solidFill>
                <a:srgbClr val="D9D9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347182" y="10156952"/>
            <a:ext cx="362585" cy="375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-25" dirty="0">
                <a:solidFill>
                  <a:srgbClr val="80B800"/>
                </a:solidFill>
                <a:latin typeface="Arial"/>
                <a:cs typeface="Arial"/>
              </a:rPr>
              <a:t>30</a:t>
            </a:r>
            <a:endParaRPr sz="23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19377" y="1370838"/>
            <a:ext cx="1046987" cy="10469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1314</TotalTime>
  <Words>1935</Words>
  <Application>Microsoft Office PowerPoint</Application>
  <PresentationFormat>Произвольный</PresentationFormat>
  <Paragraphs>485</Paragraphs>
  <Slides>30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6" baseType="lpstr">
      <vt:lpstr>Arial</vt:lpstr>
      <vt:lpstr>Calibri</vt:lpstr>
      <vt:lpstr>Lucida Sans Unicode</vt:lpstr>
      <vt:lpstr>Microsoft Sans Serif</vt:lpstr>
      <vt:lpstr>Times New Roman</vt:lpstr>
      <vt:lpstr>Office Theme</vt:lpstr>
      <vt:lpstr>ОСНОВЫ ЛОГИКИ</vt:lpstr>
      <vt:lpstr>Системы счисления</vt:lpstr>
      <vt:lpstr>Системы счисления</vt:lpstr>
      <vt:lpstr>Системы счисления</vt:lpstr>
      <vt:lpstr>Системы счисления</vt:lpstr>
      <vt:lpstr>Системы счисления</vt:lpstr>
      <vt:lpstr>Системы счисления</vt:lpstr>
      <vt:lpstr>Системы счисления</vt:lpstr>
      <vt:lpstr>Логические элементы</vt:lpstr>
      <vt:lpstr>Логические элементы</vt:lpstr>
      <vt:lpstr>Логические элементы</vt:lpstr>
      <vt:lpstr>Логические элементы</vt:lpstr>
      <vt:lpstr>Булевы уравнения</vt:lpstr>
      <vt:lpstr>Булевы уравнения</vt:lpstr>
      <vt:lpstr>Булевы уравнения</vt:lpstr>
      <vt:lpstr>Булева алгебра</vt:lpstr>
      <vt:lpstr>Булева алгебра</vt:lpstr>
      <vt:lpstr>Булева алгебра</vt:lpstr>
      <vt:lpstr>Булева алгебра</vt:lpstr>
      <vt:lpstr>Булева алгебра</vt:lpstr>
      <vt:lpstr>Логические схемы</vt:lpstr>
      <vt:lpstr>Карты Карно</vt:lpstr>
      <vt:lpstr>Карты Карно</vt:lpstr>
      <vt:lpstr>Карты Карно</vt:lpstr>
      <vt:lpstr>Базовые комбинационные блоки</vt:lpstr>
      <vt:lpstr>Базовые комбинационные блоки</vt:lpstr>
      <vt:lpstr>Базовые комбинационные блоки</vt:lpstr>
      <vt:lpstr>Элементы последовательной логики</vt:lpstr>
      <vt:lpstr>Последовательная логика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Принципы и основы алгоритмизации</dc:title>
  <dc:creator>Татьяна</dc:creator>
  <cp:lastModifiedBy>ff ff</cp:lastModifiedBy>
  <cp:revision>8</cp:revision>
  <dcterms:created xsi:type="dcterms:W3CDTF">2025-11-18T05:55:05Z</dcterms:created>
  <dcterms:modified xsi:type="dcterms:W3CDTF">2025-11-20T08:19:24Z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2024-10-11T00:00:00Z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2025-11-18T00:00:00Z</vt:filetime>
  </property>
  <property fmtid="{D5CDD505-2E9C-101B-9397-08002B2CF9AE}" pid="5" name="Producer">
    <vt:lpwstr>Microsoft® PowerPoint® 2019</vt:lpwstr>
  </property>
</Properties>
</file>
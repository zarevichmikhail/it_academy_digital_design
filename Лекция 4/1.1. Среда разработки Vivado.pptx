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61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rgbClr val="0462C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‹#›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 u="sng">
                <a:solidFill>
                  <a:srgbClr val="0462C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‹#›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4342" y="1370848"/>
            <a:ext cx="1047926" cy="1046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‹#›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‹#›</a:t>
            </a:fld>
            <a:endParaRPr spc="-9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‹#›</a:t>
            </a:fld>
            <a:endParaRPr spc="-9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9" cy="2172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280908" y="10111106"/>
            <a:ext cx="500380" cy="499109"/>
          </a:xfrm>
          <a:custGeom>
            <a:avLst/>
            <a:gdLst/>
            <a:ahLst/>
            <a:cxnLst/>
            <a:rect l="l" t="t" r="r" b="b"/>
            <a:pathLst>
              <a:path w="500380" h="499109">
                <a:moveTo>
                  <a:pt x="250044" y="0"/>
                </a:moveTo>
                <a:lnTo>
                  <a:pt x="205094" y="4016"/>
                </a:lnTo>
                <a:lnTo>
                  <a:pt x="162789" y="15598"/>
                </a:lnTo>
                <a:lnTo>
                  <a:pt x="123835" y="34042"/>
                </a:lnTo>
                <a:lnTo>
                  <a:pt x="88937" y="58643"/>
                </a:lnTo>
                <a:lnTo>
                  <a:pt x="58802" y="88700"/>
                </a:lnTo>
                <a:lnTo>
                  <a:pt x="34135" y="123509"/>
                </a:lnTo>
                <a:lnTo>
                  <a:pt x="15641" y="162367"/>
                </a:lnTo>
                <a:lnTo>
                  <a:pt x="4028" y="204570"/>
                </a:lnTo>
                <a:lnTo>
                  <a:pt x="0" y="249416"/>
                </a:lnTo>
                <a:lnTo>
                  <a:pt x="4028" y="294248"/>
                </a:lnTo>
                <a:lnTo>
                  <a:pt x="15641" y="336444"/>
                </a:lnTo>
                <a:lnTo>
                  <a:pt x="34135" y="375299"/>
                </a:lnTo>
                <a:lnTo>
                  <a:pt x="58802" y="410110"/>
                </a:lnTo>
                <a:lnTo>
                  <a:pt x="88937" y="440171"/>
                </a:lnTo>
                <a:lnTo>
                  <a:pt x="123835" y="464779"/>
                </a:lnTo>
                <a:lnTo>
                  <a:pt x="162789" y="483228"/>
                </a:lnTo>
                <a:lnTo>
                  <a:pt x="205094" y="494814"/>
                </a:lnTo>
                <a:lnTo>
                  <a:pt x="250044" y="498832"/>
                </a:lnTo>
                <a:lnTo>
                  <a:pt x="294994" y="494814"/>
                </a:lnTo>
                <a:lnTo>
                  <a:pt x="337299" y="483228"/>
                </a:lnTo>
                <a:lnTo>
                  <a:pt x="376253" y="464779"/>
                </a:lnTo>
                <a:lnTo>
                  <a:pt x="411151" y="440171"/>
                </a:lnTo>
                <a:lnTo>
                  <a:pt x="441287" y="410110"/>
                </a:lnTo>
                <a:lnTo>
                  <a:pt x="465954" y="375299"/>
                </a:lnTo>
                <a:lnTo>
                  <a:pt x="484447" y="336444"/>
                </a:lnTo>
                <a:lnTo>
                  <a:pt x="496061" y="294248"/>
                </a:lnTo>
                <a:lnTo>
                  <a:pt x="500089" y="249416"/>
                </a:lnTo>
                <a:lnTo>
                  <a:pt x="496061" y="204570"/>
                </a:lnTo>
                <a:lnTo>
                  <a:pt x="484447" y="162367"/>
                </a:lnTo>
                <a:lnTo>
                  <a:pt x="465954" y="123509"/>
                </a:lnTo>
                <a:lnTo>
                  <a:pt x="441287" y="88700"/>
                </a:lnTo>
                <a:lnTo>
                  <a:pt x="411151" y="58643"/>
                </a:lnTo>
                <a:lnTo>
                  <a:pt x="376253" y="34042"/>
                </a:lnTo>
                <a:lnTo>
                  <a:pt x="337299" y="15598"/>
                </a:lnTo>
                <a:lnTo>
                  <a:pt x="294994" y="4016"/>
                </a:lnTo>
                <a:lnTo>
                  <a:pt x="250044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06990" y="1716387"/>
            <a:ext cx="1047926" cy="1046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7099" y="572622"/>
            <a:ext cx="7868920" cy="861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8440" y="3517538"/>
            <a:ext cx="12256769" cy="6259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rgbClr val="0462C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371452" y="10226771"/>
            <a:ext cx="320675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‹#›</a:t>
            </a:fld>
            <a:endParaRPr spc="-9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d.com/" TargetMode="External"/><Relationship Id="rId2" Type="http://schemas.openxmlformats.org/officeDocument/2006/relationships/hyperlink" Target="http://www.xilinx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gilent/vivado-boards" TargetMode="External"/><Relationship Id="rId2" Type="http://schemas.openxmlformats.org/officeDocument/2006/relationships/hyperlink" Target="https://digilent.com/reference/programmable-logic/guides/installing-vivado-and-viti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igilent/digilent-xdc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4620" y="3530648"/>
            <a:ext cx="14055725" cy="2236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250" spc="50" dirty="0">
                <a:latin typeface="Nekst bold"/>
              </a:rPr>
              <a:t>СРЕДА</a:t>
            </a:r>
            <a:r>
              <a:rPr sz="7250" spc="-55" dirty="0">
                <a:latin typeface="Nekst bold"/>
              </a:rPr>
              <a:t> </a:t>
            </a:r>
            <a:r>
              <a:rPr sz="7250" dirty="0">
                <a:latin typeface="Nekst bold"/>
              </a:rPr>
              <a:t>РАЗРАБОТКИ</a:t>
            </a:r>
            <a:r>
              <a:rPr sz="7250" spc="-50" dirty="0">
                <a:latin typeface="Nekst bold"/>
              </a:rPr>
              <a:t> </a:t>
            </a:r>
            <a:r>
              <a:rPr sz="7250" spc="145" dirty="0">
                <a:latin typeface="Nekst bold"/>
              </a:rPr>
              <a:t>VIVADO. </a:t>
            </a:r>
            <a:r>
              <a:rPr sz="7250" spc="150" dirty="0">
                <a:latin typeface="Nekst bold"/>
              </a:rPr>
              <a:t>УСТАНОВКА</a:t>
            </a:r>
            <a:r>
              <a:rPr sz="7250" spc="-165" dirty="0">
                <a:latin typeface="Nekst bold"/>
              </a:rPr>
              <a:t> </a:t>
            </a:r>
            <a:r>
              <a:rPr sz="7250" dirty="0">
                <a:latin typeface="Nekst bold"/>
              </a:rPr>
              <a:t>XILINX</a:t>
            </a:r>
            <a:r>
              <a:rPr sz="7250" spc="-180" dirty="0">
                <a:latin typeface="Nekst bold"/>
              </a:rPr>
              <a:t> </a:t>
            </a:r>
            <a:r>
              <a:rPr sz="7250" spc="210" dirty="0">
                <a:latin typeface="Nekst bold"/>
              </a:rPr>
              <a:t>VIVAD</a:t>
            </a:r>
            <a:endParaRPr sz="7250" dirty="0">
              <a:latin typeface="Nekst 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620" y="6972218"/>
            <a:ext cx="5652770" cy="2016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7995">
              <a:lnSpc>
                <a:spcPct val="120900"/>
              </a:lnSpc>
              <a:spcBef>
                <a:spcPts val="95"/>
              </a:spcBef>
            </a:pP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Проектирование</a:t>
            </a:r>
            <a:r>
              <a:rPr sz="2700" b="1" spc="-110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Nekst light"/>
                <a:cs typeface="Arial"/>
              </a:rPr>
              <a:t>цифровой </a:t>
            </a: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техники</a:t>
            </a:r>
            <a:r>
              <a:rPr sz="2700" b="1" spc="-50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с</a:t>
            </a:r>
            <a:r>
              <a:rPr sz="2700" b="1" spc="-40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применением</a:t>
            </a:r>
            <a:r>
              <a:rPr sz="2700" b="1" spc="-55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spc="-20" dirty="0">
                <a:solidFill>
                  <a:srgbClr val="FFFFFF"/>
                </a:solidFill>
                <a:latin typeface="Nekst light"/>
                <a:cs typeface="Arial"/>
              </a:rPr>
              <a:t>ПЛИС</a:t>
            </a:r>
            <a:endParaRPr sz="2700" dirty="0">
              <a:latin typeface="Nekst light"/>
              <a:cs typeface="Arial"/>
            </a:endParaRPr>
          </a:p>
          <a:p>
            <a:pPr marL="12700" marR="5080">
              <a:lnSpc>
                <a:spcPct val="120900"/>
              </a:lnSpc>
              <a:spcBef>
                <a:spcPts val="5"/>
              </a:spcBef>
            </a:pP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и</a:t>
            </a:r>
            <a:r>
              <a:rPr sz="2700" b="1" spc="-20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аппаратного</a:t>
            </a:r>
            <a:r>
              <a:rPr sz="2700" b="1" spc="-40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языка</a:t>
            </a:r>
            <a:r>
              <a:rPr sz="2700" b="1" spc="-30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Nekst light"/>
                <a:cs typeface="Arial"/>
              </a:rPr>
              <a:t>разработки </a:t>
            </a:r>
            <a:r>
              <a:rPr sz="2700" b="1" dirty="0">
                <a:solidFill>
                  <a:srgbClr val="FFFFFF"/>
                </a:solidFill>
                <a:latin typeface="Nekst light"/>
                <a:cs typeface="Arial"/>
              </a:rPr>
              <a:t>System</a:t>
            </a:r>
            <a:r>
              <a:rPr sz="2700" b="1" spc="-15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Nekst light"/>
                <a:cs typeface="Arial"/>
              </a:rPr>
              <a:t>Verilog</a:t>
            </a:r>
            <a:endParaRPr sz="2700" dirty="0">
              <a:latin typeface="Nekst light"/>
              <a:cs typeface="Arial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FE72B2B6-2509-41B2-96FD-667DE8D3DEB9}"/>
              </a:ext>
            </a:extLst>
          </p:cNvPr>
          <p:cNvSpPr txBox="1"/>
          <p:nvPr/>
        </p:nvSpPr>
        <p:spPr>
          <a:xfrm>
            <a:off x="12553671" y="6972218"/>
            <a:ext cx="11051618" cy="99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7995">
              <a:lnSpc>
                <a:spcPct val="120900"/>
              </a:lnSpc>
              <a:spcBef>
                <a:spcPts val="95"/>
              </a:spcBef>
            </a:pPr>
            <a:r>
              <a:rPr lang="ru-RU" sz="2700" b="1" dirty="0">
                <a:solidFill>
                  <a:srgbClr val="FFFFFF"/>
                </a:solidFill>
                <a:latin typeface="Nekst light"/>
                <a:cs typeface="Arial"/>
              </a:rPr>
              <a:t>Роман Александрович</a:t>
            </a:r>
            <a:r>
              <a:rPr lang="en-US" sz="2700" b="1" dirty="0">
                <a:solidFill>
                  <a:srgbClr val="FFFFFF"/>
                </a:solidFill>
                <a:latin typeface="Nekst light"/>
                <a:cs typeface="Arial"/>
              </a:rPr>
              <a:t> </a:t>
            </a:r>
            <a:r>
              <a:rPr lang="ru-RU" sz="2700" b="1" dirty="0">
                <a:solidFill>
                  <a:srgbClr val="FFFFFF"/>
                </a:solidFill>
                <a:latin typeface="Nekst light"/>
                <a:cs typeface="Arial"/>
              </a:rPr>
              <a:t>Порваткин </a:t>
            </a:r>
          </a:p>
          <a:p>
            <a:pPr marL="12700" marR="467995">
              <a:lnSpc>
                <a:spcPct val="120900"/>
              </a:lnSpc>
              <a:spcBef>
                <a:spcPts val="95"/>
              </a:spcBef>
            </a:pPr>
            <a:r>
              <a:rPr lang="ru-RU" sz="2700" dirty="0">
                <a:solidFill>
                  <a:schemeClr val="bg1"/>
                </a:solidFill>
                <a:latin typeface="Nekst light"/>
                <a:cs typeface="Arial"/>
              </a:rPr>
              <a:t>Ведущий инженер-электроник ООО «ЛЭМЗ-Т»</a:t>
            </a:r>
            <a:endParaRPr sz="2700" dirty="0">
              <a:solidFill>
                <a:schemeClr val="bg1"/>
              </a:solidFill>
              <a:latin typeface="Nekst light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1718" y="3927703"/>
            <a:ext cx="10959465" cy="5262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http://www.xilinx.com</a:t>
            </a:r>
            <a:r>
              <a:rPr sz="2300" spc="-60" dirty="0">
                <a:solidFill>
                  <a:srgbClr val="0462C1"/>
                </a:solidFill>
                <a:latin typeface="Arial MT"/>
                <a:cs typeface="Arial MT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3"/>
              </a:rPr>
              <a:t>https://www.amd.com</a:t>
            </a:r>
            <a:r>
              <a:rPr sz="2300" spc="-10" dirty="0">
                <a:latin typeface="Arial MT"/>
                <a:cs typeface="Arial MT"/>
              </a:rPr>
              <a:t>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Microsoft Sans Serif"/>
                <a:cs typeface="Microsoft Sans Serif"/>
              </a:rPr>
              <a:t>Системные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требования:</a:t>
            </a:r>
            <a:endParaRPr sz="2300">
              <a:latin typeface="Microsoft Sans Serif"/>
              <a:cs typeface="Microsoft Sans Serif"/>
            </a:endParaRPr>
          </a:p>
          <a:p>
            <a:pPr marL="389255" marR="5080" indent="-377190">
              <a:lnSpc>
                <a:spcPct val="120400"/>
              </a:lnSpc>
              <a:spcBef>
                <a:spcPts val="1980"/>
              </a:spcBef>
              <a:buClr>
                <a:srgbClr val="80B700"/>
              </a:buClr>
              <a:buSzPct val="119565"/>
              <a:buChar char="•"/>
              <a:tabLst>
                <a:tab pos="389255" algn="l"/>
              </a:tabLst>
            </a:pPr>
            <a:r>
              <a:rPr sz="2300" dirty="0">
                <a:latin typeface="Microsoft Sans Serif"/>
                <a:cs typeface="Microsoft Sans Serif"/>
              </a:rPr>
              <a:t>операционная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система: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Arial MT"/>
                <a:cs typeface="Arial MT"/>
              </a:rPr>
              <a:t>Linux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(рекомендуемая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ОС: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Arial MT"/>
                <a:cs typeface="Arial MT"/>
              </a:rPr>
              <a:t>Ubuntu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 </a:t>
            </a:r>
            <a:r>
              <a:rPr sz="2300" spc="-10" dirty="0">
                <a:latin typeface="Microsoft Sans Serif"/>
                <a:cs typeface="Microsoft Sans Serif"/>
              </a:rPr>
              <a:t>родственная), </a:t>
            </a:r>
            <a:r>
              <a:rPr sz="2300" dirty="0">
                <a:latin typeface="Arial MT"/>
                <a:cs typeface="Arial MT"/>
              </a:rPr>
              <a:t>Windows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10</a:t>
            </a:r>
            <a:r>
              <a:rPr sz="2300" spc="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(и</a:t>
            </a:r>
            <a:r>
              <a:rPr sz="2300" spc="3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свежее);</a:t>
            </a:r>
            <a:endParaRPr sz="23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spcBef>
                <a:spcPts val="1555"/>
              </a:spcBef>
              <a:buClr>
                <a:srgbClr val="80B700"/>
              </a:buClr>
              <a:buSzPct val="119565"/>
              <a:buChar char="•"/>
              <a:tabLst>
                <a:tab pos="389255" algn="l"/>
              </a:tabLst>
            </a:pPr>
            <a:r>
              <a:rPr sz="2300" dirty="0">
                <a:latin typeface="Microsoft Sans Serif"/>
                <a:cs typeface="Microsoft Sans Serif"/>
              </a:rPr>
              <a:t>ОЗУ: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побольше!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(от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8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ГБ);</a:t>
            </a:r>
            <a:endParaRPr sz="23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spcBef>
                <a:spcPts val="1555"/>
              </a:spcBef>
              <a:buClr>
                <a:srgbClr val="80B700"/>
              </a:buClr>
              <a:buSzPct val="119565"/>
              <a:buChar char="•"/>
              <a:tabLst>
                <a:tab pos="389255" algn="l"/>
              </a:tabLst>
            </a:pPr>
            <a:r>
              <a:rPr sz="2300" dirty="0">
                <a:latin typeface="Microsoft Sans Serif"/>
                <a:cs typeface="Microsoft Sans Serif"/>
              </a:rPr>
              <a:t>процессор: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количество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ядер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почти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не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40" dirty="0">
                <a:latin typeface="Microsoft Sans Serif"/>
                <a:cs typeface="Microsoft Sans Serif"/>
              </a:rPr>
              <a:t>влияет,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тактовая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частота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повыше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(!);</a:t>
            </a:r>
            <a:endParaRPr sz="2300">
              <a:latin typeface="Microsoft Sans Serif"/>
              <a:cs typeface="Microsoft Sans Serif"/>
            </a:endParaRPr>
          </a:p>
          <a:p>
            <a:pPr marL="389255" marR="1046480" indent="-377190">
              <a:lnSpc>
                <a:spcPct val="120400"/>
              </a:lnSpc>
              <a:spcBef>
                <a:spcPts val="995"/>
              </a:spcBef>
              <a:buClr>
                <a:srgbClr val="80B700"/>
              </a:buClr>
              <a:buSzPct val="119565"/>
              <a:buChar char="•"/>
              <a:tabLst>
                <a:tab pos="389255" algn="l"/>
              </a:tabLst>
            </a:pPr>
            <a:r>
              <a:rPr sz="2300" dirty="0">
                <a:latin typeface="Microsoft Sans Serif"/>
                <a:cs typeface="Microsoft Sans Serif"/>
              </a:rPr>
              <a:t>дисковое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пространство: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примерно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120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ГБ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дистрибутива,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от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70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ГБ </a:t>
            </a:r>
            <a:r>
              <a:rPr sz="2300" dirty="0">
                <a:latin typeface="Microsoft Sans Serif"/>
                <a:cs typeface="Microsoft Sans Serif"/>
              </a:rPr>
              <a:t>для </a:t>
            </a:r>
            <a:r>
              <a:rPr sz="2300" spc="-10" dirty="0">
                <a:latin typeface="Microsoft Sans Serif"/>
                <a:cs typeface="Microsoft Sans Serif"/>
              </a:rPr>
              <a:t>установленного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САПР.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Microsoft Sans Serif"/>
                <a:cs typeface="Microsoft Sans Serif"/>
              </a:rPr>
              <a:t>Вывод: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игры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придется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удалить,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игры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кончились.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2</a:t>
            </a:fld>
            <a:endParaRPr spc="-9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  <p:sp>
        <p:nvSpPr>
          <p:cNvPr id="3" name="object 3"/>
          <p:cNvSpPr txBox="1"/>
          <p:nvPr/>
        </p:nvSpPr>
        <p:spPr>
          <a:xfrm>
            <a:off x="4461718" y="3581641"/>
            <a:ext cx="8593455" cy="3703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Microsoft Sans Serif"/>
                <a:cs typeface="Microsoft Sans Serif"/>
              </a:rPr>
              <a:t>Небольшой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квест</a:t>
            </a:r>
            <a:r>
              <a:rPr sz="2300" spc="-10" dirty="0">
                <a:latin typeface="Arial MT"/>
                <a:cs typeface="Arial MT"/>
              </a:rPr>
              <a:t>!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375"/>
              </a:spcBef>
            </a:pPr>
            <a:r>
              <a:rPr sz="2300" dirty="0">
                <a:latin typeface="Courier New"/>
                <a:cs typeface="Courier New"/>
              </a:rPr>
              <a:t>sudo</a:t>
            </a:r>
            <a:r>
              <a:rPr sz="2300" spc="-50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apt</a:t>
            </a:r>
            <a:r>
              <a:rPr sz="2300" spc="-4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install</a:t>
            </a:r>
            <a:r>
              <a:rPr sz="2300" spc="-4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libncurses5</a:t>
            </a:r>
            <a:r>
              <a:rPr sz="2300" spc="-50" dirty="0">
                <a:latin typeface="Courier New"/>
                <a:cs typeface="Courier New"/>
              </a:rPr>
              <a:t> </a:t>
            </a:r>
            <a:r>
              <a:rPr sz="2300" spc="-10" dirty="0">
                <a:latin typeface="Courier New"/>
                <a:cs typeface="Courier New"/>
              </a:rPr>
              <a:t>libtinfo5</a:t>
            </a:r>
            <a:endParaRPr sz="2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2300" spc="-25" dirty="0">
                <a:latin typeface="Microsoft Sans Serif"/>
                <a:cs typeface="Microsoft Sans Serif"/>
              </a:rPr>
              <a:t>или</a:t>
            </a:r>
            <a:endParaRPr sz="2300">
              <a:latin typeface="Microsoft Sans Serif"/>
              <a:cs typeface="Microsoft Sans Serif"/>
            </a:endParaRPr>
          </a:p>
          <a:p>
            <a:pPr marL="389255" indent="-376555">
              <a:lnSpc>
                <a:spcPct val="100000"/>
              </a:lnSpc>
              <a:spcBef>
                <a:spcPts val="2545"/>
              </a:spcBef>
              <a:buClr>
                <a:srgbClr val="80B700"/>
              </a:buClr>
              <a:buSzPct val="119565"/>
              <a:buChar char="•"/>
              <a:tabLst>
                <a:tab pos="389255" algn="l"/>
              </a:tabLst>
            </a:pPr>
            <a:r>
              <a:rPr sz="2300" dirty="0">
                <a:latin typeface="Microsoft Sans Serif"/>
                <a:cs typeface="Microsoft Sans Serif"/>
              </a:rPr>
              <a:t>найдем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библиотеку: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Courier New"/>
                <a:cs typeface="Courier New"/>
              </a:rPr>
              <a:t>whereis</a:t>
            </a:r>
            <a:r>
              <a:rPr sz="2300" spc="-155" dirty="0">
                <a:latin typeface="Courier New"/>
                <a:cs typeface="Courier New"/>
              </a:rPr>
              <a:t> </a:t>
            </a:r>
            <a:r>
              <a:rPr sz="2300" spc="-10" dirty="0">
                <a:latin typeface="Courier New"/>
                <a:cs typeface="Courier New"/>
              </a:rPr>
              <a:t>libncurses.so.6</a:t>
            </a:r>
            <a:endParaRPr sz="2300">
              <a:latin typeface="Courier New"/>
              <a:cs typeface="Courier New"/>
            </a:endParaRPr>
          </a:p>
          <a:p>
            <a:pPr marL="389255" indent="-376555">
              <a:lnSpc>
                <a:spcPct val="100000"/>
              </a:lnSpc>
              <a:spcBef>
                <a:spcPts val="1555"/>
              </a:spcBef>
              <a:buClr>
                <a:srgbClr val="80B700"/>
              </a:buClr>
              <a:buSzPct val="119565"/>
              <a:buChar char="•"/>
              <a:tabLst>
                <a:tab pos="389255" algn="l"/>
              </a:tabLst>
            </a:pPr>
            <a:r>
              <a:rPr sz="2300" dirty="0">
                <a:latin typeface="Microsoft Sans Serif"/>
                <a:cs typeface="Microsoft Sans Serif"/>
              </a:rPr>
              <a:t>перейдем: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Courier New"/>
                <a:cs typeface="Courier New"/>
              </a:rPr>
              <a:t>cd</a:t>
            </a:r>
            <a:r>
              <a:rPr sz="2300" spc="-10" dirty="0">
                <a:latin typeface="Courier New"/>
                <a:cs typeface="Courier New"/>
              </a:rPr>
              <a:t> /usr/lib/x86_64-linux-</a:t>
            </a:r>
            <a:r>
              <a:rPr sz="2300" spc="-20" dirty="0">
                <a:latin typeface="Courier New"/>
                <a:cs typeface="Courier New"/>
              </a:rPr>
              <a:t>gnu/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2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Microsoft Sans Serif"/>
                <a:cs typeface="Microsoft Sans Serif"/>
              </a:rPr>
              <a:t>Ссылка: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Courier New"/>
                <a:cs typeface="Courier New"/>
              </a:rPr>
              <a:t>sudo</a:t>
            </a:r>
            <a:r>
              <a:rPr sz="2300" spc="-5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ln</a:t>
            </a:r>
            <a:r>
              <a:rPr sz="2300" spc="-5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-s</a:t>
            </a:r>
            <a:r>
              <a:rPr sz="2300" spc="-5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libncurses.so.5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10" dirty="0">
                <a:latin typeface="Courier New"/>
                <a:cs typeface="Courier New"/>
              </a:rPr>
              <a:t>libncurses.so.6</a:t>
            </a:r>
            <a:endParaRPr sz="23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9028" y="7810442"/>
            <a:ext cx="9847239" cy="11346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9028" y="9271759"/>
            <a:ext cx="8701305" cy="5528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3</a:t>
            </a:fld>
            <a:endParaRPr spc="-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  <p:sp>
        <p:nvSpPr>
          <p:cNvPr id="3" name="object 3"/>
          <p:cNvSpPr txBox="1"/>
          <p:nvPr/>
        </p:nvSpPr>
        <p:spPr>
          <a:xfrm>
            <a:off x="4461718" y="4771573"/>
            <a:ext cx="3843654" cy="96075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300" spc="-25" dirty="0">
                <a:latin typeface="Microsoft Sans Serif"/>
                <a:cs typeface="Microsoft Sans Serif"/>
              </a:rPr>
              <a:t>Распакуем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архив.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300" spc="-10" dirty="0">
                <a:latin typeface="Microsoft Sans Serif"/>
                <a:cs typeface="Microsoft Sans Serif"/>
              </a:rPr>
              <a:t>Запустим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GUI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установщика: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9028" y="6269966"/>
            <a:ext cx="8940041" cy="16799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4</a:t>
            </a:fld>
            <a:endParaRPr spc="-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4932" y="2913838"/>
            <a:ext cx="10378741" cy="75528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5</a:t>
            </a:fld>
            <a:endParaRPr spc="-9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4932" y="2913838"/>
            <a:ext cx="10378741" cy="75528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6</a:t>
            </a:fld>
            <a:endParaRPr spc="-9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4932" y="2913838"/>
            <a:ext cx="10378741" cy="75528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7</a:t>
            </a:fld>
            <a:endParaRPr spc="-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7006" y="2913838"/>
            <a:ext cx="9094592" cy="77275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8</a:t>
            </a:fld>
            <a:endParaRPr spc="-9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7006" y="2913838"/>
            <a:ext cx="9094592" cy="77275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9</a:t>
            </a:fld>
            <a:endParaRPr spc="-9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0262" y="5303368"/>
            <a:ext cx="11590020" cy="1451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20" dirty="0">
                <a:latin typeface="Microsoft Sans Serif"/>
                <a:cs typeface="Microsoft Sans Serif"/>
              </a:rPr>
              <a:t>Драйвера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программатора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Arial MT"/>
                <a:cs typeface="Arial MT"/>
              </a:rPr>
              <a:t>Linux:</a:t>
            </a:r>
            <a:endParaRPr sz="2300">
              <a:latin typeface="Arial MT"/>
              <a:cs typeface="Arial MT"/>
            </a:endParaRPr>
          </a:p>
          <a:p>
            <a:pPr marL="12700" marR="5080">
              <a:lnSpc>
                <a:spcPct val="120400"/>
              </a:lnSpc>
              <a:spcBef>
                <a:spcPts val="1810"/>
              </a:spcBef>
            </a:pPr>
            <a:r>
              <a:rPr sz="2300" dirty="0">
                <a:latin typeface="Courier New"/>
                <a:cs typeface="Courier New"/>
              </a:rPr>
              <a:t>cd</a:t>
            </a:r>
            <a:r>
              <a:rPr sz="2300" spc="-20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&lt;Путь</a:t>
            </a:r>
            <a:r>
              <a:rPr sz="2300" spc="-15" dirty="0"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до</a:t>
            </a:r>
            <a:r>
              <a:rPr sz="2300" spc="-20" dirty="0">
                <a:latin typeface="Courier New"/>
                <a:cs typeface="Courier New"/>
              </a:rPr>
              <a:t> </a:t>
            </a:r>
            <a:r>
              <a:rPr sz="2300" spc="-10" dirty="0">
                <a:latin typeface="Courier New"/>
                <a:cs typeface="Courier New"/>
              </a:rPr>
              <a:t>Vivado&gt;/data/xicom/cable_drivers/lin64/install_script/ </a:t>
            </a:r>
            <a:r>
              <a:rPr sz="2300" dirty="0">
                <a:latin typeface="Courier New"/>
                <a:cs typeface="Courier New"/>
              </a:rPr>
              <a:t>install_drivers/sudo</a:t>
            </a:r>
            <a:r>
              <a:rPr sz="2300" spc="-165" dirty="0">
                <a:latin typeface="Courier New"/>
                <a:cs typeface="Courier New"/>
              </a:rPr>
              <a:t> </a:t>
            </a:r>
            <a:r>
              <a:rPr sz="2300" spc="-10" dirty="0">
                <a:latin typeface="Courier New"/>
                <a:cs typeface="Courier New"/>
              </a:rPr>
              <a:t>./install_drivers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10</a:t>
            </a:fld>
            <a:endParaRPr spc="-9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250" spc="85" dirty="0"/>
              <a:t>Установка</a:t>
            </a:r>
            <a:r>
              <a:rPr sz="5250" spc="-240" dirty="0"/>
              <a:t> </a:t>
            </a:r>
            <a:r>
              <a:rPr sz="5250" spc="-25" dirty="0"/>
              <a:t>Xilinx</a:t>
            </a:r>
            <a:r>
              <a:rPr sz="5250" spc="-240" dirty="0"/>
              <a:t> </a:t>
            </a:r>
            <a:r>
              <a:rPr sz="5250" spc="75" dirty="0"/>
              <a:t>Vivado</a:t>
            </a:r>
            <a:endParaRPr sz="5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Знакомство</a:t>
            </a:r>
            <a:r>
              <a:rPr spc="-265" dirty="0"/>
              <a:t> </a:t>
            </a:r>
            <a:r>
              <a:rPr dirty="0"/>
              <a:t>с</a:t>
            </a:r>
            <a:r>
              <a:rPr spc="-260" dirty="0"/>
              <a:t> </a:t>
            </a:r>
            <a:r>
              <a:rPr spc="-20" dirty="0"/>
              <a:t>САПР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spc="-95" dirty="0"/>
              <a:t>11</a:t>
            </a:fld>
            <a:endParaRPr spc="-9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880" marR="474980" indent="-424815">
              <a:lnSpc>
                <a:spcPct val="119600"/>
              </a:lnSpc>
              <a:spcBef>
                <a:spcPts val="100"/>
              </a:spcBef>
              <a:buFont typeface="Arial MT"/>
              <a:buAutoNum type="arabicPeriod"/>
              <a:tabLst>
                <a:tab pos="436880" algn="l"/>
              </a:tabLst>
            </a:pP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Здесь</a:t>
            </a:r>
            <a:r>
              <a:rPr u="none" spc="-75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информация</a:t>
            </a:r>
            <a:r>
              <a:rPr u="none" spc="-90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по</a:t>
            </a:r>
            <a:r>
              <a:rPr u="none" spc="-55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установке</a:t>
            </a:r>
            <a:r>
              <a:rPr u="none" spc="-85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и</a:t>
            </a:r>
            <a:r>
              <a:rPr u="none" spc="-55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настройке:</a:t>
            </a:r>
            <a:r>
              <a:rPr u="none" spc="-55" dirty="0">
                <a:solidFill>
                  <a:srgbClr val="000000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pc="-10" dirty="0">
                <a:hlinkClick r:id="rId2"/>
              </a:rPr>
              <a:t>https://digilent.com/reference/programmable-</a:t>
            </a:r>
            <a:r>
              <a:rPr u="none" spc="-10" dirty="0">
                <a:hlinkClick r:id="rId2"/>
              </a:rPr>
              <a:t> </a:t>
            </a:r>
            <a:r>
              <a:rPr spc="-20" dirty="0">
                <a:hlinkClick r:id="rId2"/>
              </a:rPr>
              <a:t>logic/guides/installing-vivado-and-</a:t>
            </a:r>
            <a:r>
              <a:rPr spc="-10" dirty="0">
                <a:hlinkClick r:id="rId2"/>
              </a:rPr>
              <a:t>vitis</a:t>
            </a:r>
            <a:r>
              <a:rPr u="none" spc="-10" dirty="0">
                <a:solidFill>
                  <a:srgbClr val="000000"/>
                </a:solidFill>
                <a:hlinkClick r:id="rId2"/>
              </a:rPr>
              <a:t>.</a:t>
            </a:r>
          </a:p>
          <a:p>
            <a:pPr>
              <a:lnSpc>
                <a:spcPct val="100000"/>
              </a:lnSpc>
              <a:spcBef>
                <a:spcPts val="1000"/>
              </a:spcBef>
              <a:buFont typeface="Arial MT"/>
              <a:buAutoNum type="arabicPeriod"/>
            </a:pPr>
            <a:endParaRPr u="none" spc="-10" dirty="0">
              <a:solidFill>
                <a:srgbClr val="000000"/>
              </a:solidFill>
              <a:hlinkClick r:id="rId2"/>
            </a:endParaRPr>
          </a:p>
          <a:p>
            <a:pPr marL="436880" indent="-424180">
              <a:lnSpc>
                <a:spcPct val="100000"/>
              </a:lnSpc>
              <a:spcBef>
                <a:spcPts val="5"/>
              </a:spcBef>
              <a:buFont typeface="Arial MT"/>
              <a:buAutoNum type="arabicPeriod"/>
              <a:tabLst>
                <a:tab pos="436880" algn="l"/>
              </a:tabLst>
            </a:pP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Здесь</a:t>
            </a:r>
            <a:r>
              <a:rPr u="none" spc="-1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находятся</a:t>
            </a:r>
            <a:r>
              <a:rPr u="none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файлы</a:t>
            </a:r>
            <a:r>
              <a:rPr u="none" spc="-1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отладочных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плат: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pc="-20" dirty="0">
                <a:hlinkClick r:id="rId3"/>
              </a:rPr>
              <a:t>https://github.com/Digilent/vivado-</a:t>
            </a:r>
            <a:r>
              <a:rPr spc="-10" dirty="0">
                <a:hlinkClick r:id="rId3"/>
              </a:rPr>
              <a:t>boards</a:t>
            </a:r>
            <a:r>
              <a:rPr u="none" spc="-10" dirty="0">
                <a:solidFill>
                  <a:srgbClr val="000000"/>
                </a:solidFill>
              </a:rPr>
              <a:t>.</a:t>
            </a:r>
          </a:p>
          <a:p>
            <a:pPr marL="452120" marR="1091565">
              <a:lnSpc>
                <a:spcPct val="119600"/>
              </a:lnSpc>
              <a:spcBef>
                <a:spcPts val="819"/>
              </a:spcBef>
            </a:pP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Они</a:t>
            </a:r>
            <a:r>
              <a:rPr u="none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необязательны,</a:t>
            </a:r>
            <a:r>
              <a:rPr u="none"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но</a:t>
            </a:r>
            <a:r>
              <a:rPr u="none" spc="-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упрощают</a:t>
            </a:r>
            <a:r>
              <a:rPr u="none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создание</a:t>
            </a:r>
            <a:r>
              <a:rPr u="none" spc="-7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проекта.</a:t>
            </a:r>
            <a:r>
              <a:rPr u="none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Описание</a:t>
            </a:r>
            <a:r>
              <a:rPr u="none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добавления</a:t>
            </a:r>
            <a:r>
              <a:rPr u="none"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файлов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описано</a:t>
            </a:r>
            <a:r>
              <a:rPr u="none" spc="-10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выше.</a:t>
            </a:r>
          </a:p>
          <a:p>
            <a:pPr marL="452120" marR="265430">
              <a:lnSpc>
                <a:spcPct val="119600"/>
              </a:lnSpc>
              <a:spcBef>
                <a:spcPts val="835"/>
              </a:spcBef>
            </a:pP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Если</a:t>
            </a:r>
            <a:r>
              <a:rPr u="none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кратко,</a:t>
            </a:r>
            <a:r>
              <a:rPr u="none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то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нужно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скопировать</a:t>
            </a:r>
            <a:r>
              <a:rPr u="none" spc="-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из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Courier New"/>
                <a:cs typeface="Courier New"/>
              </a:rPr>
              <a:t>new/board_files</a:t>
            </a:r>
            <a:r>
              <a:rPr u="none" spc="-7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в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Courier New"/>
                <a:cs typeface="Courier New"/>
              </a:rPr>
              <a:t>&lt;путь</a:t>
            </a:r>
            <a:r>
              <a:rPr u="none" spc="-8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u="none" dirty="0">
                <a:solidFill>
                  <a:srgbClr val="000000"/>
                </a:solidFill>
                <a:latin typeface="Courier New"/>
                <a:cs typeface="Courier New"/>
              </a:rPr>
              <a:t>до</a:t>
            </a:r>
            <a:r>
              <a:rPr u="none" spc="-7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Courier New"/>
                <a:cs typeface="Courier New"/>
              </a:rPr>
              <a:t>vivado/версия&gt;/ data/boards/board_files</a:t>
            </a:r>
            <a:r>
              <a:rPr u="none" spc="-10" dirty="0">
                <a:solidFill>
                  <a:srgbClr val="000000"/>
                </a:solidFill>
              </a:rPr>
              <a:t>.</a:t>
            </a:r>
          </a:p>
          <a:p>
            <a:pPr marL="436880" marR="5080" indent="-424815">
              <a:lnSpc>
                <a:spcPct val="151500"/>
              </a:lnSpc>
              <a:spcBef>
                <a:spcPts val="1650"/>
              </a:spcBef>
              <a:buFont typeface="Arial MT"/>
              <a:buAutoNum type="arabicPeriod" startAt="3"/>
              <a:tabLst>
                <a:tab pos="452120" algn="l"/>
              </a:tabLst>
            </a:pP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Здесь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находятся</a:t>
            </a:r>
            <a:r>
              <a:rPr u="none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файлы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ограничений</a:t>
            </a:r>
            <a:r>
              <a:rPr u="none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отладочных</a:t>
            </a:r>
            <a:r>
              <a:rPr u="none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плат: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pc="-20" dirty="0">
                <a:hlinkClick r:id="rId4"/>
              </a:rPr>
              <a:t>https://github.com/Digilent/digilent-xdc</a:t>
            </a:r>
            <a:r>
              <a:rPr u="none" spc="-20" dirty="0">
                <a:solidFill>
                  <a:srgbClr val="000000"/>
                </a:solidFill>
              </a:rPr>
              <a:t>. 	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Они</a:t>
            </a:r>
            <a:r>
              <a:rPr u="none" spc="-5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необязательны,</a:t>
            </a:r>
            <a:r>
              <a:rPr u="none" spc="-6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но</a:t>
            </a:r>
            <a:r>
              <a:rPr u="none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ускоряют</a:t>
            </a:r>
            <a:r>
              <a:rPr u="none" spc="-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создание</a:t>
            </a:r>
            <a:r>
              <a:rPr u="none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проекта.</a:t>
            </a:r>
          </a:p>
          <a:p>
            <a:pPr>
              <a:lnSpc>
                <a:spcPct val="100000"/>
              </a:lnSpc>
              <a:spcBef>
                <a:spcPts val="550"/>
              </a:spcBef>
              <a:buFont typeface="Arial MT"/>
              <a:buAutoNum type="arabicPeriod" startAt="3"/>
            </a:pPr>
            <a:endParaRPr u="none" spc="-10" dirty="0">
              <a:solidFill>
                <a:srgbClr val="000000"/>
              </a:solidFill>
              <a:latin typeface="Microsoft Sans Serif"/>
              <a:cs typeface="Microsoft Sans Serif"/>
            </a:endParaRPr>
          </a:p>
          <a:p>
            <a:pPr marL="436880" indent="-424180">
              <a:lnSpc>
                <a:spcPct val="100000"/>
              </a:lnSpc>
              <a:buFont typeface="Arial MT"/>
              <a:buAutoNum type="arabicPeriod" startAt="3"/>
              <a:tabLst>
                <a:tab pos="436880" algn="l"/>
              </a:tabLst>
            </a:pPr>
            <a:r>
              <a:rPr u="none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Запуск</a:t>
            </a:r>
            <a:r>
              <a:rPr u="none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приложения</a:t>
            </a:r>
            <a:r>
              <a:rPr u="none" spc="-9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35" dirty="0">
                <a:solidFill>
                  <a:srgbClr val="000000"/>
                </a:solidFill>
                <a:latin typeface="Microsoft Sans Serif"/>
                <a:cs typeface="Microsoft Sans Serif"/>
              </a:rPr>
              <a:t>возможен</a:t>
            </a:r>
            <a:r>
              <a:rPr u="none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из</a:t>
            </a:r>
            <a:r>
              <a:rPr u="none" spc="-7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меню</a:t>
            </a:r>
            <a:r>
              <a:rPr u="none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или</a:t>
            </a:r>
            <a:r>
              <a:rPr u="none"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</a:t>
            </a:r>
            <a:r>
              <a:rPr u="none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помощи</a:t>
            </a:r>
            <a:r>
              <a:rPr u="none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двух</a:t>
            </a:r>
            <a:r>
              <a:rPr u="none"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команд:</a:t>
            </a:r>
          </a:p>
          <a:p>
            <a:pPr marL="452120" marR="4601210">
              <a:lnSpc>
                <a:spcPts val="3920"/>
              </a:lnSpc>
              <a:spcBef>
                <a:spcPts val="140"/>
              </a:spcBef>
            </a:pPr>
            <a:r>
              <a:rPr u="none" dirty="0">
                <a:solidFill>
                  <a:srgbClr val="000000"/>
                </a:solidFill>
                <a:latin typeface="Courier New"/>
                <a:cs typeface="Courier New"/>
              </a:rPr>
              <a:t>source</a:t>
            </a:r>
            <a:r>
              <a:rPr u="none" spc="-3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u="none" dirty="0">
                <a:solidFill>
                  <a:srgbClr val="000000"/>
                </a:solidFill>
                <a:latin typeface="Courier New"/>
                <a:cs typeface="Courier New"/>
              </a:rPr>
              <a:t>&lt;путь</a:t>
            </a:r>
            <a:r>
              <a:rPr u="none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u="none" dirty="0">
                <a:solidFill>
                  <a:srgbClr val="000000"/>
                </a:solidFill>
                <a:latin typeface="Courier New"/>
                <a:cs typeface="Courier New"/>
              </a:rPr>
              <a:t>до</a:t>
            </a:r>
            <a:r>
              <a:rPr u="none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u="none" spc="-10" dirty="0">
                <a:solidFill>
                  <a:srgbClr val="000000"/>
                </a:solidFill>
                <a:latin typeface="Courier New"/>
                <a:cs typeface="Courier New"/>
              </a:rPr>
              <a:t>Vivado/версия&gt;/settings64.sh vivado</a:t>
            </a:r>
            <a:r>
              <a:rPr u="none" spc="-1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85807" y="4864072"/>
            <a:ext cx="11533505" cy="1282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250" spc="-25" dirty="0"/>
              <a:t>Спасибо</a:t>
            </a:r>
            <a:r>
              <a:rPr sz="8250" spc="-430" dirty="0"/>
              <a:t> </a:t>
            </a:r>
            <a:r>
              <a:rPr sz="8250" spc="260" dirty="0"/>
              <a:t>за</a:t>
            </a:r>
            <a:r>
              <a:rPr sz="8250" spc="-430" dirty="0"/>
              <a:t> </a:t>
            </a:r>
            <a:r>
              <a:rPr sz="8250" spc="-80" dirty="0"/>
              <a:t>внимание!</a:t>
            </a:r>
            <a:endParaRPr sz="8250"/>
          </a:p>
        </p:txBody>
      </p:sp>
      <p:sp>
        <p:nvSpPr>
          <p:cNvPr id="4" name="object 4"/>
          <p:cNvSpPr txBox="1"/>
          <p:nvPr/>
        </p:nvSpPr>
        <p:spPr>
          <a:xfrm>
            <a:off x="1386314" y="10192894"/>
            <a:ext cx="7392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СРЕДА</a:t>
            </a:r>
            <a:r>
              <a:rPr sz="19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РАЗРАБОТКИ</a:t>
            </a:r>
            <a:r>
              <a:rPr sz="19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0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VIVADO.</a:t>
            </a:r>
            <a:r>
              <a:rPr sz="19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0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УСТАНОВКА</a:t>
            </a:r>
            <a:r>
              <a:rPr sz="19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XILINX</a:t>
            </a:r>
            <a:r>
              <a:rPr sz="19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0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VIVADO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36245" y="10111106"/>
            <a:ext cx="9845040" cy="499109"/>
            <a:chOff x="8936245" y="10111106"/>
            <a:chExt cx="9845040" cy="499109"/>
          </a:xfrm>
        </p:grpSpPr>
        <p:sp>
          <p:nvSpPr>
            <p:cNvPr id="6" name="object 6"/>
            <p:cNvSpPr/>
            <p:nvPr/>
          </p:nvSpPr>
          <p:spPr>
            <a:xfrm>
              <a:off x="18280908" y="10111106"/>
              <a:ext cx="500380" cy="499109"/>
            </a:xfrm>
            <a:custGeom>
              <a:avLst/>
              <a:gdLst/>
              <a:ahLst/>
              <a:cxnLst/>
              <a:rect l="l" t="t" r="r" b="b"/>
              <a:pathLst>
                <a:path w="500380" h="499109">
                  <a:moveTo>
                    <a:pt x="250044" y="0"/>
                  </a:moveTo>
                  <a:lnTo>
                    <a:pt x="205094" y="4016"/>
                  </a:lnTo>
                  <a:lnTo>
                    <a:pt x="162789" y="15598"/>
                  </a:lnTo>
                  <a:lnTo>
                    <a:pt x="123835" y="34042"/>
                  </a:lnTo>
                  <a:lnTo>
                    <a:pt x="88937" y="58643"/>
                  </a:lnTo>
                  <a:lnTo>
                    <a:pt x="58802" y="88700"/>
                  </a:lnTo>
                  <a:lnTo>
                    <a:pt x="34135" y="123509"/>
                  </a:lnTo>
                  <a:lnTo>
                    <a:pt x="15641" y="162367"/>
                  </a:lnTo>
                  <a:lnTo>
                    <a:pt x="4028" y="204570"/>
                  </a:lnTo>
                  <a:lnTo>
                    <a:pt x="0" y="249416"/>
                  </a:lnTo>
                  <a:lnTo>
                    <a:pt x="4028" y="294248"/>
                  </a:lnTo>
                  <a:lnTo>
                    <a:pt x="15641" y="336444"/>
                  </a:lnTo>
                  <a:lnTo>
                    <a:pt x="34135" y="375299"/>
                  </a:lnTo>
                  <a:lnTo>
                    <a:pt x="58802" y="410110"/>
                  </a:lnTo>
                  <a:lnTo>
                    <a:pt x="88937" y="440171"/>
                  </a:lnTo>
                  <a:lnTo>
                    <a:pt x="123835" y="464779"/>
                  </a:lnTo>
                  <a:lnTo>
                    <a:pt x="162789" y="483228"/>
                  </a:lnTo>
                  <a:lnTo>
                    <a:pt x="205094" y="494814"/>
                  </a:lnTo>
                  <a:lnTo>
                    <a:pt x="250044" y="498832"/>
                  </a:lnTo>
                  <a:lnTo>
                    <a:pt x="294994" y="494814"/>
                  </a:lnTo>
                  <a:lnTo>
                    <a:pt x="337299" y="483228"/>
                  </a:lnTo>
                  <a:lnTo>
                    <a:pt x="376253" y="464779"/>
                  </a:lnTo>
                  <a:lnTo>
                    <a:pt x="411151" y="440171"/>
                  </a:lnTo>
                  <a:lnTo>
                    <a:pt x="441287" y="410110"/>
                  </a:lnTo>
                  <a:lnTo>
                    <a:pt x="465954" y="375299"/>
                  </a:lnTo>
                  <a:lnTo>
                    <a:pt x="484447" y="336444"/>
                  </a:lnTo>
                  <a:lnTo>
                    <a:pt x="496061" y="294248"/>
                  </a:lnTo>
                  <a:lnTo>
                    <a:pt x="500089" y="249416"/>
                  </a:lnTo>
                  <a:lnTo>
                    <a:pt x="496061" y="204570"/>
                  </a:lnTo>
                  <a:lnTo>
                    <a:pt x="484447" y="162367"/>
                  </a:lnTo>
                  <a:lnTo>
                    <a:pt x="465954" y="123509"/>
                  </a:lnTo>
                  <a:lnTo>
                    <a:pt x="441287" y="88700"/>
                  </a:lnTo>
                  <a:lnTo>
                    <a:pt x="411151" y="58643"/>
                  </a:lnTo>
                  <a:lnTo>
                    <a:pt x="376253" y="34042"/>
                  </a:lnTo>
                  <a:lnTo>
                    <a:pt x="337299" y="15598"/>
                  </a:lnTo>
                  <a:lnTo>
                    <a:pt x="294994" y="4016"/>
                  </a:lnTo>
                  <a:lnTo>
                    <a:pt x="25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8785" y="10371202"/>
              <a:ext cx="8993505" cy="0"/>
            </a:xfrm>
            <a:custGeom>
              <a:avLst/>
              <a:gdLst/>
              <a:ahLst/>
              <a:cxnLst/>
              <a:rect l="l" t="t" r="r" b="b"/>
              <a:pathLst>
                <a:path w="8993505">
                  <a:moveTo>
                    <a:pt x="8993443" y="0"/>
                  </a:moveTo>
                  <a:lnTo>
                    <a:pt x="0" y="0"/>
                  </a:lnTo>
                </a:path>
              </a:pathLst>
            </a:custGeom>
            <a:ln w="502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84017" y="10163241"/>
            <a:ext cx="29718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80" dirty="0">
                <a:solidFill>
                  <a:srgbClr val="80B800"/>
                </a:solidFill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9547" y="1370848"/>
            <a:ext cx="1046669" cy="10466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378</Words>
  <Application>Microsoft Office PowerPoint</Application>
  <PresentationFormat>Произвольный</PresentationFormat>
  <Paragraphs>57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Arial MT</vt:lpstr>
      <vt:lpstr>Courier New</vt:lpstr>
      <vt:lpstr>Microsoft Sans Serif</vt:lpstr>
      <vt:lpstr>Nekst bold</vt:lpstr>
      <vt:lpstr>Nekst light</vt:lpstr>
      <vt:lpstr>Office Theme</vt:lpstr>
      <vt:lpstr>СРЕДА РАЗРАБОТКИ VIVADO. УСТАНОВКА XILINX VIVAD</vt:lpstr>
      <vt:lpstr>Установка Xilinx Vivado</vt:lpstr>
      <vt:lpstr>Установка Xilinx Vivado</vt:lpstr>
      <vt:lpstr>Установка Xilinx Vivado</vt:lpstr>
      <vt:lpstr>Установка Xilinx Vivado</vt:lpstr>
      <vt:lpstr>Установка Xilinx Vivado</vt:lpstr>
      <vt:lpstr>Установка Xilinx Vivado</vt:lpstr>
      <vt:lpstr>Установка Xilinx Vivado</vt:lpstr>
      <vt:lpstr>Установка Xilinx Vivado</vt:lpstr>
      <vt:lpstr>Установка Xilinx Vivado</vt:lpstr>
      <vt:lpstr>Знакомство с САПР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Принципы и основы алгоритмизации</dc:title>
  <dc:creator>Татьяна</dc:creator>
  <cp:lastModifiedBy>ff ff</cp:lastModifiedBy>
  <cp:revision>1</cp:revision>
  <dcterms:created xsi:type="dcterms:W3CDTF">2025-11-27T06:30:56Z</dcterms:created>
  <dcterms:modified xsi:type="dcterms:W3CDTF">2025-11-27T06:34:50Z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2016</vt:lpwstr>
  </property>
</Properties>
</file>
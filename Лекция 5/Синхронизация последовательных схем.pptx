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20"/>
  </p:notesMasterIdLst>
  <p:sldIdLst>
    <p:sldId id="282" r:id="rId2"/>
    <p:sldId id="257" r:id="rId3"/>
    <p:sldId id="258" r:id="rId4"/>
    <p:sldId id="259" r:id="rId5"/>
    <p:sldId id="260" r:id="rId6"/>
    <p:sldId id="283" r:id="rId7"/>
    <p:sldId id="262" r:id="rId8"/>
    <p:sldId id="263" r:id="rId9"/>
    <p:sldId id="264" r:id="rId10"/>
    <p:sldId id="265" r:id="rId11"/>
    <p:sldId id="284" r:id="rId12"/>
    <p:sldId id="267" r:id="rId13"/>
    <p:sldId id="285" r:id="rId14"/>
    <p:sldId id="269" r:id="rId15"/>
    <p:sldId id="270" r:id="rId16"/>
    <p:sldId id="271" r:id="rId17"/>
    <p:sldId id="272" r:id="rId18"/>
    <p:sldId id="281" r:id="rId19"/>
  </p:sldIdLst>
  <p:sldSz cx="12192000" cy="685800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76" userDrawn="1">
          <p15:clr>
            <a:srgbClr val="A4A3A4"/>
          </p15:clr>
        </p15:guide>
        <p15:guide id="2" pos="672" userDrawn="1">
          <p15:clr>
            <a:srgbClr val="A4A3A4"/>
          </p15:clr>
        </p15:guide>
        <p15:guide id="3" pos="70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C734"/>
    <a:srgbClr val="9CC6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14" y="114"/>
      </p:cViewPr>
      <p:guideLst>
        <p:guide orient="horz" pos="1776"/>
        <p:guide pos="672"/>
        <p:guide pos="700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9E101-2915-4128-A11D-794E84B32A0B}" type="datetimeFigureOut">
              <a:rPr lang="ru-RU" smtClean="0"/>
              <a:t>04.12.2025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FB5B2-8A23-4051-83CA-5DBDE5EB6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338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1pPr>
    <a:lvl2pPr marL="277246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2pPr>
    <a:lvl3pPr marL="554492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3pPr>
    <a:lvl4pPr marL="831738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4pPr>
    <a:lvl5pPr marL="1108984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5pPr>
    <a:lvl6pPr marL="1386230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6pPr>
    <a:lvl7pPr marL="1663476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7pPr>
    <a:lvl8pPr marL="1940723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8pPr>
    <a:lvl9pPr marL="2217969" algn="l" defTabSz="554492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77DB11E-D5A3-41BA-BE80-3F3F2770D406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462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71B5F0-83B3-48D0-A753-306989D8C29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44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7881C2-8E96-47C0-AF98-70C1F3F5B9B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39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356BB7-5E28-40ED-A221-9EA38B404EB2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56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AC16778-9829-422C-9573-F934C28A8E4F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6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5E194F-2764-4770-99A6-8DAA64B1199A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415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09B351-E878-461F-8490-88AEDECD20AB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33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D0BE8A-4455-4D08-87E6-98551E95001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7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92CABD-C7C6-4C78-810E-0369FC379D84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879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E2162F-4E47-42AD-BD20-0B56E37C8921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2292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69E286-63DC-4C68-B430-785BC09A9AC1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97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847262" y="347239"/>
            <a:ext cx="9557973" cy="581304"/>
          </a:xfrm>
        </p:spPr>
        <p:txBody>
          <a:bodyPr lIns="36000" tIns="36000" rIns="36000" bIns="36000"/>
          <a:lstStyle>
            <a:lvl1pPr>
              <a:defRPr sz="3305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36000" tIns="36000" rIns="36000" bIns="3600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36000" tIns="36000" rIns="36000" bIns="3600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438FB3-3D92-4C1F-8E71-44A266DB2C6B}" type="datetime1">
              <a:rPr lang="en-US" smtClean="0"/>
              <a:t>12/4/2025</a:t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36000" tIns="36000" rIns="36000" bIns="36000"/>
          <a:lstStyle>
            <a:lvl1pPr>
              <a:defRPr sz="1395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8814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 bwMode="auto">
          <a:xfrm>
            <a:off x="847262" y="347239"/>
            <a:ext cx="9557973" cy="581304"/>
          </a:xfrm>
        </p:spPr>
        <p:txBody>
          <a:bodyPr lIns="36000" tIns="36000" rIns="36000" bIns="36000"/>
          <a:lstStyle>
            <a:lvl1pPr>
              <a:defRPr sz="3305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1962386" y="2352375"/>
            <a:ext cx="7852787" cy="287377"/>
          </a:xfrm>
        </p:spPr>
        <p:txBody>
          <a:bodyPr lIns="36000" tIns="36000" rIns="36000" bIns="36000"/>
          <a:lstStyle>
            <a:lvl1pPr>
              <a:defRPr sz="1395" b="0" i="0">
                <a:solidFill>
                  <a:srgbClr val="70A300"/>
                </a:solidFill>
                <a:latin typeface="Microsoft Sans Serif"/>
                <a:cs typeface="Microsoft Sans Serif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36000" tIns="36000" rIns="36000" bIns="3600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36000" tIns="36000" rIns="36000" bIns="3600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FBCB00-3E67-4268-A04E-6F5AFF12B3D4}" type="datetime1">
              <a:rPr lang="en-US" smtClean="0"/>
              <a:t>12/4/2025</a:t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36000" tIns="36000" rIns="36000" bIns="36000"/>
          <a:lstStyle>
            <a:lvl1pPr>
              <a:defRPr sz="1395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36000" tIns="36000" rIns="36000" bIns="3600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36000" tIns="36000" rIns="36000" bIns="3600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BD9E644-AD89-4769-9F3C-846BA282D93A}" type="datetime1">
              <a:rPr lang="en-US" smtClean="0"/>
              <a:t>12/4/2025</a:t>
            </a:fld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36000" tIns="36000" rIns="36000" bIns="36000"/>
          <a:lstStyle>
            <a:lvl1pPr>
              <a:defRPr sz="1395" b="1" i="0">
                <a:solidFill>
                  <a:srgbClr val="80B800"/>
                </a:solidFill>
                <a:latin typeface="Arial"/>
                <a:cs typeface="Arial"/>
              </a:defRPr>
            </a:lvl1pPr>
          </a:lstStyle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5B32C5E-FDFF-428B-B40D-120DB9EE685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grpSp>
        <p:nvGrpSpPr>
          <p:cNvPr id="7" name="object 11">
            <a:extLst>
              <a:ext uri="{FF2B5EF4-FFF2-40B4-BE49-F238E27FC236}">
                <a16:creationId xmlns:a16="http://schemas.microsoft.com/office/drawing/2014/main" id="{BA74C360-FEA9-4495-AFE7-D5F9C73E30A6}"/>
              </a:ext>
            </a:extLst>
          </p:cNvPr>
          <p:cNvGrpSpPr/>
          <p:nvPr userDrawn="1"/>
        </p:nvGrpSpPr>
        <p:grpSpPr>
          <a:xfrm>
            <a:off x="11690604" y="6401668"/>
            <a:ext cx="281940" cy="280670"/>
            <a:chOff x="11690604" y="6435852"/>
            <a:chExt cx="281940" cy="280670"/>
          </a:xfrm>
        </p:grpSpPr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F44B7500-8192-4205-8272-E7A9259D1999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128016" y="0"/>
                  </a:moveTo>
                  <a:lnTo>
                    <a:pt x="78170" y="10000"/>
                  </a:lnTo>
                  <a:lnTo>
                    <a:pt x="37480" y="37271"/>
                  </a:lnTo>
                  <a:lnTo>
                    <a:pt x="10054" y="77720"/>
                  </a:lnTo>
                  <a:lnTo>
                    <a:pt x="0" y="127254"/>
                  </a:lnTo>
                  <a:lnTo>
                    <a:pt x="10054" y="176787"/>
                  </a:lnTo>
                  <a:lnTo>
                    <a:pt x="37480" y="217236"/>
                  </a:lnTo>
                  <a:lnTo>
                    <a:pt x="78170" y="244507"/>
                  </a:lnTo>
                  <a:lnTo>
                    <a:pt x="128016" y="254508"/>
                  </a:lnTo>
                  <a:lnTo>
                    <a:pt x="177861" y="244507"/>
                  </a:lnTo>
                  <a:lnTo>
                    <a:pt x="218551" y="217236"/>
                  </a:lnTo>
                  <a:lnTo>
                    <a:pt x="245977" y="176787"/>
                  </a:lnTo>
                  <a:lnTo>
                    <a:pt x="256032" y="127254"/>
                  </a:lnTo>
                  <a:lnTo>
                    <a:pt x="245977" y="77720"/>
                  </a:lnTo>
                  <a:lnTo>
                    <a:pt x="218551" y="37271"/>
                  </a:lnTo>
                  <a:lnTo>
                    <a:pt x="177861" y="10000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9CC639"/>
            </a:solidFill>
          </p:spPr>
          <p:txBody>
            <a:bodyPr wrap="square" lIns="0" tIns="0" rIns="0" bIns="0" rtlCol="0"/>
            <a:lstStyle/>
            <a:p>
              <a:endParaRPr b="1">
                <a:solidFill>
                  <a:schemeClr val="bg1"/>
                </a:solidFill>
              </a:endParaRPr>
            </a:p>
          </p:txBody>
        </p:sp>
        <p:sp>
          <p:nvSpPr>
            <p:cNvPr id="9" name="object 13">
              <a:extLst>
                <a:ext uri="{FF2B5EF4-FFF2-40B4-BE49-F238E27FC236}">
                  <a16:creationId xmlns:a16="http://schemas.microsoft.com/office/drawing/2014/main" id="{F2051684-3209-4800-BF60-FD282F2B1177}"/>
                </a:ext>
              </a:extLst>
            </p:cNvPr>
            <p:cNvSpPr/>
            <p:nvPr/>
          </p:nvSpPr>
          <p:spPr>
            <a:xfrm>
              <a:off x="11703558" y="6448806"/>
              <a:ext cx="256540" cy="254635"/>
            </a:xfrm>
            <a:custGeom>
              <a:avLst/>
              <a:gdLst/>
              <a:ahLst/>
              <a:cxnLst/>
              <a:rect l="l" t="t" r="r" b="b"/>
              <a:pathLst>
                <a:path w="256540" h="254634">
                  <a:moveTo>
                    <a:pt x="0" y="127254"/>
                  </a:moveTo>
                  <a:lnTo>
                    <a:pt x="10054" y="77720"/>
                  </a:lnTo>
                  <a:lnTo>
                    <a:pt x="37480" y="37271"/>
                  </a:lnTo>
                  <a:lnTo>
                    <a:pt x="78170" y="10000"/>
                  </a:lnTo>
                  <a:lnTo>
                    <a:pt x="128016" y="0"/>
                  </a:lnTo>
                  <a:lnTo>
                    <a:pt x="177861" y="10000"/>
                  </a:lnTo>
                  <a:lnTo>
                    <a:pt x="218551" y="37271"/>
                  </a:lnTo>
                  <a:lnTo>
                    <a:pt x="245977" y="77720"/>
                  </a:lnTo>
                  <a:lnTo>
                    <a:pt x="256032" y="127254"/>
                  </a:lnTo>
                  <a:lnTo>
                    <a:pt x="245977" y="176787"/>
                  </a:lnTo>
                  <a:lnTo>
                    <a:pt x="218551" y="217236"/>
                  </a:lnTo>
                  <a:lnTo>
                    <a:pt x="177861" y="244507"/>
                  </a:lnTo>
                  <a:lnTo>
                    <a:pt x="128016" y="254508"/>
                  </a:lnTo>
                  <a:lnTo>
                    <a:pt x="78170" y="244507"/>
                  </a:lnTo>
                  <a:lnTo>
                    <a:pt x="37480" y="217236"/>
                  </a:lnTo>
                  <a:lnTo>
                    <a:pt x="10054" y="176787"/>
                  </a:lnTo>
                  <a:lnTo>
                    <a:pt x="0" y="127254"/>
                  </a:lnTo>
                  <a:close/>
                </a:path>
              </a:pathLst>
            </a:custGeom>
            <a:ln w="25908">
              <a:solidFill>
                <a:srgbClr val="9CC639"/>
              </a:solidFill>
            </a:ln>
          </p:spPr>
          <p:txBody>
            <a:bodyPr wrap="square" lIns="0" tIns="0" rIns="0" bIns="0" rtlCol="0"/>
            <a:lstStyle/>
            <a:p>
              <a:endParaRPr b="1">
                <a:solidFill>
                  <a:schemeClr val="bg1"/>
                </a:solidFill>
              </a:endParaRPr>
            </a:p>
          </p:txBody>
        </p:sp>
      </p:grp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610000" y="6354000"/>
            <a:ext cx="432000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tint val="75000"/>
                  </a:schemeClr>
                </a:solidFill>
                <a:latin typeface="Nekst" panose="00000500000000000000" pitchFamily="2" charset="-52"/>
                <a:cs typeface="Noto Sans Arabic Condensed" pitchFamily="2" charset="-78"/>
              </a:defRPr>
            </a:lvl1pPr>
          </a:lstStyle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lang="ru-RU" spc="21" smtClean="0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361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7" r:id="rId12"/>
    <p:sldLayoutId id="2147483650" r:id="rId13"/>
    <p:sldLayoutId id="214748365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66800" y="4745736"/>
            <a:ext cx="4191000" cy="113056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Проектирование</a:t>
            </a:r>
            <a:r>
              <a:rPr lang="ru-RU" sz="18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цифровой</a:t>
            </a:r>
            <a:r>
              <a:rPr lang="ru-RU" sz="18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техники </a:t>
            </a:r>
            <a:r>
              <a:rPr lang="en-US" sz="18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/>
            </a:r>
            <a:br>
              <a:rPr lang="en-US" sz="18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</a:br>
            <a:r>
              <a:rPr lang="ru-RU" sz="1800" spc="12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с</a:t>
            </a:r>
            <a:r>
              <a:rPr lang="ru-RU" sz="18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применением</a:t>
            </a:r>
            <a:r>
              <a:rPr lang="ru-RU" sz="18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ПЛИС</a:t>
            </a:r>
            <a:r>
              <a:rPr lang="ru-RU" sz="1800" dirty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и</a:t>
            </a:r>
            <a:r>
              <a:rPr lang="ru-RU" sz="18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аппаратного</a:t>
            </a:r>
            <a:r>
              <a:rPr lang="ru-RU" sz="18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языка</a:t>
            </a:r>
            <a:r>
              <a:rPr lang="ru-RU" sz="18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1800" spc="-1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разработки </a:t>
            </a:r>
            <a:r>
              <a:rPr lang="en-US" sz="1800" spc="-1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S</a:t>
            </a:r>
            <a:r>
              <a:rPr lang="ru-RU" sz="1800" dirty="0" err="1" smtClean="0">
                <a:solidFill>
                  <a:schemeClr val="bg1"/>
                </a:solidFill>
                <a:latin typeface="Nekst Semi Bold" panose="00000700000000000000" pitchFamily="2" charset="-52"/>
              </a:rPr>
              <a:t>ystem</a:t>
            </a:r>
            <a:r>
              <a:rPr lang="ru-RU" sz="1800" spc="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en-US" sz="1800" spc="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V</a:t>
            </a:r>
            <a:r>
              <a:rPr lang="ru-RU" sz="1800" spc="-10" dirty="0" err="1" smtClean="0">
                <a:solidFill>
                  <a:schemeClr val="bg1"/>
                </a:solidFill>
                <a:latin typeface="Nekst Semi Bold" panose="00000700000000000000" pitchFamily="2" charset="-52"/>
              </a:rPr>
              <a:t>erilog</a:t>
            </a:r>
            <a:endParaRPr lang="ru-RU" sz="1800" dirty="0">
              <a:solidFill>
                <a:schemeClr val="bg1"/>
              </a:solidFill>
              <a:latin typeface="Nekst Semi Bold" panose="00000700000000000000" pitchFamily="2" charset="-5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77000" y="4745736"/>
            <a:ext cx="4341000" cy="5039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Aft>
                <a:spcPts val="600"/>
              </a:spcAft>
            </a:pPr>
            <a:r>
              <a:rPr lang="ru-RU" spc="-10" dirty="0" smtClean="0">
                <a:solidFill>
                  <a:srgbClr val="FFFFFF"/>
                </a:solidFill>
                <a:latin typeface="Nekst Semi Bold" panose="00000700000000000000" pitchFamily="2" charset="-52"/>
                <a:cs typeface="Arial"/>
              </a:rPr>
              <a:t>Максим Викторович Кулешов</a:t>
            </a:r>
            <a:br>
              <a:rPr lang="ru-RU" spc="-10" dirty="0" smtClean="0">
                <a:solidFill>
                  <a:srgbClr val="FFFFFF"/>
                </a:solidFill>
                <a:latin typeface="Nekst Semi Bold" panose="00000700000000000000" pitchFamily="2" charset="-52"/>
                <a:cs typeface="Arial"/>
              </a:rPr>
            </a:br>
            <a:r>
              <a:rPr lang="ru-RU" sz="1400" b="1" spc="-10" dirty="0" smtClean="0">
                <a:solidFill>
                  <a:srgbClr val="FFFFFF"/>
                </a:solidFill>
                <a:latin typeface="Nekst Light" panose="00000400000000000000" pitchFamily="2" charset="-52"/>
                <a:cs typeface="Arial"/>
              </a:rPr>
              <a:t>Ведущий инженер-электроник ООО «ЛЭМЗ-Т»</a:t>
            </a:r>
            <a:endParaRPr sz="1400" dirty="0">
              <a:latin typeface="Nekst Light" panose="00000400000000000000" pitchFamily="2" charset="-52"/>
              <a:cs typeface="Arial"/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12700">
              <a:lnSpc>
                <a:spcPts val="2365"/>
              </a:lnSpc>
            </a:pPr>
            <a:fld id="{81D60167-4931-47E6-BA6A-407CBD079E47}" type="slidenum">
              <a:rPr lang="ru-RU" spc="-95" smtClean="0"/>
              <a:pPr marL="12700">
                <a:lnSpc>
                  <a:spcPts val="2365"/>
                </a:lnSpc>
              </a:pPr>
              <a:t>1</a:t>
            </a:fld>
            <a:endParaRPr lang="ru-RU" spc="-95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0705" y="6345548"/>
            <a:ext cx="285790" cy="304843"/>
          </a:xfrm>
          <a:prstGeom prst="rect">
            <a:avLst/>
          </a:prstGeom>
        </p:spPr>
      </p:pic>
      <p:sp>
        <p:nvSpPr>
          <p:cNvPr id="6" name="object 3"/>
          <p:cNvSpPr txBox="1">
            <a:spLocks/>
          </p:cNvSpPr>
          <p:nvPr/>
        </p:nvSpPr>
        <p:spPr>
          <a:xfrm>
            <a:off x="1085088" y="2106817"/>
            <a:ext cx="5715000" cy="1329916"/>
          </a:xfrm>
          <a:prstGeom prst="rect">
            <a:avLst/>
          </a:prstGeom>
        </p:spPr>
        <p:txBody>
          <a:bodyPr vert="horz" wrap="square" lIns="0" tIns="1143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lang="ru-RU" sz="2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Синхронизация последовательных схем</a:t>
            </a:r>
          </a:p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lang="en-US" sz="28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Divide et </a:t>
            </a:r>
            <a:r>
              <a:rPr lang="en-US" sz="2800" dirty="0" err="1" smtClean="0">
                <a:solidFill>
                  <a:schemeClr val="bg1"/>
                </a:solidFill>
                <a:latin typeface="Nekst Semi Bold" panose="00000700000000000000" pitchFamily="2" charset="-52"/>
              </a:rPr>
              <a:t>impera</a:t>
            </a:r>
            <a:endParaRPr lang="ru-RU" sz="2800" dirty="0">
              <a:solidFill>
                <a:schemeClr val="bg1"/>
              </a:solidFill>
              <a:latin typeface="Nekst Semi Bold" panose="000007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08132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8404" y="288000"/>
            <a:ext cx="5795963" cy="416840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76" dirty="0" smtClean="0">
                <a:latin typeface="Nekst Semi Bold" panose="00000700000000000000" pitchFamily="2" charset="-52"/>
              </a:rPr>
              <a:t>Динамическая дисциплина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2</a:t>
            </a:fld>
            <a:endParaRPr/>
          </a:p>
        </p:txBody>
      </p:sp>
      <p:sp>
        <p:nvSpPr>
          <p:cNvPr id="6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" name="object 2"/>
          <p:cNvPicPr/>
          <p:nvPr/>
        </p:nvPicPr>
        <p:blipFill>
          <a:blip r:embed="rId2"/>
          <a:stretch/>
        </p:blipFill>
        <p:spPr>
          <a:xfrm>
            <a:off x="6864367" y="2057399"/>
            <a:ext cx="4013200" cy="2641465"/>
          </a:xfrm>
          <a:prstGeom prst="rect">
            <a:avLst/>
          </a:prstGeom>
          <a:ln w="0">
            <a:noFill/>
          </a:ln>
        </p:spPr>
      </p:pic>
      <p:sp>
        <p:nvSpPr>
          <p:cNvPr id="13" name="object 4"/>
          <p:cNvSpPr/>
          <p:nvPr/>
        </p:nvSpPr>
        <p:spPr>
          <a:xfrm>
            <a:off x="1092200" y="1843179"/>
            <a:ext cx="6088680" cy="19524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0" strike="noStrike" spc="-1" dirty="0">
                <a:latin typeface="Nekst Light" panose="00000400000000000000" pitchFamily="2" charset="-52"/>
              </a:rPr>
              <a:t>Входы:</a:t>
            </a:r>
            <a:r>
              <a:rPr lang="ru-RU" b="0" strike="noStrike" spc="-10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апертурное</a:t>
            </a:r>
            <a:r>
              <a:rPr lang="ru-RU" b="0" strike="noStrike" spc="-6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время.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424080">
              <a:lnSpc>
                <a:spcPct val="100000"/>
              </a:lnSpc>
              <a:buClr>
                <a:srgbClr val="70A300"/>
              </a:buClr>
              <a:buFont typeface="StarSymbol"/>
              <a:buAutoNum type="arabicPeriod"/>
              <a:tabLst>
                <a:tab pos="474840" algn="l"/>
              </a:tabLst>
            </a:pPr>
            <a:r>
              <a:rPr lang="ru-RU" b="0" strike="noStrike" spc="-1" dirty="0" err="1">
                <a:latin typeface="Nekst Light" panose="00000400000000000000" pitchFamily="2" charset="-52"/>
              </a:rPr>
              <a:t>Setup</a:t>
            </a:r>
            <a:r>
              <a:rPr lang="ru-RU" b="0" strike="noStrike" spc="-55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 err="1">
                <a:latin typeface="Nekst Light" panose="00000400000000000000" pitchFamily="2" charset="-52"/>
              </a:rPr>
              <a:t>Time</a:t>
            </a:r>
            <a:r>
              <a:rPr lang="ru-RU" b="0" strike="noStrike" spc="-21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424080">
              <a:lnSpc>
                <a:spcPct val="100000"/>
              </a:lnSpc>
              <a:buClr>
                <a:srgbClr val="70A300"/>
              </a:buClr>
              <a:buFont typeface="StarSymbol"/>
              <a:buAutoNum type="arabicPeriod"/>
              <a:tabLst>
                <a:tab pos="474840" algn="l"/>
              </a:tabLst>
            </a:pPr>
            <a:r>
              <a:rPr lang="ru-RU" b="0" strike="noStrike" spc="-1" dirty="0" err="1">
                <a:latin typeface="Nekst Light" panose="00000400000000000000" pitchFamily="2" charset="-52"/>
              </a:rPr>
              <a:t>Hold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 err="1">
                <a:latin typeface="Nekst Light" panose="00000400000000000000" pitchFamily="2" charset="-52"/>
              </a:rPr>
              <a:t>Time</a:t>
            </a:r>
            <a:r>
              <a:rPr lang="ru-RU" b="0" strike="noStrike" spc="-12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>
              <a:lnSpc>
                <a:spcPct val="100000"/>
              </a:lnSpc>
              <a:buNone/>
              <a:tabLst>
                <a:tab pos="474840" algn="l"/>
              </a:tabLst>
            </a:pPr>
            <a:endParaRPr lang="ru-RU" b="0" strike="noStrike" spc="-1" dirty="0">
              <a:latin typeface="Nekst Light" panose="00000400000000000000" pitchFamily="2" charset="-52"/>
            </a:endParaRPr>
          </a:p>
          <a:p>
            <a:pPr>
              <a:lnSpc>
                <a:spcPct val="100000"/>
              </a:lnSpc>
              <a:buNone/>
              <a:tabLst>
                <a:tab pos="474840" algn="l"/>
              </a:tabLst>
            </a:pPr>
            <a:r>
              <a:rPr lang="ru-RU" b="0" strike="noStrike" spc="-1" dirty="0">
                <a:latin typeface="Nekst Light" panose="00000400000000000000" pitchFamily="2" charset="-52"/>
              </a:rPr>
              <a:t>Выходы:</a:t>
            </a:r>
            <a:r>
              <a:rPr lang="ru-RU" b="0" strike="noStrike" spc="-6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время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реакции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(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Propagation</a:t>
            </a:r>
            <a:r>
              <a:rPr lang="ru-RU" b="0" i="1" strike="noStrike" spc="-72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2" dirty="0" err="1">
                <a:latin typeface="Nekst Light" panose="00000400000000000000" pitchFamily="2" charset="-52"/>
              </a:rPr>
              <a:t>delay</a:t>
            </a:r>
            <a:r>
              <a:rPr lang="ru-RU" b="0" strike="noStrike" spc="-12" dirty="0">
                <a:latin typeface="Nekst Light" panose="00000400000000000000" pitchFamily="2" charset="-52"/>
              </a:rPr>
              <a:t>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444600">
              <a:lnSpc>
                <a:spcPct val="100000"/>
              </a:lnSpc>
              <a:buClr>
                <a:srgbClr val="70A300"/>
              </a:buClr>
              <a:buFont typeface="Arial MT"/>
              <a:buAutoNum type="arabicPeriod"/>
              <a:tabLst>
                <a:tab pos="49536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ccq</a:t>
            </a:r>
            <a:r>
              <a:rPr lang="ru-RU" b="0" i="1" strike="noStrike" spc="-83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599" dirty="0">
                <a:latin typeface="Nekst Light" panose="00000400000000000000" pitchFamily="2" charset="-52"/>
              </a:rPr>
              <a:t>–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задержка</a:t>
            </a:r>
            <a:r>
              <a:rPr lang="ru-RU" b="0" strike="noStrike" spc="-32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реакции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(</a:t>
            </a:r>
            <a:r>
              <a:rPr lang="ru-RU" b="0" strike="noStrike" spc="-12" dirty="0" err="1">
                <a:latin typeface="Nekst Light" panose="00000400000000000000" pitchFamily="2" charset="-52"/>
              </a:rPr>
              <a:t>min</a:t>
            </a:r>
            <a:r>
              <a:rPr lang="ru-RU" b="0" strike="noStrike" spc="-12" dirty="0">
                <a:latin typeface="Nekst Light" panose="00000400000000000000" pitchFamily="2" charset="-52"/>
              </a:rPr>
              <a:t>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444600">
              <a:lnSpc>
                <a:spcPct val="100000"/>
              </a:lnSpc>
              <a:buClr>
                <a:srgbClr val="70A300"/>
              </a:buClr>
              <a:buFont typeface="Arial MT"/>
              <a:buAutoNum type="arabicPeriod"/>
              <a:tabLst>
                <a:tab pos="49536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pcq</a:t>
            </a:r>
            <a:r>
              <a:rPr lang="ru-RU" b="0" i="1" strike="noStrike" spc="-60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–</a:t>
            </a:r>
            <a:r>
              <a:rPr lang="ru-RU" b="0" strike="noStrike" spc="43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задержка</a:t>
            </a:r>
            <a:r>
              <a:rPr lang="ru-RU" b="0" strike="noStrike" spc="-2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распространения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(</a:t>
            </a:r>
            <a:r>
              <a:rPr lang="ru-RU" b="0" strike="noStrike" spc="-12" dirty="0" err="1">
                <a:latin typeface="Nekst Light" panose="00000400000000000000" pitchFamily="2" charset="-52"/>
              </a:rPr>
              <a:t>max</a:t>
            </a:r>
            <a:r>
              <a:rPr lang="ru-RU" b="0" strike="noStrike" spc="-12" dirty="0">
                <a:latin typeface="Nekst Light" panose="00000400000000000000" pitchFamily="2" charset="-52"/>
              </a:rPr>
              <a:t>).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71540" y="288000"/>
            <a:ext cx="6777060" cy="416840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 smtClean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3</a:t>
            </a:fld>
            <a:endParaRPr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" name="object 2"/>
          <p:cNvPicPr/>
          <p:nvPr/>
        </p:nvPicPr>
        <p:blipFill>
          <a:blip r:embed="rId2"/>
          <a:stretch/>
        </p:blipFill>
        <p:spPr>
          <a:xfrm>
            <a:off x="6276710" y="2105629"/>
            <a:ext cx="4458000" cy="2286000"/>
          </a:xfrm>
          <a:prstGeom prst="rect">
            <a:avLst/>
          </a:prstGeom>
          <a:ln w="0">
            <a:noFill/>
          </a:ln>
        </p:spPr>
      </p:pic>
      <p:sp>
        <p:nvSpPr>
          <p:cNvPr id="9" name="object 22"/>
          <p:cNvSpPr/>
          <p:nvPr/>
        </p:nvSpPr>
        <p:spPr>
          <a:xfrm>
            <a:off x="932150" y="2915640"/>
            <a:ext cx="5344560" cy="66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1421280" indent="-1409040" algn="ctr">
              <a:lnSpc>
                <a:spcPct val="121000"/>
              </a:lnSpc>
              <a:spcBef>
                <a:spcPts val="91"/>
              </a:spcBef>
              <a:buNone/>
              <a:tabLst>
                <a:tab pos="0" algn="l"/>
              </a:tabLst>
            </a:pPr>
            <a:r>
              <a:rPr lang="ru-RU" b="0" strike="noStrike" spc="-1" dirty="0" err="1">
                <a:latin typeface="Nekst Light" panose="00000400000000000000" pitchFamily="2" charset="-52"/>
              </a:rPr>
              <a:t>Oграничение</a:t>
            </a:r>
            <a:r>
              <a:rPr lang="ru-RU" b="0" strike="noStrike" spc="-7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времени </a:t>
            </a:r>
            <a:r>
              <a:rPr lang="ru-RU" b="0" strike="noStrike" spc="-12" dirty="0" smtClean="0">
                <a:latin typeface="Nekst Light" panose="00000400000000000000" pitchFamily="2" charset="-52"/>
              </a:rPr>
              <a:t>предустановки</a:t>
            </a:r>
            <a:endParaRPr lang="en-US" spc="-21" dirty="0">
              <a:latin typeface="Nekst Light" panose="00000400000000000000" pitchFamily="2" charset="-52"/>
            </a:endParaRPr>
          </a:p>
          <a:p>
            <a:pPr marL="1421280" indent="-1409040" algn="ctr">
              <a:lnSpc>
                <a:spcPct val="121000"/>
              </a:lnSpc>
              <a:spcBef>
                <a:spcPts val="91"/>
              </a:spcBef>
              <a:buNone/>
              <a:tabLst>
                <a:tab pos="0" algn="l"/>
              </a:tabLst>
            </a:pPr>
            <a:r>
              <a:rPr lang="ru-RU" b="0" strike="noStrike" spc="-12" dirty="0" smtClean="0">
                <a:latin typeface="Nekst Light" panose="00000400000000000000" pitchFamily="2" charset="-52"/>
              </a:rPr>
              <a:t>(</a:t>
            </a:r>
            <a:r>
              <a:rPr lang="ru-RU" b="0" i="1" strike="noStrike" spc="-12" dirty="0" err="1" smtClean="0">
                <a:latin typeface="Nekst Light" panose="00000400000000000000" pitchFamily="2" charset="-52"/>
              </a:rPr>
              <a:t>setup</a:t>
            </a:r>
            <a:r>
              <a:rPr lang="ru-RU" b="0" strike="noStrike" spc="-12" dirty="0">
                <a:latin typeface="Nekst Light" panose="00000400000000000000" pitchFamily="2" charset="-52"/>
              </a:rPr>
              <a:t>), </a:t>
            </a:r>
            <a:r>
              <a:rPr lang="ru-RU" b="0" strike="noStrike" spc="-1" dirty="0">
                <a:latin typeface="Nekst Light" panose="00000400000000000000" pitchFamily="2" charset="-52"/>
              </a:rPr>
              <a:t>или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критический</a:t>
            </a:r>
            <a:r>
              <a:rPr lang="ru-RU" b="0" strike="noStrike" spc="-7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путь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/>
        </p:blipFill>
        <p:spPr>
          <a:xfrm>
            <a:off x="1295400" y="1436900"/>
            <a:ext cx="4618060" cy="1382500"/>
          </a:xfrm>
          <a:prstGeom prst="rect">
            <a:avLst/>
          </a:prstGeom>
          <a:ln w="0">
            <a:noFill/>
          </a:ln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180" y="3762070"/>
            <a:ext cx="3004500" cy="13244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288000"/>
            <a:ext cx="6858000" cy="416840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4</a:t>
            </a:fld>
            <a:endParaRPr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1" name="object 2"/>
          <p:cNvPicPr/>
          <p:nvPr/>
        </p:nvPicPr>
        <p:blipFill>
          <a:blip r:embed="rId2"/>
          <a:stretch/>
        </p:blipFill>
        <p:spPr>
          <a:xfrm>
            <a:off x="6400800" y="2133600"/>
            <a:ext cx="4299758" cy="2741700"/>
          </a:xfrm>
          <a:prstGeom prst="rect">
            <a:avLst/>
          </a:prstGeom>
          <a:ln w="0">
            <a:noFill/>
          </a:ln>
        </p:spPr>
      </p:pic>
      <p:sp>
        <p:nvSpPr>
          <p:cNvPr id="12" name="object 22"/>
          <p:cNvSpPr/>
          <p:nvPr/>
        </p:nvSpPr>
        <p:spPr>
          <a:xfrm>
            <a:off x="1121128" y="2971800"/>
            <a:ext cx="4775400" cy="7066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520" rIns="0" bIns="0" anchor="t">
            <a:spAutoFit/>
          </a:bodyPr>
          <a:lstStyle/>
          <a:p>
            <a:pPr marL="25560" algn="ctr">
              <a:lnSpc>
                <a:spcPct val="121000"/>
              </a:lnSpc>
              <a:spcBef>
                <a:spcPts val="91"/>
              </a:spcBef>
              <a:buNone/>
            </a:pPr>
            <a:r>
              <a:rPr lang="ru-RU" sz="1950" strike="noStrike" spc="-1" dirty="0">
                <a:latin typeface="Nekst Light" panose="00000400000000000000" pitchFamily="2" charset="-52"/>
              </a:rPr>
              <a:t>Ограничение</a:t>
            </a:r>
            <a:r>
              <a:rPr lang="ru-RU" sz="1950" strike="noStrike" spc="-21" dirty="0">
                <a:latin typeface="Nekst Light" panose="00000400000000000000" pitchFamily="2" charset="-52"/>
              </a:rPr>
              <a:t> </a:t>
            </a:r>
            <a:r>
              <a:rPr lang="ru-RU" strike="noStrike" spc="-1" dirty="0">
                <a:latin typeface="Nekst Light" panose="00000400000000000000" pitchFamily="2" charset="-52"/>
              </a:rPr>
              <a:t>времени</a:t>
            </a:r>
            <a:r>
              <a:rPr lang="ru-RU" sz="1950" strike="noStrike" spc="-7" dirty="0">
                <a:latin typeface="Nekst Light" panose="00000400000000000000" pitchFamily="2" charset="-52"/>
              </a:rPr>
              <a:t> </a:t>
            </a:r>
            <a:r>
              <a:rPr lang="ru-RU" sz="1950" strike="noStrike" spc="-1" dirty="0">
                <a:latin typeface="Nekst Light" panose="00000400000000000000" pitchFamily="2" charset="-52"/>
              </a:rPr>
              <a:t>удержания</a:t>
            </a:r>
            <a:r>
              <a:rPr lang="ru-RU" sz="1950" strike="noStrike" spc="-21" dirty="0">
                <a:latin typeface="Nekst Light" panose="00000400000000000000" pitchFamily="2" charset="-52"/>
              </a:rPr>
              <a:t> </a:t>
            </a:r>
            <a:r>
              <a:rPr lang="ru-RU" sz="1950" strike="noStrike" spc="-12" dirty="0">
                <a:latin typeface="Nekst Light" panose="00000400000000000000" pitchFamily="2" charset="-52"/>
              </a:rPr>
              <a:t>(</a:t>
            </a:r>
            <a:r>
              <a:rPr lang="ru-RU" sz="1950" i="1" strike="noStrike" spc="-12" dirty="0" err="1">
                <a:latin typeface="Nekst Light" panose="00000400000000000000" pitchFamily="2" charset="-52"/>
              </a:rPr>
              <a:t>hold</a:t>
            </a:r>
            <a:r>
              <a:rPr lang="ru-RU" sz="1950" strike="noStrike" spc="-12" dirty="0">
                <a:latin typeface="Nekst Light" panose="00000400000000000000" pitchFamily="2" charset="-52"/>
              </a:rPr>
              <a:t>), </a:t>
            </a:r>
            <a:r>
              <a:rPr lang="ru-RU" sz="1950" strike="noStrike" spc="-1" dirty="0">
                <a:latin typeface="Nekst Light" panose="00000400000000000000" pitchFamily="2" charset="-52"/>
              </a:rPr>
              <a:t>или</a:t>
            </a:r>
            <a:r>
              <a:rPr lang="ru-RU" sz="1950" strike="noStrike" spc="-26" dirty="0">
                <a:latin typeface="Nekst Light" panose="00000400000000000000" pitchFamily="2" charset="-52"/>
              </a:rPr>
              <a:t> </a:t>
            </a:r>
            <a:r>
              <a:rPr lang="ru-RU" sz="1950" strike="noStrike" spc="-12" dirty="0">
                <a:latin typeface="Nekst Light" panose="00000400000000000000" pitchFamily="2" charset="-52"/>
              </a:rPr>
              <a:t>короткий </a:t>
            </a:r>
            <a:r>
              <a:rPr lang="ru-RU" sz="1950" strike="noStrike" spc="-21" dirty="0" smtClean="0">
                <a:latin typeface="Nekst Light" panose="00000400000000000000" pitchFamily="2" charset="-52"/>
              </a:rPr>
              <a:t>путь</a:t>
            </a:r>
            <a:endParaRPr lang="ru-RU" sz="1950" strike="noStrike" spc="-1" dirty="0">
              <a:latin typeface="Nekst Light" panose="00000400000000000000" pitchFamily="2" charset="-52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/>
        </p:blipFill>
        <p:spPr>
          <a:xfrm>
            <a:off x="1219200" y="1332566"/>
            <a:ext cx="4579257" cy="1524000"/>
          </a:xfrm>
          <a:prstGeom prst="rect">
            <a:avLst/>
          </a:prstGeom>
          <a:ln w="0">
            <a:noFill/>
          </a:ln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793665"/>
            <a:ext cx="3382198" cy="14907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288000"/>
            <a:ext cx="7543800" cy="416840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5</a:t>
            </a:fld>
            <a:endParaRPr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" name="object 2"/>
          <p:cNvPicPr/>
          <p:nvPr/>
        </p:nvPicPr>
        <p:blipFill>
          <a:blip r:embed="rId2"/>
          <a:stretch/>
        </p:blipFill>
        <p:spPr>
          <a:xfrm>
            <a:off x="3500220" y="3242277"/>
            <a:ext cx="5191560" cy="3414960"/>
          </a:xfrm>
          <a:prstGeom prst="rect">
            <a:avLst/>
          </a:prstGeom>
          <a:ln w="0">
            <a:noFill/>
          </a:ln>
        </p:spPr>
      </p:pic>
      <p:sp>
        <p:nvSpPr>
          <p:cNvPr id="10" name="object 4"/>
          <p:cNvSpPr/>
          <p:nvPr/>
        </p:nvSpPr>
        <p:spPr>
          <a:xfrm>
            <a:off x="1066800" y="1365779"/>
            <a:ext cx="10058400" cy="1674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240" rIns="0" bIns="0" anchor="t">
            <a:spAutoFit/>
          </a:bodyPr>
          <a:lstStyle/>
          <a:p>
            <a:pPr indent="-376560">
              <a:buClr>
                <a:srgbClr val="70A300"/>
              </a:buClr>
              <a:buFont typeface="Symbol" charset="2"/>
              <a:buChar char=""/>
              <a:tabLst>
                <a:tab pos="478080" algn="l"/>
              </a:tabLst>
            </a:pPr>
            <a:r>
              <a:rPr lang="ru-RU" b="0" strike="noStrike" spc="-32" dirty="0">
                <a:latin typeface="Nekst Light" panose="00000400000000000000" pitchFamily="2" charset="-52"/>
              </a:rPr>
              <a:t>Задержка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реакции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ccq</a:t>
            </a:r>
            <a:r>
              <a:rPr lang="ru-RU" b="0" i="1" strike="noStrike" spc="12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30</a:t>
            </a:r>
            <a:r>
              <a:rPr lang="ru-RU" b="0" strike="noStrike" spc="-5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(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min</a:t>
            </a:r>
            <a:r>
              <a:rPr lang="ru-RU" b="0" strike="noStrike" spc="-66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PD).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buClr>
                <a:srgbClr val="70A300"/>
              </a:buClr>
              <a:buFont typeface="Symbol" charset="2"/>
              <a:buChar char=""/>
              <a:tabLst>
                <a:tab pos="478080" algn="l"/>
              </a:tabLst>
            </a:pPr>
            <a:r>
              <a:rPr lang="ru-RU" b="0" strike="noStrike" spc="-32" dirty="0">
                <a:latin typeface="Nekst Light" panose="00000400000000000000" pitchFamily="2" charset="-52"/>
              </a:rPr>
              <a:t>Задержка </a:t>
            </a:r>
            <a:r>
              <a:rPr lang="ru-RU" b="0" strike="noStrike" spc="-12" dirty="0">
                <a:latin typeface="Nekst Light" panose="00000400000000000000" pitchFamily="2" charset="-52"/>
              </a:rPr>
              <a:t>распространения</a:t>
            </a:r>
            <a:r>
              <a:rPr lang="ru-RU" b="0" strike="noStrike" spc="-32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pcq</a:t>
            </a:r>
            <a:r>
              <a:rPr lang="ru-RU" b="0" i="1" strike="noStrike" spc="29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80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(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max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PD).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buClr>
                <a:srgbClr val="70A300"/>
              </a:buClr>
              <a:buFont typeface="Symbol" charset="2"/>
              <a:buChar char=""/>
              <a:tabLst>
                <a:tab pos="478080" algn="l"/>
              </a:tabLst>
            </a:pPr>
            <a:r>
              <a:rPr lang="ru-RU" b="0" strike="noStrike" spc="-1" dirty="0">
                <a:latin typeface="Nekst Light" panose="00000400000000000000" pitchFamily="2" charset="-52"/>
              </a:rPr>
              <a:t>Время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>
                <a:latin typeface="Nekst Light" panose="00000400000000000000" pitchFamily="2" charset="-52"/>
              </a:rPr>
              <a:t>предустановки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setup</a:t>
            </a:r>
            <a:r>
              <a:rPr lang="ru-RU" b="0" i="1" strike="noStrike" spc="35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5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50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(</a:t>
            </a:r>
            <a:r>
              <a:rPr lang="ru-RU" b="0" i="1" strike="noStrike" spc="-12" dirty="0" err="1">
                <a:latin typeface="Nekst Light" panose="00000400000000000000" pitchFamily="2" charset="-52"/>
              </a:rPr>
              <a:t>setup</a:t>
            </a:r>
            <a:r>
              <a:rPr lang="ru-RU" b="0" strike="noStrike" spc="-12" dirty="0">
                <a:latin typeface="Nekst Light" panose="00000400000000000000" pitchFamily="2" charset="-52"/>
              </a:rPr>
              <a:t>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buClr>
                <a:srgbClr val="70A300"/>
              </a:buClr>
              <a:buFont typeface="Symbol" charset="2"/>
              <a:buChar char=""/>
              <a:tabLst>
                <a:tab pos="478080" algn="l"/>
              </a:tabLst>
            </a:pPr>
            <a:r>
              <a:rPr lang="ru-RU" b="0" strike="noStrike" spc="-1" dirty="0">
                <a:latin typeface="Nekst Light" panose="00000400000000000000" pitchFamily="2" charset="-52"/>
              </a:rPr>
              <a:t>Время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>
                <a:latin typeface="Nekst Light" panose="00000400000000000000" pitchFamily="2" charset="-52"/>
              </a:rPr>
              <a:t>удержания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hold</a:t>
            </a:r>
            <a:r>
              <a:rPr lang="ru-RU" b="0" i="1" strike="noStrike" spc="43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6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60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(</a:t>
            </a:r>
            <a:r>
              <a:rPr lang="ru-RU" b="0" i="1" strike="noStrike" spc="-12" dirty="0" err="1">
                <a:latin typeface="Nekst Light" panose="00000400000000000000" pitchFamily="2" charset="-52"/>
              </a:rPr>
              <a:t>hold</a:t>
            </a:r>
            <a:r>
              <a:rPr lang="ru-RU" b="0" strike="noStrike" spc="-12" dirty="0">
                <a:latin typeface="Nekst Light" panose="00000400000000000000" pitchFamily="2" charset="-52"/>
              </a:rPr>
              <a:t>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buClr>
                <a:srgbClr val="70A300"/>
              </a:buClr>
              <a:buFont typeface="Symbol" charset="2"/>
              <a:buChar char=""/>
              <a:tabLst>
                <a:tab pos="478080" algn="l"/>
              </a:tabLst>
            </a:pPr>
            <a:r>
              <a:rPr lang="ru-RU" b="0" strike="noStrike" spc="-32" dirty="0">
                <a:latin typeface="Nekst Light" panose="00000400000000000000" pitchFamily="2" charset="-52"/>
              </a:rPr>
              <a:t>Задержка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реакции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ЛЭ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cd</a:t>
            </a:r>
            <a:r>
              <a:rPr lang="ru-RU" b="0" i="1" strike="noStrike" spc="12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25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3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(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min</a:t>
            </a:r>
            <a:r>
              <a:rPr lang="ru-RU" b="0" strike="noStrike" spc="-60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PD).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67200">
              <a:buClr>
                <a:srgbClr val="70A300"/>
              </a:buClr>
              <a:buFont typeface="Symbol" charset="2"/>
              <a:buChar char=""/>
              <a:tabLst>
                <a:tab pos="468000" algn="l"/>
                <a:tab pos="478080" algn="l"/>
              </a:tabLst>
            </a:pPr>
            <a:r>
              <a:rPr lang="ru-RU" b="0" strike="noStrike" spc="-1" dirty="0">
                <a:solidFill>
                  <a:srgbClr val="70A300"/>
                </a:solidFill>
                <a:latin typeface="Nekst Light" panose="00000400000000000000" pitchFamily="2" charset="-52"/>
              </a:rPr>
              <a:t>	</a:t>
            </a:r>
            <a:r>
              <a:rPr lang="ru-RU" b="0" strike="noStrike" spc="-32" dirty="0">
                <a:latin typeface="Nekst Light" panose="00000400000000000000" pitchFamily="2" charset="-52"/>
              </a:rPr>
              <a:t>Задержка</a:t>
            </a:r>
            <a:r>
              <a:rPr lang="ru-RU" b="0" strike="noStrike" spc="-41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распространения</a:t>
            </a:r>
            <a:r>
              <a:rPr lang="ru-RU" b="0" strike="noStrike" spc="-5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ЛЭ</a:t>
            </a:r>
            <a:r>
              <a:rPr lang="ru-RU" b="0" strike="noStrike" spc="-12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pd</a:t>
            </a:r>
            <a:r>
              <a:rPr lang="ru-RU" b="0" i="1" strike="noStrike" spc="29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6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40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(</a:t>
            </a:r>
            <a:r>
              <a:rPr lang="ru-RU" b="0" strike="noStrike" spc="-1" dirty="0" err="1">
                <a:latin typeface="Nekst Light" panose="00000400000000000000" pitchFamily="2" charset="-52"/>
              </a:rPr>
              <a:t>max</a:t>
            </a:r>
            <a:r>
              <a:rPr lang="ru-RU" b="0" strike="noStrike" spc="-60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PD).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288000"/>
            <a:ext cx="7543800" cy="416840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6</a:t>
            </a:fld>
            <a:endParaRPr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" name="object 2"/>
          <p:cNvPicPr/>
          <p:nvPr/>
        </p:nvPicPr>
        <p:blipFill>
          <a:blip r:embed="rId2"/>
          <a:stretch/>
        </p:blipFill>
        <p:spPr>
          <a:xfrm>
            <a:off x="5943600" y="1219040"/>
            <a:ext cx="4366680" cy="4900764"/>
          </a:xfrm>
          <a:prstGeom prst="rect">
            <a:avLst/>
          </a:prstGeom>
          <a:ln w="0">
            <a:noFill/>
          </a:ln>
        </p:spPr>
      </p:pic>
      <p:sp>
        <p:nvSpPr>
          <p:cNvPr id="16" name="object 4"/>
          <p:cNvSpPr/>
          <p:nvPr/>
        </p:nvSpPr>
        <p:spPr>
          <a:xfrm>
            <a:off x="1219200" y="1197269"/>
            <a:ext cx="8356080" cy="16743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24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b="0" strike="noStrike" spc="-41" dirty="0">
                <a:latin typeface="Nekst Light" panose="00000400000000000000" pitchFamily="2" charset="-52"/>
              </a:rPr>
              <a:t>Критический</a:t>
            </a:r>
            <a:r>
              <a:rPr lang="ru-RU" b="0" strike="noStrike" spc="-8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путь:</a:t>
            </a:r>
            <a:r>
              <a:rPr lang="ru-RU" b="0" strike="noStrike" spc="-75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ограничение</a:t>
            </a:r>
            <a:r>
              <a:rPr lang="ru-RU" b="0" strike="noStrike" spc="-72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>
                <a:latin typeface="Nekst Light" panose="00000400000000000000" pitchFamily="2" charset="-52"/>
              </a:rPr>
              <a:t>ТЧ.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>
              <a:lnSpc>
                <a:spcPct val="100000"/>
              </a:lnSpc>
              <a:buNone/>
            </a:pP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lnSpc>
                <a:spcPct val="100000"/>
              </a:lnSpc>
              <a:buClr>
                <a:srgbClr val="70A300"/>
              </a:buClr>
              <a:buFont typeface="Microsoft Sans Serif"/>
              <a:buChar char="•"/>
              <a:tabLst>
                <a:tab pos="465480" algn="l"/>
              </a:tabLst>
            </a:pPr>
            <a:r>
              <a:rPr lang="ru-RU" b="0" i="1" strike="noStrike" spc="-1" baseline="19000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c</a:t>
            </a:r>
            <a:r>
              <a:rPr lang="ru-RU" b="0" i="1" strike="noStrike" spc="24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19000" dirty="0">
                <a:latin typeface="Nekst Light" panose="00000400000000000000" pitchFamily="2" charset="-52"/>
              </a:rPr>
              <a:t>≥</a:t>
            </a:r>
            <a:r>
              <a:rPr lang="ru-RU" b="0" strike="noStrike" spc="12" baseline="19000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baseline="19000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pcq</a:t>
            </a:r>
            <a:r>
              <a:rPr lang="ru-RU" b="0" i="1" strike="noStrike" spc="49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19000" dirty="0">
                <a:latin typeface="Nekst Light" panose="00000400000000000000" pitchFamily="2" charset="-52"/>
              </a:rPr>
              <a:t>+</a:t>
            </a:r>
            <a:r>
              <a:rPr lang="ru-RU" b="0" strike="noStrike" spc="-38" baseline="19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19000" dirty="0">
                <a:latin typeface="Nekst Light" panose="00000400000000000000" pitchFamily="2" charset="-52"/>
              </a:rPr>
              <a:t>3</a:t>
            </a:r>
            <a:r>
              <a:rPr lang="ru-RU" b="0" i="1" strike="noStrike" spc="-1" baseline="19000" dirty="0">
                <a:latin typeface="Nekst Light" panose="00000400000000000000" pitchFamily="2" charset="-52"/>
              </a:rPr>
              <a:t>t</a:t>
            </a:r>
            <a:r>
              <a:rPr lang="ru-RU" b="0" i="1" strike="noStrike" spc="-1" dirty="0">
                <a:latin typeface="Nekst Light" panose="00000400000000000000" pitchFamily="2" charset="-52"/>
              </a:rPr>
              <a:t>pd</a:t>
            </a:r>
            <a:r>
              <a:rPr lang="ru-RU" b="0" i="1" strike="noStrike" spc="49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19000" dirty="0">
                <a:latin typeface="Nekst Light" panose="00000400000000000000" pitchFamily="2" charset="-52"/>
              </a:rPr>
              <a:t>+</a:t>
            </a:r>
            <a:r>
              <a:rPr lang="ru-RU" b="0" strike="noStrike" spc="-38" baseline="19000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5" baseline="19000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2" dirty="0" err="1">
                <a:latin typeface="Nekst Light" panose="00000400000000000000" pitchFamily="2" charset="-52"/>
              </a:rPr>
              <a:t>setup</a:t>
            </a:r>
            <a:r>
              <a:rPr lang="ru-RU" b="0" strike="noStrike" spc="-15" baseline="19000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lnSpc>
                <a:spcPct val="100000"/>
              </a:lnSpc>
              <a:buClr>
                <a:srgbClr val="70A300"/>
              </a:buClr>
              <a:buFont typeface="Microsoft Sans Serif"/>
              <a:buChar char="•"/>
              <a:tabLst>
                <a:tab pos="46548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</a:t>
            </a:r>
            <a:r>
              <a:rPr lang="ru-RU" b="0" i="1" strike="noStrike" spc="29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≥</a:t>
            </a:r>
            <a:r>
              <a:rPr lang="ru-RU" b="0" strike="noStrike" spc="1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80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-7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3</a:t>
            </a:r>
            <a:r>
              <a:rPr lang="ru-RU" b="0" strike="noStrike" spc="9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×</a:t>
            </a:r>
            <a:r>
              <a:rPr lang="ru-RU" b="0" strike="noStrike" spc="-1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40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-35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>
                <a:latin typeface="Nekst Light" panose="00000400000000000000" pitchFamily="2" charset="-52"/>
              </a:rPr>
              <a:t>50.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lnSpc>
                <a:spcPct val="100000"/>
              </a:lnSpc>
              <a:buClr>
                <a:srgbClr val="70A300"/>
              </a:buClr>
              <a:buFont typeface="Microsoft Sans Serif"/>
              <a:buChar char="•"/>
              <a:tabLst>
                <a:tab pos="46548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</a:t>
            </a:r>
            <a:r>
              <a:rPr lang="ru-RU" b="0" i="1" strike="noStrike" spc="-7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≥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250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indent="-376560">
              <a:lnSpc>
                <a:spcPct val="100000"/>
              </a:lnSpc>
              <a:buClr>
                <a:srgbClr val="70A300"/>
              </a:buClr>
              <a:buFont typeface="Microsoft Sans Serif"/>
              <a:buChar char="•"/>
              <a:tabLst>
                <a:tab pos="46548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f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</a:t>
            </a:r>
            <a:r>
              <a:rPr lang="ru-RU" b="0" i="1" strike="noStrike" spc="-15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-21000" dirty="0" err="1">
                <a:latin typeface="Nekst Light" panose="00000400000000000000" pitchFamily="2" charset="-52"/>
              </a:rPr>
              <a:t>max</a:t>
            </a:r>
            <a:r>
              <a:rPr lang="ru-RU" b="0" strike="noStrike" spc="86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1/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1000" dirty="0" err="1">
                <a:latin typeface="Nekst Light" panose="00000400000000000000" pitchFamily="2" charset="-52"/>
              </a:rPr>
              <a:t>c</a:t>
            </a:r>
            <a:r>
              <a:rPr lang="ru-RU" b="0" i="1" strike="noStrike" spc="-1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baseline="-21000" dirty="0" err="1">
                <a:latin typeface="Nekst Light" panose="00000400000000000000" pitchFamily="2" charset="-52"/>
              </a:rPr>
              <a:t>min</a:t>
            </a:r>
            <a:r>
              <a:rPr lang="ru-RU" b="0" strike="noStrike" spc="86" baseline="-21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4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ГГц.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53844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383322"/>
            <a:ext cx="7239000" cy="444157"/>
          </a:xfrm>
          <a:prstGeom prst="rect">
            <a:avLst/>
          </a:prstGeom>
        </p:spPr>
        <p:txBody>
          <a:bodyPr vert="horz" wrap="square" lIns="21830" tIns="33983" rIns="21830" bIns="21830" rtlCol="0">
            <a:spAutoFit/>
          </a:bodyPr>
          <a:lstStyle/>
          <a:p>
            <a:pPr marL="7701">
              <a:spcBef>
                <a:spcPts val="58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7</a:t>
            </a:fld>
            <a:endParaRPr/>
          </a:p>
        </p:txBody>
      </p:sp>
      <p:sp>
        <p:nvSpPr>
          <p:cNvPr id="7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" name="object 2"/>
          <p:cNvPicPr/>
          <p:nvPr/>
        </p:nvPicPr>
        <p:blipFill>
          <a:blip r:embed="rId2"/>
          <a:stretch/>
        </p:blipFill>
        <p:spPr>
          <a:xfrm>
            <a:off x="6553200" y="2057399"/>
            <a:ext cx="4419600" cy="4574437"/>
          </a:xfrm>
          <a:prstGeom prst="rect">
            <a:avLst/>
          </a:prstGeom>
          <a:ln w="0">
            <a:noFill/>
          </a:ln>
        </p:spPr>
      </p:pic>
      <p:sp>
        <p:nvSpPr>
          <p:cNvPr id="13" name="object 4"/>
          <p:cNvSpPr/>
          <p:nvPr/>
        </p:nvSpPr>
        <p:spPr>
          <a:xfrm>
            <a:off x="1073730" y="938231"/>
            <a:ext cx="10054020" cy="1881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19520" rIns="0" bIns="0" anchor="t">
            <a:spAutoFit/>
          </a:bodyPr>
          <a:lstStyle/>
          <a:p>
            <a:pPr marL="38160">
              <a:lnSpc>
                <a:spcPct val="100000"/>
              </a:lnSpc>
              <a:spcBef>
                <a:spcPts val="941"/>
              </a:spcBef>
              <a:buNone/>
            </a:pPr>
            <a:r>
              <a:rPr lang="ru-RU" b="0" strike="noStrike" spc="-35" dirty="0">
                <a:latin typeface="Nekst Light" panose="00000400000000000000" pitchFamily="2" charset="-52"/>
              </a:rPr>
              <a:t>Короткий</a:t>
            </a:r>
            <a:r>
              <a:rPr lang="ru-RU" b="0" strike="noStrike" spc="-6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путь:</a:t>
            </a:r>
            <a:r>
              <a:rPr lang="ru-RU" b="0" strike="noStrike" spc="-6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техпроцесс.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marL="38160">
              <a:lnSpc>
                <a:spcPct val="130000"/>
              </a:lnSpc>
              <a:buNone/>
            </a:pPr>
            <a:r>
              <a:rPr lang="ru-RU" b="0" strike="noStrike" spc="-1" dirty="0">
                <a:latin typeface="Nekst Light" panose="00000400000000000000" pitchFamily="2" charset="-52"/>
              </a:rPr>
              <a:t>Время</a:t>
            </a:r>
            <a:r>
              <a:rPr lang="ru-RU" b="0" strike="noStrike" spc="-32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удержания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hold</a:t>
            </a:r>
            <a:r>
              <a:rPr lang="ru-RU" b="0" i="1" strike="noStrike" spc="12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должно</a:t>
            </a:r>
            <a:r>
              <a:rPr lang="ru-RU" b="0" strike="noStrike" spc="-15" dirty="0">
                <a:latin typeface="Nekst Light" panose="00000400000000000000" pitchFamily="2" charset="-52"/>
              </a:rPr>
              <a:t> </a:t>
            </a:r>
            <a:r>
              <a:rPr lang="ru-RU" b="0" strike="noStrike" spc="-21" dirty="0">
                <a:latin typeface="Nekst Light" panose="00000400000000000000" pitchFamily="2" charset="-52"/>
              </a:rPr>
              <a:t>быть </a:t>
            </a:r>
            <a:r>
              <a:rPr lang="ru-RU" b="0" strike="noStrike" spc="-1" dirty="0">
                <a:latin typeface="Nekst Light" panose="00000400000000000000" pitchFamily="2" charset="-52"/>
              </a:rPr>
              <a:t>меньше</a:t>
            </a:r>
            <a:r>
              <a:rPr lang="ru-RU" b="0" strike="noStrike" spc="9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ccq</a:t>
            </a:r>
            <a:r>
              <a:rPr lang="ru-RU" b="0" i="1" strike="noStrike" spc="43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-32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2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32" baseline="-20000" dirty="0" err="1">
                <a:latin typeface="Nekst Light" panose="00000400000000000000" pitchFamily="2" charset="-52"/>
              </a:rPr>
              <a:t>cd</a:t>
            </a:r>
            <a:r>
              <a:rPr lang="ru-RU" b="0" strike="noStrike" spc="-21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marL="38160">
              <a:lnSpc>
                <a:spcPts val="5669"/>
              </a:lnSpc>
              <a:spcBef>
                <a:spcPts val="666"/>
              </a:spcBef>
              <a:buNone/>
              <a:tabLst>
                <a:tab pos="1388880" algn="l"/>
              </a:tabLst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ccq</a:t>
            </a:r>
            <a:r>
              <a:rPr lang="ru-RU" b="0" i="1" strike="noStrike" spc="94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12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26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38" baseline="-20000" dirty="0" err="1">
                <a:latin typeface="Nekst Light" panose="00000400000000000000" pitchFamily="2" charset="-52"/>
              </a:rPr>
              <a:t>cd</a:t>
            </a:r>
            <a:r>
              <a:rPr lang="ru-RU" b="0" i="1" strike="noStrike" spc="-1" baseline="-20000" dirty="0">
                <a:latin typeface="Nekst Light" panose="00000400000000000000" pitchFamily="2" charset="-52"/>
              </a:rPr>
              <a:t>	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-1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30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+ 25 = 55</a:t>
            </a:r>
            <a:r>
              <a:rPr lang="ru-RU" b="0" strike="noStrike" spc="18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. </a:t>
            </a:r>
            <a:r>
              <a:rPr lang="ru-RU" b="0" strike="noStrike" spc="-1" dirty="0">
                <a:solidFill>
                  <a:srgbClr val="FF0000"/>
                </a:solidFill>
                <a:latin typeface="Nekst Light" panose="00000400000000000000" pitchFamily="2" charset="-52"/>
              </a:rPr>
              <a:t>Не</a:t>
            </a:r>
            <a:r>
              <a:rPr lang="ru-RU" b="0" strike="noStrike" spc="18" dirty="0">
                <a:solidFill>
                  <a:srgbClr val="FF0000"/>
                </a:solidFill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solidFill>
                  <a:srgbClr val="FF0000"/>
                </a:solidFill>
                <a:latin typeface="Nekst Light" panose="00000400000000000000" pitchFamily="2" charset="-52"/>
              </a:rPr>
              <a:t>выполняется!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marL="38160">
              <a:lnSpc>
                <a:spcPct val="100000"/>
              </a:lnSpc>
              <a:spcBef>
                <a:spcPts val="164"/>
              </a:spcBef>
              <a:buNone/>
              <a:tabLst>
                <a:tab pos="1388880" algn="l"/>
              </a:tabLst>
            </a:pPr>
            <a:r>
              <a:rPr lang="ru-RU" b="0" strike="noStrike" spc="-1" dirty="0">
                <a:latin typeface="Nekst Light" panose="00000400000000000000" pitchFamily="2" charset="-52"/>
              </a:rPr>
              <a:t>Схема</a:t>
            </a:r>
            <a:r>
              <a:rPr lang="ru-RU" b="0" strike="noStrike" spc="-8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будет</a:t>
            </a:r>
            <a:r>
              <a:rPr lang="ru-RU" b="0" strike="noStrike" spc="-97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работать</a:t>
            </a:r>
            <a:r>
              <a:rPr lang="ru-RU" b="0" strike="noStrike" spc="-86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нестабильно.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" name="object 10"/>
          <p:cNvPicPr/>
          <p:nvPr/>
        </p:nvPicPr>
        <p:blipFill>
          <a:blip r:embed="rId2"/>
          <a:stretch/>
        </p:blipFill>
        <p:spPr bwMode="auto">
          <a:xfrm>
            <a:off x="1171876" y="3024202"/>
            <a:ext cx="1174590" cy="3384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 bwMode="auto">
          <a:xfrm>
            <a:off x="1066800" y="288000"/>
            <a:ext cx="6629400" cy="417229"/>
          </a:xfrm>
          <a:prstGeom prst="rect">
            <a:avLst/>
          </a:prstGeom>
        </p:spPr>
        <p:txBody>
          <a:bodyPr vert="horz" wrap="square" lIns="21830" tIns="7316" rIns="21830" bIns="21830" rtlCol="0">
            <a:spAutoFit/>
          </a:bodyPr>
          <a:lstStyle/>
          <a:p>
            <a:pPr marL="7701">
              <a:spcBef>
                <a:spcPts val="58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48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8</a:t>
            </a:fld>
            <a:endParaRPr dirty="0"/>
          </a:p>
        </p:txBody>
      </p:sp>
      <p:pic>
        <p:nvPicPr>
          <p:cNvPr id="8" name="object 8"/>
          <p:cNvPicPr/>
          <p:nvPr/>
        </p:nvPicPr>
        <p:blipFill>
          <a:blip r:embed="rId2"/>
          <a:stretch/>
        </p:blipFill>
        <p:spPr bwMode="auto">
          <a:xfrm>
            <a:off x="1511373" y="2571534"/>
            <a:ext cx="835093" cy="22858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/>
          <a:stretch/>
        </p:blipFill>
        <p:spPr bwMode="auto">
          <a:xfrm>
            <a:off x="3531389" y="3914835"/>
            <a:ext cx="1650211" cy="301731"/>
          </a:xfrm>
          <a:prstGeom prst="rect">
            <a:avLst/>
          </a:prstGeom>
        </p:spPr>
      </p:pic>
      <p:sp>
        <p:nvSpPr>
          <p:cNvPr id="13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" name="object 2"/>
          <p:cNvPicPr/>
          <p:nvPr/>
        </p:nvPicPr>
        <p:blipFill>
          <a:blip r:embed="rId3"/>
          <a:stretch/>
        </p:blipFill>
        <p:spPr>
          <a:xfrm>
            <a:off x="5459954" y="1576866"/>
            <a:ext cx="5628960" cy="3706200"/>
          </a:xfrm>
          <a:prstGeom prst="rect">
            <a:avLst/>
          </a:prstGeom>
          <a:ln w="0">
            <a:noFill/>
          </a:ln>
        </p:spPr>
      </p:pic>
      <p:sp>
        <p:nvSpPr>
          <p:cNvPr id="25" name="object 4"/>
          <p:cNvSpPr/>
          <p:nvPr/>
        </p:nvSpPr>
        <p:spPr>
          <a:xfrm>
            <a:off x="1171876" y="1264660"/>
            <a:ext cx="5030640" cy="132951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3320" rIns="0" bIns="0" anchor="t">
            <a:spAutoFit/>
          </a:bodyPr>
          <a:lstStyle/>
          <a:p>
            <a:pPr marL="50760">
              <a:lnSpc>
                <a:spcPct val="100000"/>
              </a:lnSpc>
              <a:spcBef>
                <a:spcPts val="105"/>
              </a:spcBef>
              <a:buNone/>
            </a:pP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ccq</a:t>
            </a:r>
            <a:r>
              <a:rPr lang="ru-RU" b="0" i="1" strike="noStrike" spc="80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2</a:t>
            </a:r>
            <a:r>
              <a:rPr lang="ru-RU" b="0" i="1" strike="noStrike" spc="-1" dirty="0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>
                <a:latin typeface="Nekst Light" panose="00000400000000000000" pitchFamily="2" charset="-52"/>
              </a:rPr>
              <a:t>cd</a:t>
            </a:r>
            <a:r>
              <a:rPr lang="ru-RU" b="0" i="1" strike="noStrike" spc="94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30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+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2</a:t>
            </a:r>
            <a:r>
              <a:rPr lang="ru-RU" b="0" strike="noStrike" spc="1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×</a:t>
            </a:r>
            <a:r>
              <a:rPr lang="ru-RU" b="0" strike="noStrike" spc="32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25</a:t>
            </a:r>
            <a:r>
              <a:rPr lang="ru-RU" b="0" strike="noStrike" spc="9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=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80</a:t>
            </a:r>
            <a:r>
              <a:rPr lang="ru-RU" b="0" strike="noStrike" spc="9" dirty="0">
                <a:latin typeface="Nekst Light" panose="00000400000000000000" pitchFamily="2" charset="-52"/>
              </a:rPr>
              <a:t> </a:t>
            </a:r>
            <a:r>
              <a:rPr lang="ru-RU" b="0" strike="noStrike" spc="-26" dirty="0" err="1">
                <a:latin typeface="Nekst Light" panose="00000400000000000000" pitchFamily="2" charset="-52"/>
              </a:rPr>
              <a:t>пс</a:t>
            </a:r>
            <a:r>
              <a:rPr lang="ru-RU" b="0" strike="noStrike" spc="-26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  <a:p>
            <a:pPr marL="50760">
              <a:lnSpc>
                <a:spcPct val="100000"/>
              </a:lnSpc>
              <a:spcBef>
                <a:spcPts val="646"/>
              </a:spcBef>
              <a:buNone/>
            </a:pPr>
            <a:endParaRPr lang="ru-RU" b="0" strike="noStrike" spc="-1" dirty="0">
              <a:latin typeface="Nekst Light" panose="00000400000000000000" pitchFamily="2" charset="-52"/>
            </a:endParaRPr>
          </a:p>
          <a:p>
            <a:pPr marL="50760">
              <a:lnSpc>
                <a:spcPct val="130000"/>
              </a:lnSpc>
              <a:spcBef>
                <a:spcPts val="6"/>
              </a:spcBef>
              <a:buNone/>
            </a:pPr>
            <a:r>
              <a:rPr lang="ru-RU" b="0" strike="noStrike" spc="-1" dirty="0">
                <a:latin typeface="Nekst Light" panose="00000400000000000000" pitchFamily="2" charset="-52"/>
              </a:rPr>
              <a:t>В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современных</a:t>
            </a:r>
            <a:r>
              <a:rPr lang="ru-RU" b="0" strike="noStrike" spc="-4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ПЛИС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strike="noStrike" spc="-12" dirty="0">
                <a:latin typeface="Nekst Light" panose="00000400000000000000" pitchFamily="2" charset="-52"/>
              </a:rPr>
              <a:t>триггеры спроектированы</a:t>
            </a:r>
            <a:r>
              <a:rPr lang="ru-RU" b="0" strike="noStrike" spc="-21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так,</a:t>
            </a:r>
            <a:r>
              <a:rPr lang="ru-RU" b="0" strike="noStrike" spc="-26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что</a:t>
            </a:r>
            <a:r>
              <a:rPr lang="ru-RU" b="0" strike="noStrike" spc="4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" baseline="-20000" dirty="0" err="1">
                <a:latin typeface="Nekst Light" panose="00000400000000000000" pitchFamily="2" charset="-52"/>
              </a:rPr>
              <a:t>hold</a:t>
            </a:r>
            <a:r>
              <a:rPr lang="ru-RU" b="0" i="1" strike="noStrike" spc="29" baseline="-20000" dirty="0">
                <a:latin typeface="Nekst Light" panose="00000400000000000000" pitchFamily="2" charset="-52"/>
              </a:rPr>
              <a:t> </a:t>
            </a:r>
            <a:r>
              <a:rPr lang="ru-RU" b="0" strike="noStrike" spc="-1" dirty="0">
                <a:latin typeface="Nekst Light" panose="00000400000000000000" pitchFamily="2" charset="-52"/>
              </a:rPr>
              <a:t>&lt;</a:t>
            </a:r>
            <a:r>
              <a:rPr lang="ru-RU" b="0" strike="noStrike" spc="-55" dirty="0">
                <a:latin typeface="Nekst Light" panose="00000400000000000000" pitchFamily="2" charset="-52"/>
              </a:rPr>
              <a:t> </a:t>
            </a:r>
            <a:r>
              <a:rPr lang="ru-RU" b="0" i="1" strike="noStrike" spc="-12" dirty="0" err="1">
                <a:latin typeface="Nekst Light" panose="00000400000000000000" pitchFamily="2" charset="-52"/>
              </a:rPr>
              <a:t>t</a:t>
            </a:r>
            <a:r>
              <a:rPr lang="ru-RU" b="0" i="1" strike="noStrike" spc="-15" baseline="-20000" dirty="0" err="1">
                <a:latin typeface="Nekst Light" panose="00000400000000000000" pitchFamily="2" charset="-52"/>
              </a:rPr>
              <a:t>ccq</a:t>
            </a:r>
            <a:r>
              <a:rPr lang="ru-RU" b="0" strike="noStrike" spc="-12" dirty="0">
                <a:latin typeface="Nekst Light" panose="00000400000000000000" pitchFamily="2" charset="-52"/>
              </a:rPr>
              <a:t>.</a:t>
            </a:r>
            <a:endParaRPr lang="ru-RU" b="0" strike="noStrike" spc="-1" dirty="0">
              <a:latin typeface="Nekst Light" panose="00000400000000000000" pitchFamily="2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76425" y="94101"/>
            <a:ext cx="7867791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</a:t>
            </a:r>
            <a:r>
              <a:rPr lang="ru-RU" sz="2800" spc="-36" dirty="0" smtClean="0">
                <a:latin typeface="Nekst Semi Bold" panose="00000700000000000000" pitchFamily="2" charset="-52"/>
              </a:rPr>
              <a:t>системы.</a:t>
            </a:r>
            <a:br>
              <a:rPr lang="ru-RU" sz="2800" spc="-36" dirty="0" smtClean="0">
                <a:latin typeface="Nekst Semi Bold" panose="00000700000000000000" pitchFamily="2" charset="-52"/>
              </a:rPr>
            </a:br>
            <a:r>
              <a:rPr lang="ru-RU" sz="2800" spc="-36" dirty="0" smtClean="0">
                <a:latin typeface="Nekst Semi Bold" panose="00000700000000000000" pitchFamily="2" charset="-52"/>
              </a:rPr>
              <a:t>Расфразировка тактовых сигналов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736000" y="6408000"/>
            <a:ext cx="1555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9</a:t>
            </a:fld>
            <a:endParaRPr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" name="object 3"/>
          <p:cNvPicPr/>
          <p:nvPr/>
        </p:nvPicPr>
        <p:blipFill>
          <a:blip r:embed="rId2"/>
          <a:stretch/>
        </p:blipFill>
        <p:spPr>
          <a:xfrm>
            <a:off x="2830500" y="1376383"/>
            <a:ext cx="6540480" cy="5448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8404" y="94101"/>
            <a:ext cx="8020191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>
                <a:latin typeface="Nekst Semi Bold" panose="00000700000000000000" pitchFamily="2" charset="-52"/>
              </a:rPr>
              <a:t>Расфразировка тактовых сигналов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606213" y="6342000"/>
            <a:ext cx="433387" cy="363600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10</a:t>
            </a:fld>
            <a:endParaRPr dirty="0"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4" name="object 3"/>
          <p:cNvPicPr/>
          <p:nvPr/>
        </p:nvPicPr>
        <p:blipFill>
          <a:blip r:embed="rId2"/>
          <a:stretch/>
        </p:blipFill>
        <p:spPr>
          <a:xfrm>
            <a:off x="1524000" y="1905000"/>
            <a:ext cx="9067800" cy="2362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8404" y="94101"/>
            <a:ext cx="8020191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>
                <a:latin typeface="Nekst Semi Bold" panose="00000700000000000000" pitchFamily="2" charset="-52"/>
              </a:rPr>
              <a:t>Расфразировка тактовых сигналов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606213" y="6342000"/>
            <a:ext cx="433387" cy="363600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11</a:t>
            </a:fld>
            <a:endParaRPr dirty="0"/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8" name="object 3"/>
          <p:cNvPicPr/>
          <p:nvPr/>
        </p:nvPicPr>
        <p:blipFill>
          <a:blip r:embed="rId2"/>
          <a:stretch/>
        </p:blipFill>
        <p:spPr>
          <a:xfrm>
            <a:off x="5715000" y="1519719"/>
            <a:ext cx="4769254" cy="4282860"/>
          </a:xfrm>
          <a:prstGeom prst="rect">
            <a:avLst/>
          </a:prstGeom>
          <a:ln w="0">
            <a:noFill/>
          </a:ln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106253"/>
            <a:ext cx="4252686" cy="11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213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5998" y="94100"/>
            <a:ext cx="7239802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>
                <a:latin typeface="Nekst Semi Bold" panose="00000700000000000000" pitchFamily="2" charset="-52"/>
              </a:rPr>
              <a:t>Расфразировка тактовых сигналов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6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7" name="object 6"/>
          <p:cNvPicPr/>
          <p:nvPr/>
        </p:nvPicPr>
        <p:blipFill>
          <a:blip r:embed="rId2"/>
          <a:stretch/>
        </p:blipFill>
        <p:spPr>
          <a:xfrm>
            <a:off x="5638800" y="1333500"/>
            <a:ext cx="4876800" cy="4495800"/>
          </a:xfrm>
          <a:prstGeom prst="rect">
            <a:avLst/>
          </a:prstGeom>
          <a:ln w="0">
            <a:noFill/>
          </a:ln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71800"/>
            <a:ext cx="4059218" cy="121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5998" y="94100"/>
            <a:ext cx="7316002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 err="1" smtClean="0">
                <a:latin typeface="Nekst Semi Bold" panose="00000700000000000000" pitchFamily="2" charset="-52"/>
              </a:rPr>
              <a:t>Метастабильность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6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1" name="object 3"/>
          <p:cNvPicPr/>
          <p:nvPr/>
        </p:nvPicPr>
        <p:blipFill>
          <a:blip r:embed="rId2"/>
          <a:stretch/>
        </p:blipFill>
        <p:spPr>
          <a:xfrm>
            <a:off x="1524000" y="1447800"/>
            <a:ext cx="2590800" cy="4771720"/>
          </a:xfrm>
          <a:prstGeom prst="rect">
            <a:avLst/>
          </a:prstGeom>
          <a:ln w="0">
            <a:noFill/>
          </a:ln>
        </p:spPr>
      </p:pic>
      <p:pic>
        <p:nvPicPr>
          <p:cNvPr id="22" name="object 4"/>
          <p:cNvPicPr/>
          <p:nvPr/>
        </p:nvPicPr>
        <p:blipFill>
          <a:blip r:embed="rId3"/>
          <a:stretch/>
        </p:blipFill>
        <p:spPr>
          <a:xfrm>
            <a:off x="7162800" y="1987830"/>
            <a:ext cx="3791857" cy="3691660"/>
          </a:xfrm>
          <a:prstGeom prst="rect">
            <a:avLst/>
          </a:prstGeom>
          <a:ln w="0">
            <a:noFill/>
          </a:ln>
        </p:spPr>
      </p:pic>
      <p:pic>
        <p:nvPicPr>
          <p:cNvPr id="23" name="object 5"/>
          <p:cNvPicPr/>
          <p:nvPr/>
        </p:nvPicPr>
        <p:blipFill>
          <a:blip r:embed="rId4"/>
          <a:stretch/>
        </p:blipFill>
        <p:spPr>
          <a:xfrm>
            <a:off x="4419600" y="3505200"/>
            <a:ext cx="2590800" cy="106680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1647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94101"/>
            <a:ext cx="7265398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 smtClean="0">
                <a:latin typeface="Nekst Semi Bold" panose="00000700000000000000" pitchFamily="2" charset="-52"/>
              </a:rPr>
              <a:t>Вычисление времени разрешения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664000" y="6408000"/>
            <a:ext cx="287337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14</a:t>
            </a:fld>
            <a:endParaRPr dirty="0"/>
          </a:p>
        </p:txBody>
      </p:sp>
      <p:sp>
        <p:nvSpPr>
          <p:cNvPr id="7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" name="object 3"/>
          <p:cNvPicPr/>
          <p:nvPr/>
        </p:nvPicPr>
        <p:blipFill>
          <a:blip r:embed="rId2"/>
          <a:stretch/>
        </p:blipFill>
        <p:spPr>
          <a:xfrm>
            <a:off x="5410200" y="3458809"/>
            <a:ext cx="5489640" cy="3057480"/>
          </a:xfrm>
          <a:prstGeom prst="rect">
            <a:avLst/>
          </a:prstGeom>
          <a:ln w="0">
            <a:noFill/>
          </a:ln>
        </p:spPr>
      </p:pic>
      <p:pic>
        <p:nvPicPr>
          <p:cNvPr id="10" name="Рисунок 9"/>
          <p:cNvPicPr/>
          <p:nvPr/>
        </p:nvPicPr>
        <p:blipFill>
          <a:blip r:embed="rId3"/>
          <a:stretch/>
        </p:blipFill>
        <p:spPr>
          <a:xfrm>
            <a:off x="189274" y="1219200"/>
            <a:ext cx="8677680" cy="457200"/>
          </a:xfrm>
          <a:prstGeom prst="rect">
            <a:avLst/>
          </a:prstGeom>
          <a:ln w="0"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4"/>
          <a:stretch/>
        </p:blipFill>
        <p:spPr>
          <a:xfrm>
            <a:off x="0" y="1905000"/>
            <a:ext cx="8671560" cy="685800"/>
          </a:xfrm>
          <a:prstGeom prst="rect">
            <a:avLst/>
          </a:prstGeom>
          <a:ln w="0">
            <a:noFill/>
          </a:ln>
        </p:spPr>
      </p:pic>
      <p:pic>
        <p:nvPicPr>
          <p:cNvPr id="12" name="Рисунок 11"/>
          <p:cNvPicPr/>
          <p:nvPr/>
        </p:nvPicPr>
        <p:blipFill>
          <a:blip r:embed="rId5"/>
          <a:stretch/>
        </p:blipFill>
        <p:spPr>
          <a:xfrm>
            <a:off x="200160" y="2681149"/>
            <a:ext cx="8670840" cy="685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89259" y="94101"/>
            <a:ext cx="7140341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>
                <a:latin typeface="Nekst Semi Bold" panose="00000700000000000000" pitchFamily="2" charset="-52"/>
              </a:rPr>
              <a:t>Вычисление времени разрешения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664000" y="6408000"/>
            <a:ext cx="295275" cy="223837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15</a:t>
            </a:fld>
            <a:endParaRPr dirty="0"/>
          </a:p>
        </p:txBody>
      </p:sp>
      <p:sp>
        <p:nvSpPr>
          <p:cNvPr id="6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9" name="object 2"/>
          <p:cNvPicPr/>
          <p:nvPr/>
        </p:nvPicPr>
        <p:blipFill>
          <a:blip r:embed="rId2"/>
          <a:stretch/>
        </p:blipFill>
        <p:spPr>
          <a:xfrm>
            <a:off x="1524000" y="1237500"/>
            <a:ext cx="9144000" cy="2656264"/>
          </a:xfrm>
          <a:prstGeom prst="rect">
            <a:avLst/>
          </a:prstGeom>
          <a:ln w="0">
            <a:noFill/>
          </a:ln>
        </p:spPr>
      </p:pic>
      <p:pic>
        <p:nvPicPr>
          <p:cNvPr id="10" name="Рисунок 9"/>
          <p:cNvPicPr/>
          <p:nvPr/>
        </p:nvPicPr>
        <p:blipFill>
          <a:blip r:embed="rId3"/>
          <a:stretch/>
        </p:blipFill>
        <p:spPr>
          <a:xfrm>
            <a:off x="1395186" y="5194271"/>
            <a:ext cx="9067800" cy="770040"/>
          </a:xfrm>
          <a:prstGeom prst="rect">
            <a:avLst/>
          </a:prstGeom>
          <a:ln w="0"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4"/>
          <a:stretch/>
        </p:blipFill>
        <p:spPr>
          <a:xfrm>
            <a:off x="1409700" y="4100166"/>
            <a:ext cx="9372600" cy="8949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1066800" y="94101"/>
            <a:ext cx="7105791" cy="804639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latin typeface="Nekst Semi Bold" panose="00000700000000000000" pitchFamily="2" charset="-52"/>
              </a:rPr>
            </a:br>
            <a:r>
              <a:rPr lang="ru-RU" sz="2800" spc="-36" dirty="0">
                <a:latin typeface="Nekst Semi Bold" panose="00000700000000000000" pitchFamily="2" charset="-52"/>
              </a:rPr>
              <a:t>Вычисление времени разрешения</a:t>
            </a:r>
            <a:endParaRPr sz="2800" dirty="0">
              <a:latin typeface="Nekst Semi Bold" panose="00000700000000000000" pitchFamily="2" charset="-5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11664000" y="6408000"/>
            <a:ext cx="295275" cy="222250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pc="21">
                <a:solidFill>
                  <a:srgbClr val="FFFFFF"/>
                </a:solidFill>
              </a:rPr>
              <a:pPr marL="20023">
                <a:lnSpc>
                  <a:spcPts val="1434"/>
                </a:lnSpc>
                <a:defRPr/>
              </a:pPr>
              <a:t>16</a:t>
            </a:fld>
            <a:endParaRPr dirty="0"/>
          </a:p>
        </p:txBody>
      </p:sp>
      <p:sp>
        <p:nvSpPr>
          <p:cNvPr id="7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" name="object 16"/>
          <p:cNvPicPr/>
          <p:nvPr/>
        </p:nvPicPr>
        <p:blipFill>
          <a:blip r:embed="rId2"/>
          <a:stretch/>
        </p:blipFill>
        <p:spPr>
          <a:xfrm>
            <a:off x="1981200" y="1204978"/>
            <a:ext cx="7545997" cy="2895600"/>
          </a:xfrm>
          <a:prstGeom prst="rect">
            <a:avLst/>
          </a:prstGeom>
          <a:ln w="0"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3"/>
          <a:stretch/>
        </p:blipFill>
        <p:spPr>
          <a:xfrm>
            <a:off x="614340" y="4037729"/>
            <a:ext cx="10972800" cy="791280"/>
          </a:xfrm>
          <a:prstGeom prst="rect">
            <a:avLst/>
          </a:prstGeom>
          <a:ln w="0">
            <a:noFill/>
          </a:ln>
        </p:spPr>
      </p:pic>
      <p:pic>
        <p:nvPicPr>
          <p:cNvPr id="12" name="Рисунок 11"/>
          <p:cNvPicPr/>
          <p:nvPr/>
        </p:nvPicPr>
        <p:blipFill>
          <a:blip r:embed="rId4"/>
          <a:stretch/>
        </p:blipFill>
        <p:spPr>
          <a:xfrm>
            <a:off x="838837" y="4962633"/>
            <a:ext cx="10972800" cy="823680"/>
          </a:xfrm>
          <a:prstGeom prst="rect">
            <a:avLst/>
          </a:prstGeom>
          <a:ln w="0">
            <a:noFill/>
          </a:ln>
        </p:spPr>
      </p:pic>
      <p:pic>
        <p:nvPicPr>
          <p:cNvPr id="13" name="Рисунок 12"/>
          <p:cNvPicPr/>
          <p:nvPr/>
        </p:nvPicPr>
        <p:blipFill>
          <a:blip r:embed="rId5"/>
          <a:stretch/>
        </p:blipFill>
        <p:spPr>
          <a:xfrm>
            <a:off x="804277" y="5919937"/>
            <a:ext cx="11007360" cy="740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 bwMode="auto">
          <a:xfrm>
            <a:off x="514209" y="210566"/>
            <a:ext cx="5795963" cy="537643"/>
          </a:xfrm>
          <a:prstGeom prst="rect">
            <a:avLst/>
          </a:prstGeom>
        </p:spPr>
        <p:txBody>
          <a:bodyPr vert="horz" wrap="square" lIns="21830" tIns="6931" rIns="21830" bIns="21830" rtlCol="0">
            <a:spAutoFit/>
          </a:bodyPr>
          <a:lstStyle/>
          <a:p>
            <a:pPr marL="7701">
              <a:spcBef>
                <a:spcPts val="55"/>
              </a:spcBef>
              <a:defRPr/>
            </a:pPr>
            <a:r>
              <a:rPr spc="-12"/>
              <a:t>Строение</a:t>
            </a:r>
            <a:r>
              <a:rPr spc="-191"/>
              <a:t> </a:t>
            </a:r>
            <a:r>
              <a:rPr spc="-12"/>
              <a:t>FPGA</a:t>
            </a:r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1664000" y="6408000"/>
            <a:ext cx="277792" cy="223623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0023">
              <a:lnSpc>
                <a:spcPts val="1434"/>
              </a:lnSpc>
              <a:defRPr/>
            </a:pPr>
            <a:fld id="{81D60167-4931-47E6-BA6A-407CBD079E47}" type="slidenum">
              <a:rPr sz="1200" spc="21">
                <a:solidFill>
                  <a:srgbClr val="FFFFFF"/>
                </a:solidFill>
                <a:latin typeface="Nekst" panose="00000500000000000000" pitchFamily="2" charset="-52"/>
              </a:rPr>
              <a:pPr marL="20023">
                <a:lnSpc>
                  <a:spcPts val="1434"/>
                </a:lnSpc>
                <a:defRPr/>
              </a:pPr>
              <a:t>17</a:t>
            </a:fld>
            <a:endParaRPr sz="1200" dirty="0">
              <a:latin typeface="Nekst" panose="00000500000000000000" pitchFamily="2" charset="-52"/>
            </a:endParaRPr>
          </a:p>
        </p:txBody>
      </p:sp>
      <p:sp>
        <p:nvSpPr>
          <p:cNvPr id="5" name="Прямая соединительная линия 1">
            <a:extLst>
              <a:ext uri="{FF2B5EF4-FFF2-40B4-BE49-F238E27FC236}">
                <a16:creationId xmlns:a16="http://schemas.microsoft.com/office/drawing/2014/main" id="{DD6D05FC-CE62-44D6-9772-AD385EE3B71A}"/>
              </a:ext>
            </a:extLst>
          </p:cNvPr>
          <p:cNvSpPr/>
          <p:nvPr/>
        </p:nvSpPr>
        <p:spPr bwMode="auto">
          <a:xfrm flipV="1">
            <a:off x="200160" y="1021378"/>
            <a:ext cx="11801160" cy="9720"/>
          </a:xfrm>
          <a:prstGeom prst="line">
            <a:avLst/>
          </a:prstGeom>
          <a:ln>
            <a:solidFill>
              <a:srgbClr val="89C4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" name="object 2"/>
          <p:cNvSpPr txBox="1">
            <a:spLocks/>
          </p:cNvSpPr>
          <p:nvPr/>
        </p:nvSpPr>
        <p:spPr bwMode="auto">
          <a:xfrm>
            <a:off x="1066800" y="94101"/>
            <a:ext cx="7105791" cy="804639"/>
          </a:xfrm>
          <a:prstGeom prst="rect">
            <a:avLst/>
          </a:prstGeom>
        </p:spPr>
        <p:txBody>
          <a:bodyPr vert="horz" wrap="square" lIns="21830" tIns="6931" rIns="21830" bIns="2183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5" b="1" i="0" kern="1200">
                <a:solidFill>
                  <a:schemeClr val="bg1"/>
                </a:solidFill>
                <a:latin typeface="Arial"/>
                <a:ea typeface="+mj-ea"/>
                <a:cs typeface="Arial"/>
              </a:defRPr>
            </a:lvl1pPr>
          </a:lstStyle>
          <a:p>
            <a:pPr marL="7701">
              <a:spcBef>
                <a:spcPts val="55"/>
              </a:spcBef>
              <a:defRPr/>
            </a:pPr>
            <a:r>
              <a:rPr lang="ru-RU" sz="2800" spc="-36" dirty="0">
                <a:solidFill>
                  <a:schemeClr val="tx1"/>
                </a:solidFill>
                <a:latin typeface="Nekst Semi Bold" panose="00000700000000000000" pitchFamily="2" charset="-52"/>
              </a:rPr>
              <a:t>Временные характеристики системы.</a:t>
            </a:r>
            <a:br>
              <a:rPr lang="ru-RU" sz="2800" spc="-36" dirty="0">
                <a:solidFill>
                  <a:schemeClr val="tx1"/>
                </a:solidFill>
                <a:latin typeface="Nekst Semi Bold" panose="00000700000000000000" pitchFamily="2" charset="-52"/>
              </a:rPr>
            </a:br>
            <a:r>
              <a:rPr lang="ru-RU" sz="2800" spc="-36" dirty="0">
                <a:solidFill>
                  <a:schemeClr val="tx1"/>
                </a:solidFill>
                <a:latin typeface="Nekst Semi Bold" panose="00000700000000000000" pitchFamily="2" charset="-52"/>
              </a:rPr>
              <a:t>Вычисление времени разрешения</a:t>
            </a:r>
            <a:endParaRPr lang="ru-RU" sz="2800" dirty="0">
              <a:solidFill>
                <a:schemeClr val="tx1"/>
              </a:solidFill>
              <a:latin typeface="Nekst Semi Bold" panose="00000700000000000000" pitchFamily="2" charset="-52"/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2"/>
          <a:stretch/>
        </p:blipFill>
        <p:spPr>
          <a:xfrm>
            <a:off x="6270258" y="1836494"/>
            <a:ext cx="4833171" cy="3766109"/>
          </a:xfrm>
          <a:prstGeom prst="rect">
            <a:avLst/>
          </a:prstGeom>
          <a:ln w="0">
            <a:noFill/>
          </a:ln>
        </p:spPr>
      </p:pic>
      <p:pic>
        <p:nvPicPr>
          <p:cNvPr id="9" name="Рисунок 8"/>
          <p:cNvPicPr/>
          <p:nvPr/>
        </p:nvPicPr>
        <p:blipFill>
          <a:blip r:embed="rId3"/>
          <a:stretch/>
        </p:blipFill>
        <p:spPr>
          <a:xfrm>
            <a:off x="1295943" y="1200938"/>
            <a:ext cx="5006972" cy="47244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11114414" y="6201523"/>
            <a:ext cx="256855" cy="403159"/>
          </a:xfrm>
          <a:prstGeom prst="rect">
            <a:avLst/>
          </a:prstGeom>
        </p:spPr>
        <p:txBody>
          <a:bodyPr vert="horz" wrap="square" lIns="21830" tIns="21830" rIns="21830" bIns="21830" rtlCol="0">
            <a:spAutoFit/>
          </a:bodyPr>
          <a:lstStyle/>
          <a:p>
            <a:pPr marL="23104">
              <a:lnSpc>
                <a:spcPts val="1434"/>
              </a:lnSpc>
              <a:defRPr/>
            </a:pPr>
            <a:fld id="{81D60167-4931-47E6-BA6A-407CBD079E47}" type="slidenum">
              <a:rPr spc="-15"/>
              <a:pPr marL="23104">
                <a:lnSpc>
                  <a:spcPts val="1434"/>
                </a:lnSpc>
                <a:defRPr/>
              </a:pPr>
              <a:t>18</a:t>
            </a:fld>
            <a:endParaRPr/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1066800" y="5257418"/>
            <a:ext cx="4876800" cy="944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Проектирование</a:t>
            </a:r>
            <a:r>
              <a:rPr lang="ru-RU" sz="20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цифровой</a:t>
            </a:r>
            <a:r>
              <a:rPr lang="ru-RU" sz="20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техники </a:t>
            </a:r>
            <a:r>
              <a:rPr lang="en-US" sz="20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/>
            </a:r>
            <a:br>
              <a:rPr lang="en-US" sz="20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</a:br>
            <a:r>
              <a:rPr lang="ru-RU" sz="2000" spc="12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с</a:t>
            </a:r>
            <a:r>
              <a:rPr lang="ru-RU" sz="20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применением</a:t>
            </a:r>
            <a:r>
              <a:rPr lang="ru-RU" sz="2000" spc="-23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spc="10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ПЛИС</a:t>
            </a:r>
            <a:r>
              <a:rPr lang="ru-RU" sz="2000" dirty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и</a:t>
            </a:r>
            <a:r>
              <a:rPr lang="ru-RU" sz="20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аппаратного</a:t>
            </a:r>
            <a:r>
              <a:rPr lang="ru-RU" sz="20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языка</a:t>
            </a:r>
            <a:r>
              <a:rPr lang="ru-RU" sz="2000" spc="-5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ru-RU" sz="2000" spc="-1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разработки </a:t>
            </a:r>
            <a:r>
              <a:rPr lang="en-US" sz="2000" spc="-10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S</a:t>
            </a:r>
            <a:r>
              <a:rPr lang="ru-RU" sz="2000" dirty="0" err="1" smtClean="0">
                <a:solidFill>
                  <a:schemeClr val="bg1"/>
                </a:solidFill>
                <a:latin typeface="Nekst Semi Bold" panose="00000700000000000000" pitchFamily="2" charset="-52"/>
              </a:rPr>
              <a:t>ystem</a:t>
            </a:r>
            <a:r>
              <a:rPr lang="ru-RU" sz="2000" spc="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 </a:t>
            </a:r>
            <a:r>
              <a:rPr lang="en-US" sz="2000" spc="5" dirty="0" smtClean="0">
                <a:solidFill>
                  <a:schemeClr val="bg1"/>
                </a:solidFill>
                <a:latin typeface="Nekst Semi Bold" panose="00000700000000000000" pitchFamily="2" charset="-52"/>
              </a:rPr>
              <a:t>V</a:t>
            </a:r>
            <a:r>
              <a:rPr lang="ru-RU" sz="2000" spc="-10" dirty="0" err="1" smtClean="0">
                <a:solidFill>
                  <a:schemeClr val="bg1"/>
                </a:solidFill>
                <a:latin typeface="Nekst Semi Bold" panose="00000700000000000000" pitchFamily="2" charset="-52"/>
              </a:rPr>
              <a:t>erilog</a:t>
            </a:r>
            <a:endParaRPr lang="ru-RU" sz="2000" dirty="0">
              <a:solidFill>
                <a:schemeClr val="bg1"/>
              </a:solidFill>
              <a:latin typeface="Nekst Semi Bold" panose="00000700000000000000" pitchFamily="2" charset="-52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2841" y="6228562"/>
            <a:ext cx="514422" cy="543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</TotalTime>
  <Words>364</Words>
  <Application>Microsoft Office PowerPoint</Application>
  <DocSecurity>0</DocSecurity>
  <PresentationFormat>Широкоэкранный</PresentationFormat>
  <Paragraphs>67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30" baseType="lpstr">
      <vt:lpstr>Arial</vt:lpstr>
      <vt:lpstr>Arial MT</vt:lpstr>
      <vt:lpstr>Calibri</vt:lpstr>
      <vt:lpstr>Calibri Light</vt:lpstr>
      <vt:lpstr>Microsoft Sans Serif</vt:lpstr>
      <vt:lpstr>Nekst</vt:lpstr>
      <vt:lpstr>Nekst Light</vt:lpstr>
      <vt:lpstr>Nekst Semi Bold</vt:lpstr>
      <vt:lpstr>Noto Sans Arabic Condensed</vt:lpstr>
      <vt:lpstr>StarSymbol</vt:lpstr>
      <vt:lpstr>Symbol</vt:lpstr>
      <vt:lpstr>Тема Office</vt:lpstr>
      <vt:lpstr>Проектирование цифровой техники  с применением ПЛИС и аппаратного языка разработки System Verilog</vt:lpstr>
      <vt:lpstr>Динамическая дисциплина</vt:lpstr>
      <vt:lpstr>Временные характеристики системы</vt:lpstr>
      <vt:lpstr>Временные характеристики системы</vt:lpstr>
      <vt:lpstr>Временные характеристики системы</vt:lpstr>
      <vt:lpstr>Временные характеристики системы</vt:lpstr>
      <vt:lpstr>Временные характеристики системы</vt:lpstr>
      <vt:lpstr>Временные характеристики системы</vt:lpstr>
      <vt:lpstr>Временные характеристики системы. Расфразировка тактовых сигналов</vt:lpstr>
      <vt:lpstr>Временные характеристики системы. Расфразировка тактовых сигналов</vt:lpstr>
      <vt:lpstr>Временные характеристики системы. Расфразировка тактовых сигналов</vt:lpstr>
      <vt:lpstr>Временные характеристики системы. Расфразировка тактовых сигналов</vt:lpstr>
      <vt:lpstr>Временные характеристики системы. Метастабильность</vt:lpstr>
      <vt:lpstr>Временные характеристики системы. Вычисление времени разрешения</vt:lpstr>
      <vt:lpstr>Временные характеристики системы. Вычисление времени разрешения</vt:lpstr>
      <vt:lpstr>Временные характеристики системы. Вычисление времени разрешения</vt:lpstr>
      <vt:lpstr>Строение FPGA</vt:lpstr>
      <vt:lpstr>Проектирование цифровой техники  с применением ПЛИС и аппаратного языка разработки System Verilog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Принципы и основы алгоритмизации</dc:title>
  <dc:subject/>
  <dc:creator>Татьяна</dc:creator>
  <cp:keywords/>
  <dc:description/>
  <cp:lastModifiedBy>Титовский Александр</cp:lastModifiedBy>
  <cp:revision>41</cp:revision>
  <dcterms:created xsi:type="dcterms:W3CDTF">2025-11-05T15:49:11Z</dcterms:created>
  <dcterms:modified xsi:type="dcterms:W3CDTF">2025-12-04T08:21:10Z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2025-11-05T00:00:00Z</vt:filetime>
  </property>
  <property fmtid="{D5CDD505-2E9C-101B-9397-08002B2CF9AE}" pid="5" name="Producer">
    <vt:lpwstr>Microsoft® PowerPoint® 2016</vt:lpwstr>
  </property>
</Properties>
</file>